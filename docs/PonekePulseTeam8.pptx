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4" r:id="rId3"/>
    <p:sldId id="267" r:id="rId4"/>
    <p:sldId id="265" r:id="rId5"/>
    <p:sldId id="266" r:id="rId6"/>
    <p:sldId id="258" r:id="rId7"/>
    <p:sldId id="259" r:id="rId8"/>
    <p:sldId id="260" r:id="rId9"/>
    <p:sldId id="261" r:id="rId10"/>
    <p:sldId id="262"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647"/>
    <p:restoredTop sz="94610"/>
  </p:normalViewPr>
  <p:slideViewPr>
    <p:cSldViewPr snapToGrid="0" snapToObjects="1">
      <p:cViewPr varScale="1">
        <p:scale>
          <a:sx n="95" d="100"/>
          <a:sy n="95" d="100"/>
        </p:scale>
        <p:origin x="200" y="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43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Pōneke Pulse — Team 8, Problem 05. Wellington has a heartbeat; 128 cameras see it beat. The trace flatlines on the storm 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1613B-4BFC-7FA7-654A-6371C1ACD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FFDAB-D781-E89C-9534-D1DD0E448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07F76-948C-88BC-3316-AAE00325779A}"/>
              </a:ext>
            </a:extLst>
          </p:cNvPr>
          <p:cNvSpPr>
            <a:spLocks noGrp="1"/>
          </p:cNvSpPr>
          <p:nvPr>
            <p:ph type="body" idx="1"/>
          </p:nvPr>
        </p:nvSpPr>
        <p:spPr/>
        <p:txBody>
          <a:bodyPr/>
          <a:lstStyle/>
          <a:p>
            <a:r>
              <a:rPr lang="en-US" dirty="0"/>
              <a:t>Today WCC learns where people are affected from individual reports — slow and patchy. We want an early, automatic signal.</a:t>
            </a:r>
          </a:p>
        </p:txBody>
      </p:sp>
      <p:sp>
        <p:nvSpPr>
          <p:cNvPr id="4" name="Slide Number Placeholder 3">
            <a:extLst>
              <a:ext uri="{FF2B5EF4-FFF2-40B4-BE49-F238E27FC236}">
                <a16:creationId xmlns:a16="http://schemas.microsoft.com/office/drawing/2014/main" id="{BFA9C81A-E735-E2EF-76B8-D6783863238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82825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0B03-A8F2-AA28-5D4B-DC3808844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684C2-DCCF-50B3-A088-7CFFAFE6F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8F4E5-F164-F7BB-45C5-1AF0844746D2}"/>
              </a:ext>
            </a:extLst>
          </p:cNvPr>
          <p:cNvSpPr>
            <a:spLocks noGrp="1"/>
          </p:cNvSpPr>
          <p:nvPr>
            <p:ph type="body" idx="1"/>
          </p:nvPr>
        </p:nvSpPr>
        <p:spPr/>
        <p:txBody>
          <a:bodyPr/>
          <a:lstStyle/>
          <a:p>
            <a:r>
              <a:rPr lang="en-US" dirty="0"/>
              <a:t>Today WCC learns where people are affected from individual reports — slow and patchy. We want an early, automatic signal.</a:t>
            </a:r>
          </a:p>
        </p:txBody>
      </p:sp>
      <p:sp>
        <p:nvSpPr>
          <p:cNvPr id="4" name="Slide Number Placeholder 3">
            <a:extLst>
              <a:ext uri="{FF2B5EF4-FFF2-40B4-BE49-F238E27FC236}">
                <a16:creationId xmlns:a16="http://schemas.microsoft.com/office/drawing/2014/main" id="{CAEE53EF-117A-A074-5667-107FAA44967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90789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model the baseline by mode, measure the actual per edge, score the gap by location and population. Events reshape the expectation.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derived data product: point counters become weights along edges, so coverage becomes a network. 398 countlines -&gt; 128 sites -&gt; 147 edges. A closure between cameras still shows.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type each site by the ratio between modes, not the size of the drop. People-first fall = exposure hazard; cars-first = road closure; both = loss of access; people up cars down = open to people. Cannot type is a first-class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23 Oct 2025, red wind warning, trains cancelled, -41% citywide. Actual bars fall far below the expected level; the gap is the emergency. Headline uses the 11-Thursday robust baseline.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by design: T+1, missing != zero, guarded baselines, admits blindness. Built to extend: modular feeds, derived risks, composable outputs into the common operating picture.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F"/>
        </a:solidFill>
        <a:effectLst/>
      </p:bgPr>
    </p:bg>
    <p:spTree>
      <p:nvGrpSpPr>
        <p:cNvPr id="1" name=""/>
        <p:cNvGrpSpPr/>
        <p:nvPr/>
      </p:nvGrpSpPr>
      <p:grpSpPr>
        <a:xfrm>
          <a:off x="0" y="0"/>
          <a:ext cx="0" cy="0"/>
          <a:chOff x="0" y="0"/>
          <a:chExt cx="0" cy="0"/>
        </a:xfrm>
      </p:grpSpPr>
      <p:sp>
        <p:nvSpPr>
          <p:cNvPr id="2" name="Text 0"/>
          <p:cNvSpPr/>
          <p:nvPr/>
        </p:nvSpPr>
        <p:spPr>
          <a:xfrm>
            <a:off x="0" y="502920"/>
            <a:ext cx="12191695" cy="914400"/>
          </a:xfrm>
          <a:prstGeom prst="rect">
            <a:avLst/>
          </a:prstGeom>
          <a:noFill/>
          <a:ln/>
        </p:spPr>
        <p:txBody>
          <a:bodyPr wrap="square" rtlCol="0" anchor="ctr"/>
          <a:lstStyle/>
          <a:p>
            <a:pPr marL="0" indent="0" algn="ctr">
              <a:buNone/>
            </a:pPr>
            <a:r>
              <a:rPr lang="en-US" sz="5400" b="1" kern="0" spc="100" dirty="0">
                <a:solidFill>
                  <a:srgbClr val="FAF8F4"/>
                </a:solidFill>
                <a:latin typeface="Cambria" pitchFamily="34" charset="0"/>
                <a:ea typeface="Cambria" pitchFamily="34" charset="-122"/>
                <a:cs typeface="Cambria" pitchFamily="34" charset="-120"/>
              </a:rPr>
              <a:t>Pōneke Pulse</a:t>
            </a:r>
            <a:endParaRPr lang="en-US" sz="5400" dirty="0"/>
          </a:p>
        </p:txBody>
      </p:sp>
      <p:pic>
        <p:nvPicPr>
          <p:cNvPr id="3" name="Image 0" descr="svg1_ecg.png"/>
          <p:cNvPicPr>
            <a:picLocks noChangeAspect="1"/>
          </p:cNvPicPr>
          <p:nvPr/>
        </p:nvPicPr>
        <p:blipFill>
          <a:blip r:embed="rId3"/>
          <a:stretch>
            <a:fillRect/>
          </a:stretch>
        </p:blipFill>
        <p:spPr>
          <a:xfrm>
            <a:off x="365760" y="1965960"/>
            <a:ext cx="11457432" cy="1828800"/>
          </a:xfrm>
          <a:prstGeom prst="rect">
            <a:avLst/>
          </a:prstGeom>
        </p:spPr>
      </p:pic>
      <p:sp>
        <p:nvSpPr>
          <p:cNvPr id="4" name="Text 1"/>
          <p:cNvSpPr/>
          <p:nvPr/>
        </p:nvSpPr>
        <p:spPr>
          <a:xfrm>
            <a:off x="7498080" y="1828800"/>
            <a:ext cx="4206240" cy="274320"/>
          </a:xfrm>
          <a:prstGeom prst="rect">
            <a:avLst/>
          </a:prstGeom>
          <a:noFill/>
          <a:ln/>
        </p:spPr>
        <p:txBody>
          <a:bodyPr wrap="square" rtlCol="0" anchor="ctr"/>
          <a:lstStyle/>
          <a:p>
            <a:pPr marL="0" indent="0" algn="l">
              <a:buNone/>
            </a:pPr>
            <a:r>
              <a:rPr lang="en-US" sz="1100" i="1" dirty="0">
                <a:solidFill>
                  <a:srgbClr val="E88BA0"/>
                </a:solidFill>
                <a:latin typeface="Calibri" pitchFamily="34" charset="0"/>
                <a:ea typeface="Calibri" pitchFamily="34" charset="-122"/>
                <a:cs typeface="Calibri" pitchFamily="34" charset="-120"/>
              </a:rPr>
              <a:t>The day the city went quiet →</a:t>
            </a:r>
            <a:endParaRPr lang="en-US" sz="1100" dirty="0"/>
          </a:p>
        </p:txBody>
      </p:sp>
      <p:sp>
        <p:nvSpPr>
          <p:cNvPr id="5" name="Text 2"/>
          <p:cNvSpPr/>
          <p:nvPr/>
        </p:nvSpPr>
        <p:spPr>
          <a:xfrm>
            <a:off x="1097280" y="4069080"/>
            <a:ext cx="9994392" cy="548640"/>
          </a:xfrm>
          <a:prstGeom prst="rect">
            <a:avLst/>
          </a:prstGeom>
          <a:noFill/>
          <a:ln/>
        </p:spPr>
        <p:txBody>
          <a:bodyPr wrap="square" rtlCol="0" anchor="ctr"/>
          <a:lstStyle/>
          <a:p>
            <a:pPr marL="0" indent="0" algn="ctr">
              <a:buNone/>
            </a:pPr>
            <a:r>
              <a:rPr lang="en-US" sz="2200" i="1" dirty="0">
                <a:solidFill>
                  <a:srgbClr val="D9E7DF"/>
                </a:solidFill>
                <a:latin typeface="Cambria" pitchFamily="34" charset="0"/>
                <a:ea typeface="Cambria" pitchFamily="34" charset="-122"/>
                <a:cs typeface="Cambria" pitchFamily="34" charset="-120"/>
              </a:rPr>
              <a:t>Wellington has a heartbeat — and 128 cameras are enough to see it beat.</a:t>
            </a:r>
            <a:endParaRPr lang="en-US" sz="2200" dirty="0"/>
          </a:p>
        </p:txBody>
      </p:sp>
      <p:sp>
        <p:nvSpPr>
          <p:cNvPr id="6" name="Text 3"/>
          <p:cNvSpPr/>
          <p:nvPr/>
        </p:nvSpPr>
        <p:spPr>
          <a:xfrm>
            <a:off x="0" y="6172200"/>
            <a:ext cx="12191695" cy="365760"/>
          </a:xfrm>
          <a:prstGeom prst="rect">
            <a:avLst/>
          </a:prstGeom>
          <a:noFill/>
          <a:ln/>
        </p:spPr>
        <p:txBody>
          <a:bodyPr wrap="square" rtlCol="0" anchor="ctr"/>
          <a:lstStyle/>
          <a:p>
            <a:pPr marL="0" indent="0" algn="ctr">
              <a:buNone/>
            </a:pPr>
            <a:r>
              <a:rPr lang="en-US" sz="1200" kern="0" spc="100" dirty="0">
                <a:solidFill>
                  <a:srgbClr val="9FB0AA"/>
                </a:solidFill>
                <a:latin typeface="Calibri" pitchFamily="34" charset="0"/>
                <a:ea typeface="Calibri" pitchFamily="34" charset="-122"/>
                <a:cs typeface="Calibri" pitchFamily="34" charset="-120"/>
              </a:rPr>
              <a:t>TEAM 8   ·   PROBLEM 05 — DETECT UNUSUAL CHANGES IN MOVEMENT   ·   IMPACT LAB WELLINGTON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B7D7A-EBD0-9705-5810-D28FC90174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74359F-B737-5C15-A790-2569EC7BD863}"/>
              </a:ext>
            </a:extLst>
          </p:cNvPr>
          <p:cNvSpPr/>
          <p:nvPr/>
        </p:nvSpPr>
        <p:spPr>
          <a:xfrm>
            <a:off x="640080" y="548640"/>
            <a:ext cx="7863840" cy="822960"/>
          </a:xfrm>
          <a:prstGeom prst="rect">
            <a:avLst/>
          </a:prstGeom>
          <a:noFill/>
          <a:ln/>
        </p:spPr>
        <p:txBody>
          <a:bodyPr wrap="square" rtlCol="0" anchor="ctr"/>
          <a:lstStyle/>
          <a:p>
            <a:pPr marL="0" indent="0" algn="l">
              <a:buNone/>
            </a:pPr>
            <a:r>
              <a:rPr lang="en-US" sz="3300" b="1" dirty="0">
                <a:solidFill>
                  <a:srgbClr val="1A1815"/>
                </a:solidFill>
                <a:latin typeface="Cambria" pitchFamily="34" charset="0"/>
                <a:ea typeface="Cambria" pitchFamily="34" charset="-122"/>
                <a:cs typeface="Cambria" pitchFamily="34" charset="-120"/>
              </a:rPr>
              <a:t>Duty controllers lack data to make decisions</a:t>
            </a:r>
            <a:endParaRPr lang="en-US" sz="3300" dirty="0"/>
          </a:p>
        </p:txBody>
      </p:sp>
      <p:sp>
        <p:nvSpPr>
          <p:cNvPr id="3" name="Text 1">
            <a:extLst>
              <a:ext uri="{FF2B5EF4-FFF2-40B4-BE49-F238E27FC236}">
                <a16:creationId xmlns:a16="http://schemas.microsoft.com/office/drawing/2014/main" id="{0F85EDC4-566E-E51C-D63E-213929651170}"/>
              </a:ext>
            </a:extLst>
          </p:cNvPr>
          <p:cNvSpPr/>
          <p:nvPr/>
        </p:nvSpPr>
        <p:spPr>
          <a:xfrm>
            <a:off x="640080" y="1508760"/>
            <a:ext cx="5486400" cy="1463040"/>
          </a:xfrm>
          <a:prstGeom prst="rect">
            <a:avLst/>
          </a:prstGeom>
          <a:noFill/>
          <a:ln/>
        </p:spPr>
        <p:txBody>
          <a:bodyPr wrap="square" rtlCol="0" anchor="t"/>
          <a:lstStyle/>
          <a:p>
            <a:pPr marL="0" indent="0" algn="l">
              <a:lnSpc>
                <a:spcPct val="115000"/>
              </a:lnSpc>
              <a:buNone/>
            </a:pPr>
            <a:r>
              <a:rPr lang="en-US" sz="1700" dirty="0">
                <a:solidFill>
                  <a:srgbClr val="4A453D"/>
                </a:solidFill>
                <a:latin typeface="Calibri" pitchFamily="34" charset="0"/>
                <a:ea typeface="Calibri" pitchFamily="34" charset="-122"/>
                <a:cs typeface="Calibri" pitchFamily="34" charset="-120"/>
              </a:rPr>
              <a:t>Handovers are verbal and ad hoc</a:t>
            </a:r>
          </a:p>
          <a:p>
            <a:pPr marL="0" indent="0" algn="l">
              <a:lnSpc>
                <a:spcPct val="115000"/>
              </a:lnSpc>
              <a:buNone/>
            </a:pPr>
            <a:r>
              <a:rPr lang="en-US" sz="1700" dirty="0">
                <a:solidFill>
                  <a:srgbClr val="4A453D"/>
                </a:solidFill>
                <a:latin typeface="Calibri" pitchFamily="34" charset="0"/>
                <a:ea typeface="Calibri" pitchFamily="34" charset="-122"/>
                <a:cs typeface="Calibri" pitchFamily="34" charset="-120"/>
              </a:rPr>
              <a:t>Information passed on is what they think is important.</a:t>
            </a:r>
          </a:p>
          <a:p>
            <a:pPr marL="0" indent="0" algn="l">
              <a:lnSpc>
                <a:spcPct val="115000"/>
              </a:lnSpc>
              <a:buNone/>
            </a:pPr>
            <a:r>
              <a:rPr lang="en-US" sz="1700" dirty="0">
                <a:solidFill>
                  <a:srgbClr val="4A453D"/>
                </a:solidFill>
                <a:latin typeface="Calibri" pitchFamily="34" charset="0"/>
                <a:ea typeface="Calibri" pitchFamily="34" charset="-122"/>
                <a:cs typeface="Calibri" pitchFamily="34" charset="-120"/>
              </a:rPr>
              <a:t>There is no view of what normal people movement and distribution looks like</a:t>
            </a:r>
          </a:p>
          <a:p>
            <a:pPr marL="0" indent="0" algn="l">
              <a:lnSpc>
                <a:spcPct val="115000"/>
              </a:lnSpc>
              <a:buNone/>
            </a:pPr>
            <a:r>
              <a:rPr lang="en-US" sz="1700" dirty="0">
                <a:solidFill>
                  <a:srgbClr val="4A453D"/>
                </a:solidFill>
                <a:latin typeface="Calibri" pitchFamily="34" charset="0"/>
                <a:ea typeface="Calibri" pitchFamily="34" charset="-122"/>
                <a:cs typeface="Calibri" pitchFamily="34" charset="-120"/>
              </a:rPr>
              <a:t>Controllers lack empirical data to inform decisions</a:t>
            </a:r>
            <a:endParaRPr lang="en-US" sz="1700" dirty="0"/>
          </a:p>
        </p:txBody>
      </p:sp>
      <p:sp>
        <p:nvSpPr>
          <p:cNvPr id="4" name="Shape 2">
            <a:extLst>
              <a:ext uri="{FF2B5EF4-FFF2-40B4-BE49-F238E27FC236}">
                <a16:creationId xmlns:a16="http://schemas.microsoft.com/office/drawing/2014/main" id="{D2813975-42D6-F440-F201-0EBDA3CE1DBA}"/>
              </a:ext>
            </a:extLst>
          </p:cNvPr>
          <p:cNvSpPr/>
          <p:nvPr/>
        </p:nvSpPr>
        <p:spPr>
          <a:xfrm>
            <a:off x="640080" y="3429000"/>
            <a:ext cx="5486400" cy="1280160"/>
          </a:xfrm>
          <a:prstGeom prst="roundRect">
            <a:avLst>
              <a:gd name="adj" fmla="val 6429"/>
            </a:avLst>
          </a:prstGeom>
          <a:solidFill>
            <a:srgbClr val="E9E4D9"/>
          </a:solidFill>
          <a:ln w="12700">
            <a:solidFill>
              <a:srgbClr val="CEC8BD"/>
            </a:solidFill>
            <a:prstDash val="solid"/>
          </a:ln>
        </p:spPr>
        <p:txBody>
          <a:bodyPr/>
          <a:lstStyle/>
          <a:p>
            <a:endParaRPr lang="en-NZ"/>
          </a:p>
        </p:txBody>
      </p:sp>
      <p:sp>
        <p:nvSpPr>
          <p:cNvPr id="5" name="Shape 3">
            <a:extLst>
              <a:ext uri="{FF2B5EF4-FFF2-40B4-BE49-F238E27FC236}">
                <a16:creationId xmlns:a16="http://schemas.microsoft.com/office/drawing/2014/main" id="{A7D6EA7F-C368-509F-FF55-C263F1772876}"/>
              </a:ext>
            </a:extLst>
          </p:cNvPr>
          <p:cNvSpPr/>
          <p:nvPr/>
        </p:nvSpPr>
        <p:spPr>
          <a:xfrm>
            <a:off x="640080" y="3429000"/>
            <a:ext cx="100584" cy="1280160"/>
          </a:xfrm>
          <a:prstGeom prst="rect">
            <a:avLst/>
          </a:prstGeom>
          <a:solidFill>
            <a:srgbClr val="1F3D2F"/>
          </a:solidFill>
          <a:ln/>
        </p:spPr>
        <p:txBody>
          <a:bodyPr/>
          <a:lstStyle/>
          <a:p>
            <a:endParaRPr lang="en-NZ"/>
          </a:p>
        </p:txBody>
      </p:sp>
      <p:sp>
        <p:nvSpPr>
          <p:cNvPr id="6" name="Text 4">
            <a:extLst>
              <a:ext uri="{FF2B5EF4-FFF2-40B4-BE49-F238E27FC236}">
                <a16:creationId xmlns:a16="http://schemas.microsoft.com/office/drawing/2014/main" id="{73DC87B0-E41C-73A6-C8C8-1ABD5E65BD6C}"/>
              </a:ext>
            </a:extLst>
          </p:cNvPr>
          <p:cNvSpPr/>
          <p:nvPr/>
        </p:nvSpPr>
        <p:spPr>
          <a:xfrm>
            <a:off x="868680" y="3611880"/>
            <a:ext cx="5120640" cy="274320"/>
          </a:xfrm>
          <a:prstGeom prst="rect">
            <a:avLst/>
          </a:prstGeom>
          <a:noFill/>
          <a:ln/>
        </p:spPr>
        <p:txBody>
          <a:bodyPr wrap="square" rtlCol="0" anchor="ctr"/>
          <a:lstStyle/>
          <a:p>
            <a:pPr marL="0" indent="0">
              <a:buNone/>
            </a:pPr>
            <a:r>
              <a:rPr lang="en-US" sz="1150" b="1" kern="0" spc="100" dirty="0">
                <a:solidFill>
                  <a:srgbClr val="1F3D2F"/>
                </a:solidFill>
                <a:latin typeface="Calibri" pitchFamily="34" charset="0"/>
                <a:ea typeface="Calibri" pitchFamily="34" charset="-122"/>
                <a:cs typeface="Calibri" pitchFamily="34" charset="-120"/>
              </a:rPr>
              <a:t>DESIRED OUTCOME</a:t>
            </a:r>
            <a:endParaRPr lang="en-US" sz="1150" dirty="0"/>
          </a:p>
        </p:txBody>
      </p:sp>
      <p:sp>
        <p:nvSpPr>
          <p:cNvPr id="7" name="Text 5">
            <a:extLst>
              <a:ext uri="{FF2B5EF4-FFF2-40B4-BE49-F238E27FC236}">
                <a16:creationId xmlns:a16="http://schemas.microsoft.com/office/drawing/2014/main" id="{4AC62267-D3E5-7697-0346-E6AAF6FE7CD0}"/>
              </a:ext>
            </a:extLst>
          </p:cNvPr>
          <p:cNvSpPr/>
          <p:nvPr/>
        </p:nvSpPr>
        <p:spPr>
          <a:xfrm>
            <a:off x="868680" y="3886200"/>
            <a:ext cx="5074920" cy="731520"/>
          </a:xfrm>
          <a:prstGeom prst="rect">
            <a:avLst/>
          </a:prstGeom>
          <a:noFill/>
          <a:ln/>
        </p:spPr>
        <p:txBody>
          <a:bodyPr wrap="square" rtlCol="0" anchor="ctr"/>
          <a:lstStyle/>
          <a:p>
            <a:pPr marL="0" indent="0">
              <a:lnSpc>
                <a:spcPct val="110000"/>
              </a:lnSpc>
              <a:buNone/>
            </a:pPr>
            <a:r>
              <a:rPr lang="en-US" sz="1650" i="1" dirty="0">
                <a:solidFill>
                  <a:srgbClr val="1A1815"/>
                </a:solidFill>
                <a:latin typeface="Cambria" pitchFamily="34" charset="0"/>
                <a:ea typeface="Cambria" pitchFamily="34" charset="-122"/>
                <a:cs typeface="Cambria" pitchFamily="34" charset="-120"/>
              </a:rPr>
              <a:t>WCC receives another early indication of where an event may affect people, rather than relying on individual reports.</a:t>
            </a:r>
            <a:endParaRPr lang="en-US" sz="1650" dirty="0"/>
          </a:p>
        </p:txBody>
      </p:sp>
      <p:sp>
        <p:nvSpPr>
          <p:cNvPr id="8" name="Shape 6">
            <a:extLst>
              <a:ext uri="{FF2B5EF4-FFF2-40B4-BE49-F238E27FC236}">
                <a16:creationId xmlns:a16="http://schemas.microsoft.com/office/drawing/2014/main" id="{FD7586E8-C119-18CC-4D41-D6CC068E7D32}"/>
              </a:ext>
            </a:extLst>
          </p:cNvPr>
          <p:cNvSpPr/>
          <p:nvPr/>
        </p:nvSpPr>
        <p:spPr>
          <a:xfrm>
            <a:off x="6675120" y="1508760"/>
            <a:ext cx="4846320" cy="1417320"/>
          </a:xfrm>
          <a:prstGeom prst="roundRect">
            <a:avLst>
              <a:gd name="adj" fmla="val 5806"/>
            </a:avLst>
          </a:prstGeom>
          <a:solidFill>
            <a:srgbClr val="FFFFFF"/>
          </a:solidFill>
          <a:ln w="12700">
            <a:solidFill>
              <a:srgbClr val="CEC8BD"/>
            </a:solidFill>
            <a:prstDash val="solid"/>
          </a:ln>
          <a:effectLst>
            <a:outerShdw blurRad="76200" dist="25400" dir="5400000" algn="bl" rotWithShape="0">
              <a:srgbClr val="BFB8AC">
                <a:alpha val="35000"/>
              </a:srgbClr>
            </a:outerShdw>
          </a:effectLst>
        </p:spPr>
        <p:txBody>
          <a:bodyPr/>
          <a:lstStyle/>
          <a:p>
            <a:endParaRPr lang="en-NZ"/>
          </a:p>
        </p:txBody>
      </p:sp>
      <p:sp>
        <p:nvSpPr>
          <p:cNvPr id="9" name="Text 7">
            <a:extLst>
              <a:ext uri="{FF2B5EF4-FFF2-40B4-BE49-F238E27FC236}">
                <a16:creationId xmlns:a16="http://schemas.microsoft.com/office/drawing/2014/main" id="{7C1589AB-2EC8-495A-A874-D2EEB4164BE7}"/>
              </a:ext>
            </a:extLst>
          </p:cNvPr>
          <p:cNvSpPr/>
          <p:nvPr/>
        </p:nvSpPr>
        <p:spPr>
          <a:xfrm>
            <a:off x="6949440" y="1664208"/>
            <a:ext cx="4297680" cy="365760"/>
          </a:xfrm>
          <a:prstGeom prst="rect">
            <a:avLst/>
          </a:prstGeom>
          <a:noFill/>
          <a:ln/>
        </p:spPr>
        <p:txBody>
          <a:bodyPr wrap="square" rtlCol="0" anchor="ctr"/>
          <a:lstStyle/>
          <a:p>
            <a:pPr marL="0" indent="0">
              <a:buNone/>
            </a:pPr>
            <a:r>
              <a:rPr lang="en-US" sz="1800" b="1" dirty="0">
                <a:solidFill>
                  <a:srgbClr val="6B655C"/>
                </a:solidFill>
                <a:latin typeface="Cambria" pitchFamily="34" charset="0"/>
                <a:ea typeface="Cambria" pitchFamily="34" charset="-122"/>
                <a:cs typeface="Cambria" pitchFamily="34" charset="-120"/>
              </a:rPr>
              <a:t>Individual reports</a:t>
            </a:r>
            <a:endParaRPr lang="en-US" sz="1800" dirty="0"/>
          </a:p>
        </p:txBody>
      </p:sp>
      <p:sp>
        <p:nvSpPr>
          <p:cNvPr id="10" name="Text 8">
            <a:extLst>
              <a:ext uri="{FF2B5EF4-FFF2-40B4-BE49-F238E27FC236}">
                <a16:creationId xmlns:a16="http://schemas.microsoft.com/office/drawing/2014/main" id="{AB7EBE86-C4C8-61A9-6A03-3436D86717CE}"/>
              </a:ext>
            </a:extLst>
          </p:cNvPr>
          <p:cNvSpPr/>
          <p:nvPr/>
        </p:nvSpPr>
        <p:spPr>
          <a:xfrm>
            <a:off x="6949440" y="2331720"/>
            <a:ext cx="4297680" cy="365760"/>
          </a:xfrm>
          <a:prstGeom prst="rect">
            <a:avLst/>
          </a:prstGeom>
          <a:noFill/>
          <a:ln/>
        </p:spPr>
        <p:txBody>
          <a:bodyPr wrap="square" rtlCol="0" anchor="ctr"/>
          <a:lstStyle/>
          <a:p>
            <a:pPr marL="0" indent="0">
              <a:buNone/>
            </a:pPr>
            <a:r>
              <a:rPr lang="en-US" sz="1450" dirty="0">
                <a:solidFill>
                  <a:srgbClr val="4A453D"/>
                </a:solidFill>
                <a:latin typeface="Calibri" pitchFamily="34" charset="0"/>
                <a:ea typeface="Calibri" pitchFamily="34" charset="-122"/>
                <a:cs typeface="Calibri" pitchFamily="34" charset="-120"/>
              </a:rPr>
              <a:t>Slow · patchy · one place at a time</a:t>
            </a:r>
            <a:endParaRPr lang="en-US" sz="1450" dirty="0"/>
          </a:p>
        </p:txBody>
      </p:sp>
      <p:sp>
        <p:nvSpPr>
          <p:cNvPr id="11" name="Shape 9">
            <a:extLst>
              <a:ext uri="{FF2B5EF4-FFF2-40B4-BE49-F238E27FC236}">
                <a16:creationId xmlns:a16="http://schemas.microsoft.com/office/drawing/2014/main" id="{83D1EC7A-7AC5-CCBA-FE46-A12CFDB9CD06}"/>
              </a:ext>
            </a:extLst>
          </p:cNvPr>
          <p:cNvSpPr/>
          <p:nvPr/>
        </p:nvSpPr>
        <p:spPr>
          <a:xfrm>
            <a:off x="6675120" y="3291840"/>
            <a:ext cx="4846320" cy="1417320"/>
          </a:xfrm>
          <a:prstGeom prst="roundRect">
            <a:avLst>
              <a:gd name="adj" fmla="val 5806"/>
            </a:avLst>
          </a:prstGeom>
          <a:solidFill>
            <a:srgbClr val="1F3D2F"/>
          </a:solidFill>
          <a:ln/>
          <a:effectLst>
            <a:outerShdw blurRad="76200" dist="25400" dir="5400000" algn="bl" rotWithShape="0">
              <a:srgbClr val="8FA79A">
                <a:alpha val="30000"/>
              </a:srgbClr>
            </a:outerShdw>
          </a:effectLst>
        </p:spPr>
        <p:txBody>
          <a:bodyPr/>
          <a:lstStyle/>
          <a:p>
            <a:endParaRPr lang="en-NZ"/>
          </a:p>
        </p:txBody>
      </p:sp>
      <p:sp>
        <p:nvSpPr>
          <p:cNvPr id="12" name="Text 10">
            <a:extLst>
              <a:ext uri="{FF2B5EF4-FFF2-40B4-BE49-F238E27FC236}">
                <a16:creationId xmlns:a16="http://schemas.microsoft.com/office/drawing/2014/main" id="{2F75B986-6C26-7868-1070-6C03927E5628}"/>
              </a:ext>
            </a:extLst>
          </p:cNvPr>
          <p:cNvSpPr/>
          <p:nvPr/>
        </p:nvSpPr>
        <p:spPr>
          <a:xfrm>
            <a:off x="6949440" y="3447288"/>
            <a:ext cx="4297680" cy="365760"/>
          </a:xfrm>
          <a:prstGeom prst="rect">
            <a:avLst/>
          </a:prstGeom>
          <a:noFill/>
          <a:ln/>
        </p:spPr>
        <p:txBody>
          <a:bodyPr wrap="square" rtlCol="0" anchor="ctr"/>
          <a:lstStyle/>
          <a:p>
            <a:pPr marL="0" indent="0">
              <a:buNone/>
            </a:pPr>
            <a:r>
              <a:rPr lang="en-US" sz="1800" b="1" dirty="0">
                <a:solidFill>
                  <a:srgbClr val="FAF8F4"/>
                </a:solidFill>
                <a:latin typeface="Cambria" pitchFamily="34" charset="0"/>
                <a:ea typeface="Cambria" pitchFamily="34" charset="-122"/>
                <a:cs typeface="Cambria" pitchFamily="34" charset="-120"/>
              </a:rPr>
              <a:t>Movement data</a:t>
            </a:r>
            <a:endParaRPr lang="en-US" sz="1800" dirty="0"/>
          </a:p>
        </p:txBody>
      </p:sp>
      <p:sp>
        <p:nvSpPr>
          <p:cNvPr id="13" name="Text 11">
            <a:extLst>
              <a:ext uri="{FF2B5EF4-FFF2-40B4-BE49-F238E27FC236}">
                <a16:creationId xmlns:a16="http://schemas.microsoft.com/office/drawing/2014/main" id="{D6EB10F3-A23D-FCC8-090B-ECA873CCC63A}"/>
              </a:ext>
            </a:extLst>
          </p:cNvPr>
          <p:cNvSpPr/>
          <p:nvPr/>
        </p:nvSpPr>
        <p:spPr>
          <a:xfrm>
            <a:off x="6949440" y="4114800"/>
            <a:ext cx="4297680" cy="365760"/>
          </a:xfrm>
          <a:prstGeom prst="rect">
            <a:avLst/>
          </a:prstGeom>
          <a:noFill/>
          <a:ln/>
        </p:spPr>
        <p:txBody>
          <a:bodyPr wrap="square" rtlCol="0" anchor="ctr"/>
          <a:lstStyle/>
          <a:p>
            <a:pPr marL="0" indent="0">
              <a:buNone/>
            </a:pPr>
            <a:r>
              <a:rPr lang="en-US" sz="1450" dirty="0">
                <a:solidFill>
                  <a:srgbClr val="CFE0D6"/>
                </a:solidFill>
                <a:latin typeface="Calibri" pitchFamily="34" charset="0"/>
                <a:ea typeface="Calibri" pitchFamily="34" charset="-122"/>
                <a:cs typeface="Calibri" pitchFamily="34" charset="-120"/>
              </a:rPr>
              <a:t>Citywide · every hour · every mode</a:t>
            </a:r>
            <a:endParaRPr lang="en-US" sz="1450" dirty="0"/>
          </a:p>
        </p:txBody>
      </p:sp>
      <p:sp>
        <p:nvSpPr>
          <p:cNvPr id="14" name="Text 12">
            <a:extLst>
              <a:ext uri="{FF2B5EF4-FFF2-40B4-BE49-F238E27FC236}">
                <a16:creationId xmlns:a16="http://schemas.microsoft.com/office/drawing/2014/main" id="{EC7DDD3E-51BA-4AA4-97F0-3C7D0C1EB938}"/>
              </a:ext>
            </a:extLst>
          </p:cNvPr>
          <p:cNvSpPr/>
          <p:nvPr/>
        </p:nvSpPr>
        <p:spPr>
          <a:xfrm>
            <a:off x="6675120" y="4983480"/>
            <a:ext cx="4846320" cy="457200"/>
          </a:xfrm>
          <a:prstGeom prst="rect">
            <a:avLst/>
          </a:prstGeom>
          <a:noFill/>
          <a:ln/>
        </p:spPr>
        <p:txBody>
          <a:bodyPr wrap="square" rtlCol="0" anchor="ctr"/>
          <a:lstStyle/>
          <a:p>
            <a:pPr marL="0" indent="0" algn="l">
              <a:buNone/>
            </a:pPr>
            <a:r>
              <a:rPr lang="en-US" sz="1300" i="1" dirty="0">
                <a:solidFill>
                  <a:srgbClr val="6B655C"/>
                </a:solidFill>
                <a:latin typeface="Calibri" pitchFamily="34" charset="0"/>
                <a:ea typeface="Calibri" pitchFamily="34" charset="-122"/>
                <a:cs typeface="Calibri" pitchFamily="34" charset="-120"/>
              </a:rPr>
              <a:t>An always-on baseline that notices the change on its own.</a:t>
            </a:r>
            <a:endParaRPr lang="en-US" sz="1300" dirty="0"/>
          </a:p>
        </p:txBody>
      </p:sp>
    </p:spTree>
    <p:extLst>
      <p:ext uri="{BB962C8B-B14F-4D97-AF65-F5344CB8AC3E}">
        <p14:creationId xmlns:p14="http://schemas.microsoft.com/office/powerpoint/2010/main" val="142798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C35D-F936-0808-5648-91F69C0247DD}"/>
            </a:ext>
          </a:extLst>
        </p:cNvPr>
        <p:cNvGrpSpPr/>
        <p:nvPr/>
      </p:nvGrpSpPr>
      <p:grpSpPr>
        <a:xfrm>
          <a:off x="0" y="0"/>
          <a:ext cx="0" cy="0"/>
          <a:chOff x="0" y="0"/>
          <a:chExt cx="0" cy="0"/>
        </a:xfrm>
      </p:grpSpPr>
      <p:pic>
        <p:nvPicPr>
          <p:cNvPr id="15" name="Picture 14" descr="Image">
            <a:extLst>
              <a:ext uri="{FF2B5EF4-FFF2-40B4-BE49-F238E27FC236}">
                <a16:creationId xmlns:a16="http://schemas.microsoft.com/office/drawing/2014/main" id="{136A3E60-3B98-7977-FDD0-6A1CB6EE9EDC}"/>
              </a:ext>
            </a:extLst>
          </p:cNvPr>
          <p:cNvPicPr>
            <a:picLocks noChangeAspect="1"/>
          </p:cNvPicPr>
          <p:nvPr/>
        </p:nvPicPr>
        <p:blipFill>
          <a:blip r:embed="rId3"/>
          <a:stretch>
            <a:fillRect/>
          </a:stretch>
        </p:blipFill>
        <p:spPr>
          <a:xfrm>
            <a:off x="1690370" y="1626860"/>
            <a:ext cx="3111500" cy="3111500"/>
          </a:xfrm>
          <a:prstGeom prst="rect">
            <a:avLst/>
          </a:prstGeom>
        </p:spPr>
      </p:pic>
      <p:sp>
        <p:nvSpPr>
          <p:cNvPr id="16" name="TextBox 15">
            <a:extLst>
              <a:ext uri="{FF2B5EF4-FFF2-40B4-BE49-F238E27FC236}">
                <a16:creationId xmlns:a16="http://schemas.microsoft.com/office/drawing/2014/main" id="{FCC6D75D-3383-45C5-2DEF-8243B5076D4D}"/>
              </a:ext>
            </a:extLst>
          </p:cNvPr>
          <p:cNvSpPr txBox="1"/>
          <p:nvPr/>
        </p:nvSpPr>
        <p:spPr>
          <a:xfrm>
            <a:off x="2514509" y="4707920"/>
            <a:ext cx="1463221" cy="523220"/>
          </a:xfrm>
          <a:prstGeom prst="rect">
            <a:avLst/>
          </a:prstGeom>
          <a:noFill/>
        </p:spPr>
        <p:txBody>
          <a:bodyPr wrap="none" rtlCol="0">
            <a:spAutoFit/>
          </a:bodyPr>
          <a:lstStyle/>
          <a:p>
            <a:r>
              <a:rPr lang="en-US" sz="2800" dirty="0"/>
              <a:t>README</a:t>
            </a:r>
          </a:p>
        </p:txBody>
      </p:sp>
      <p:pic>
        <p:nvPicPr>
          <p:cNvPr id="17" name="Picture 16" descr="Image">
            <a:extLst>
              <a:ext uri="{FF2B5EF4-FFF2-40B4-BE49-F238E27FC236}">
                <a16:creationId xmlns:a16="http://schemas.microsoft.com/office/drawing/2014/main" id="{9935031D-19A6-3BF4-0370-7A9FD21EE11A}"/>
              </a:ext>
            </a:extLst>
          </p:cNvPr>
          <p:cNvPicPr>
            <a:picLocks noChangeAspect="1"/>
          </p:cNvPicPr>
          <p:nvPr/>
        </p:nvPicPr>
        <p:blipFill>
          <a:blip r:embed="rId4"/>
          <a:stretch>
            <a:fillRect/>
          </a:stretch>
        </p:blipFill>
        <p:spPr>
          <a:xfrm>
            <a:off x="7046259" y="1496646"/>
            <a:ext cx="3241714" cy="3241714"/>
          </a:xfrm>
          <a:prstGeom prst="rect">
            <a:avLst/>
          </a:prstGeom>
        </p:spPr>
      </p:pic>
      <p:sp>
        <p:nvSpPr>
          <p:cNvPr id="18" name="TextBox 17">
            <a:extLst>
              <a:ext uri="{FF2B5EF4-FFF2-40B4-BE49-F238E27FC236}">
                <a16:creationId xmlns:a16="http://schemas.microsoft.com/office/drawing/2014/main" id="{FA86B411-C8F5-CC16-A1CD-D78A2A218ECF}"/>
              </a:ext>
            </a:extLst>
          </p:cNvPr>
          <p:cNvSpPr txBox="1"/>
          <p:nvPr/>
        </p:nvSpPr>
        <p:spPr>
          <a:xfrm>
            <a:off x="7935505" y="4591379"/>
            <a:ext cx="1489510" cy="523220"/>
          </a:xfrm>
          <a:prstGeom prst="rect">
            <a:avLst/>
          </a:prstGeom>
          <a:noFill/>
        </p:spPr>
        <p:txBody>
          <a:bodyPr wrap="none" rtlCol="0">
            <a:spAutoFit/>
          </a:bodyPr>
          <a:lstStyle/>
          <a:p>
            <a:r>
              <a:rPr lang="en-US" sz="2800" dirty="0"/>
              <a:t>LIVE SITE</a:t>
            </a:r>
          </a:p>
        </p:txBody>
      </p:sp>
    </p:spTree>
    <p:extLst>
      <p:ext uri="{BB962C8B-B14F-4D97-AF65-F5344CB8AC3E}">
        <p14:creationId xmlns:p14="http://schemas.microsoft.com/office/powerpoint/2010/main" val="3914730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D7FDCD-90CE-3DBF-13C3-DA25048123AA}"/>
              </a:ext>
            </a:extLst>
          </p:cNvPr>
          <p:cNvSpPr txBox="1"/>
          <p:nvPr/>
        </p:nvSpPr>
        <p:spPr>
          <a:xfrm>
            <a:off x="325120" y="-16108"/>
            <a:ext cx="6096000" cy="646331"/>
          </a:xfrm>
          <a:prstGeom prst="rect">
            <a:avLst/>
          </a:prstGeom>
          <a:noFill/>
        </p:spPr>
        <p:txBody>
          <a:bodyPr wrap="square">
            <a:spAutoFit/>
          </a:bodyPr>
          <a:lstStyle/>
          <a:p>
            <a:pPr>
              <a:spcAft>
                <a:spcPts val="300"/>
              </a:spcAft>
              <a:buNone/>
            </a:pPr>
            <a:r>
              <a:rPr lang="en-NZ" sz="1800" dirty="0">
                <a:solidFill>
                  <a:srgbClr val="C9D3E2"/>
                </a:solidFill>
                <a:effectLst/>
                <a:latin typeface="Calibri" panose="020F0502020204030204" pitchFamily="34" charset="0"/>
                <a:ea typeface="Calibri" panose="020F0502020204030204" pitchFamily="34" charset="0"/>
              </a:rPr>
              <a:t>________________________________________________________________________________________</a:t>
            </a:r>
            <a:endParaRPr lang="en-NZ" sz="1600" dirty="0">
              <a:solidFill>
                <a:srgbClr val="334155"/>
              </a:solidFill>
              <a:effectLst/>
              <a:latin typeface="Calibri" panose="020F0502020204030204" pitchFamily="34" charset="0"/>
              <a:ea typeface="Calibri" panose="020F0502020204030204" pitchFamily="34" charset="0"/>
            </a:endParaRPr>
          </a:p>
        </p:txBody>
      </p:sp>
      <p:sp>
        <p:nvSpPr>
          <p:cNvPr id="8" name="TextBox 7">
            <a:extLst>
              <a:ext uri="{FF2B5EF4-FFF2-40B4-BE49-F238E27FC236}">
                <a16:creationId xmlns:a16="http://schemas.microsoft.com/office/drawing/2014/main" id="{0C0856A5-0ED3-73FF-18F6-3A0BF2031F55}"/>
              </a:ext>
            </a:extLst>
          </p:cNvPr>
          <p:cNvSpPr txBox="1"/>
          <p:nvPr/>
        </p:nvSpPr>
        <p:spPr>
          <a:xfrm>
            <a:off x="54362" y="-16108"/>
            <a:ext cx="10115549" cy="1138773"/>
          </a:xfrm>
          <a:prstGeom prst="rect">
            <a:avLst/>
          </a:prstGeom>
          <a:noFill/>
        </p:spPr>
        <p:txBody>
          <a:bodyPr wrap="square">
            <a:spAutoFit/>
          </a:bodyPr>
          <a:lstStyle/>
          <a:p>
            <a:pPr>
              <a:buNone/>
            </a:pPr>
            <a:r>
              <a:rPr lang="en-NZ" sz="3200" b="1" dirty="0">
                <a:solidFill>
                  <a:srgbClr val="24314B"/>
                </a:solidFill>
                <a:effectLst/>
                <a:latin typeface="Calibri" panose="020F0502020204030204" pitchFamily="34" charset="0"/>
                <a:ea typeface="Calibri" panose="020F0502020204030204" pitchFamily="34" charset="0"/>
              </a:rPr>
              <a:t>AI Opportunity Canvas</a:t>
            </a:r>
            <a:endParaRPr lang="en-NZ" sz="1100" dirty="0">
              <a:solidFill>
                <a:srgbClr val="334155"/>
              </a:solidFill>
              <a:effectLst/>
              <a:latin typeface="Calibri" panose="020F0502020204030204" pitchFamily="34" charset="0"/>
              <a:ea typeface="Calibri" panose="020F0502020204030204" pitchFamily="34" charset="0"/>
            </a:endParaRPr>
          </a:p>
          <a:p>
            <a:pPr>
              <a:spcAft>
                <a:spcPts val="600"/>
              </a:spcAft>
              <a:buNone/>
            </a:pPr>
            <a:r>
              <a:rPr lang="en-NZ" sz="1200" b="1" dirty="0">
                <a:solidFill>
                  <a:srgbClr val="24314B"/>
                </a:solidFill>
                <a:effectLst/>
                <a:latin typeface="Calibri" panose="020F0502020204030204" pitchFamily="34" charset="0"/>
                <a:ea typeface="Calibri" panose="020F0502020204030204" pitchFamily="34" charset="0"/>
              </a:rPr>
              <a:t>Your idea:  </a:t>
            </a:r>
            <a:r>
              <a:rPr lang="en-NZ" sz="1200" dirty="0">
                <a:solidFill>
                  <a:srgbClr val="C9D3E2"/>
                </a:solidFill>
                <a:effectLst/>
                <a:latin typeface="Calibri" panose="020F0502020204030204" pitchFamily="34" charset="0"/>
                <a:ea typeface="Calibri" panose="020F0502020204030204" pitchFamily="34" charset="0"/>
              </a:rPr>
              <a:t>__</a:t>
            </a:r>
            <a:r>
              <a:rPr lang="en-NZ" sz="1800" dirty="0">
                <a:solidFill>
                  <a:srgbClr val="000000"/>
                </a:solidFill>
                <a:effectLst/>
                <a:latin typeface="Calibri" panose="020F0502020204030204" pitchFamily="34" charset="0"/>
                <a:ea typeface="Calibri" panose="020F0502020204030204" pitchFamily="34" charset="0"/>
              </a:rPr>
              <a:t>Detect unusual changes in movement around the city that could indicate disruption, unsafe conditions evacuations or loss of access</a:t>
            </a:r>
            <a:endParaRPr lang="en-NZ" sz="1100" dirty="0">
              <a:solidFill>
                <a:srgbClr val="334155"/>
              </a:solidFill>
              <a:effectLst/>
              <a:latin typeface="Calibri" panose="020F0502020204030204" pitchFamily="34" charset="0"/>
              <a:ea typeface="Calibri" panose="020F0502020204030204" pitchFamily="34" charset="0"/>
            </a:endParaRPr>
          </a:p>
        </p:txBody>
      </p:sp>
      <p:graphicFrame>
        <p:nvGraphicFramePr>
          <p:cNvPr id="9" name="Table 8">
            <a:extLst>
              <a:ext uri="{FF2B5EF4-FFF2-40B4-BE49-F238E27FC236}">
                <a16:creationId xmlns:a16="http://schemas.microsoft.com/office/drawing/2014/main" id="{B9071562-9FD9-E94F-3B10-EE82493B063F}"/>
              </a:ext>
            </a:extLst>
          </p:cNvPr>
          <p:cNvGraphicFramePr>
            <a:graphicFrameLocks noGrp="1"/>
          </p:cNvGraphicFramePr>
          <p:nvPr>
            <p:extLst>
              <p:ext uri="{D42A27DB-BD31-4B8C-83A1-F6EECF244321}">
                <p14:modId xmlns:p14="http://schemas.microsoft.com/office/powerpoint/2010/main" val="3713185337"/>
              </p:ext>
            </p:extLst>
          </p:nvPr>
        </p:nvGraphicFramePr>
        <p:xfrm>
          <a:off x="143332" y="1205938"/>
          <a:ext cx="11327178" cy="5123979"/>
        </p:xfrm>
        <a:graphic>
          <a:graphicData uri="http://schemas.openxmlformats.org/drawingml/2006/table">
            <a:tbl>
              <a:tblPr firstRow="1" firstCol="1" bandRow="1">
                <a:tableStyleId>{5C22544A-7EE6-4342-B048-85BDC9FD1C3A}</a:tableStyleId>
              </a:tblPr>
              <a:tblGrid>
                <a:gridCol w="2830507">
                  <a:extLst>
                    <a:ext uri="{9D8B030D-6E8A-4147-A177-3AD203B41FA5}">
                      <a16:colId xmlns:a16="http://schemas.microsoft.com/office/drawing/2014/main" val="2765923938"/>
                    </a:ext>
                  </a:extLst>
                </a:gridCol>
                <a:gridCol w="2831978">
                  <a:extLst>
                    <a:ext uri="{9D8B030D-6E8A-4147-A177-3AD203B41FA5}">
                      <a16:colId xmlns:a16="http://schemas.microsoft.com/office/drawing/2014/main" val="4262085899"/>
                    </a:ext>
                  </a:extLst>
                </a:gridCol>
                <a:gridCol w="2831978">
                  <a:extLst>
                    <a:ext uri="{9D8B030D-6E8A-4147-A177-3AD203B41FA5}">
                      <a16:colId xmlns:a16="http://schemas.microsoft.com/office/drawing/2014/main" val="4265542885"/>
                    </a:ext>
                  </a:extLst>
                </a:gridCol>
                <a:gridCol w="2832715">
                  <a:extLst>
                    <a:ext uri="{9D8B030D-6E8A-4147-A177-3AD203B41FA5}">
                      <a16:colId xmlns:a16="http://schemas.microsoft.com/office/drawing/2014/main" val="325914531"/>
                    </a:ext>
                  </a:extLst>
                </a:gridCol>
              </a:tblGrid>
              <a:tr h="392451">
                <a:tc>
                  <a:txBody>
                    <a:bodyPr/>
                    <a:lstStyle/>
                    <a:p>
                      <a:pPr>
                        <a:spcAft>
                          <a:spcPts val="50"/>
                        </a:spcAft>
                        <a:buNone/>
                      </a:pPr>
                      <a:r>
                        <a:rPr lang="en-NZ" sz="600" cap="all" spc="100" dirty="0">
                          <a:effectLst/>
                        </a:rPr>
                        <a:t>The who</a:t>
                      </a:r>
                      <a:endParaRPr lang="en-NZ" sz="800" dirty="0">
                        <a:effectLst/>
                      </a:endParaRPr>
                    </a:p>
                    <a:p>
                      <a:pPr>
                        <a:spcAft>
                          <a:spcPts val="50"/>
                        </a:spcAft>
                        <a:buNone/>
                      </a:pPr>
                      <a:r>
                        <a:rPr lang="en-NZ" sz="900" dirty="0">
                          <a:effectLst/>
                        </a:rPr>
                        <a:t>Human Lens</a:t>
                      </a:r>
                      <a:endParaRPr lang="en-NZ" sz="800" dirty="0">
                        <a:solidFill>
                          <a:srgbClr val="334155"/>
                        </a:solidFill>
                        <a:effectLst/>
                        <a:latin typeface="Calibri" panose="020F0502020204030204" pitchFamily="34" charset="0"/>
                        <a:ea typeface="Calibri" panose="020F0502020204030204" pitchFamily="34" charset="0"/>
                      </a:endParaRPr>
                    </a:p>
                  </a:txBody>
                  <a:tcPr marL="5867" marR="5867" marT="0" marB="0" anchor="ctr"/>
                </a:tc>
                <a:tc>
                  <a:txBody>
                    <a:bodyPr/>
                    <a:lstStyle/>
                    <a:p>
                      <a:pPr>
                        <a:spcAft>
                          <a:spcPts val="50"/>
                        </a:spcAft>
                        <a:buNone/>
                      </a:pPr>
                      <a:r>
                        <a:rPr lang="en-NZ" sz="600" cap="all" spc="100">
                          <a:effectLst/>
                        </a:rPr>
                        <a:t>The why</a:t>
                      </a:r>
                      <a:endParaRPr lang="en-NZ" sz="800">
                        <a:effectLst/>
                      </a:endParaRPr>
                    </a:p>
                    <a:p>
                      <a:pPr>
                        <a:spcAft>
                          <a:spcPts val="50"/>
                        </a:spcAft>
                        <a:buNone/>
                      </a:pPr>
                      <a:r>
                        <a:rPr lang="en-NZ" sz="900">
                          <a:effectLst/>
                        </a:rPr>
                        <a:t>Business Lens</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nchor="ctr"/>
                </a:tc>
                <a:tc>
                  <a:txBody>
                    <a:bodyPr/>
                    <a:lstStyle/>
                    <a:p>
                      <a:pPr>
                        <a:spcAft>
                          <a:spcPts val="50"/>
                        </a:spcAft>
                        <a:buNone/>
                      </a:pPr>
                      <a:r>
                        <a:rPr lang="en-NZ" sz="600" cap="all" spc="100">
                          <a:effectLst/>
                        </a:rPr>
                        <a:t>The what</a:t>
                      </a:r>
                      <a:endParaRPr lang="en-NZ" sz="800">
                        <a:effectLst/>
                      </a:endParaRPr>
                    </a:p>
                    <a:p>
                      <a:pPr>
                        <a:buNone/>
                      </a:pPr>
                      <a:r>
                        <a:rPr lang="en-NZ" sz="900">
                          <a:effectLst/>
                        </a:rPr>
                        <a:t>Solution Lens</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nchor="ctr"/>
                </a:tc>
                <a:tc>
                  <a:txBody>
                    <a:bodyPr/>
                    <a:lstStyle/>
                    <a:p>
                      <a:pPr>
                        <a:spcAft>
                          <a:spcPts val="50"/>
                        </a:spcAft>
                        <a:buNone/>
                      </a:pPr>
                      <a:r>
                        <a:rPr lang="en-NZ" sz="600" cap="all" spc="100">
                          <a:effectLst/>
                        </a:rPr>
                        <a:t>The how</a:t>
                      </a:r>
                      <a:endParaRPr lang="en-NZ" sz="800">
                        <a:effectLst/>
                      </a:endParaRPr>
                    </a:p>
                    <a:p>
                      <a:pPr>
                        <a:buNone/>
                      </a:pPr>
                      <a:r>
                        <a:rPr lang="en-NZ" sz="900">
                          <a:effectLst/>
                        </a:rPr>
                        <a:t>Feasibility Lens</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nchor="ctr"/>
                </a:tc>
                <a:extLst>
                  <a:ext uri="{0D108BD9-81ED-4DB2-BD59-A6C34878D82A}">
                    <a16:rowId xmlns:a16="http://schemas.microsoft.com/office/drawing/2014/main" val="2367683171"/>
                  </a:ext>
                </a:extLst>
              </a:tr>
              <a:tr h="2105972">
                <a:tc>
                  <a:txBody>
                    <a:bodyPr/>
                    <a:lstStyle/>
                    <a:p>
                      <a:pPr>
                        <a:spcAft>
                          <a:spcPts val="100"/>
                        </a:spcAft>
                        <a:buNone/>
                      </a:pPr>
                      <a:r>
                        <a:rPr lang="en-NZ" sz="900">
                          <a:effectLst/>
                        </a:rPr>
                        <a:t>Customer / User</a:t>
                      </a:r>
                      <a:endParaRPr lang="en-NZ" sz="800">
                        <a:effectLst/>
                      </a:endParaRPr>
                    </a:p>
                    <a:p>
                      <a:pPr>
                        <a:spcAft>
                          <a:spcPts val="100"/>
                        </a:spcAft>
                        <a:buNone/>
                      </a:pPr>
                      <a:r>
                        <a:rPr lang="en-NZ" sz="1100">
                          <a:effectLst/>
                        </a:rPr>
                        <a:t>Duty controller,</a:t>
                      </a:r>
                      <a:endParaRPr lang="en-NZ" sz="800">
                        <a:effectLst/>
                      </a:endParaRPr>
                    </a:p>
                    <a:p>
                      <a:pPr>
                        <a:spcAft>
                          <a:spcPts val="100"/>
                        </a:spcAft>
                        <a:buNone/>
                      </a:pPr>
                      <a:r>
                        <a:rPr lang="en-NZ" sz="1100">
                          <a:effectLst/>
                        </a:rPr>
                        <a:t>EM team</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dirty="0">
                          <a:effectLst/>
                        </a:rPr>
                        <a:t>Business Domain</a:t>
                      </a:r>
                      <a:endParaRPr lang="en-NZ" sz="800" dirty="0">
                        <a:effectLst/>
                      </a:endParaRPr>
                    </a:p>
                    <a:p>
                      <a:pPr>
                        <a:spcAft>
                          <a:spcPts val="100"/>
                        </a:spcAft>
                        <a:buNone/>
                      </a:pPr>
                      <a:r>
                        <a:rPr lang="en-NZ" sz="1100" dirty="0">
                          <a:effectLst/>
                        </a:rPr>
                        <a:t>Emergency Management</a:t>
                      </a:r>
                      <a:endParaRPr lang="en-NZ" sz="800" dirty="0">
                        <a:effectLst/>
                      </a:endParaRPr>
                    </a:p>
                    <a:p>
                      <a:pPr>
                        <a:spcAft>
                          <a:spcPts val="100"/>
                        </a:spcAft>
                        <a:buNone/>
                      </a:pPr>
                      <a:r>
                        <a:rPr lang="en-NZ" sz="1300" dirty="0">
                          <a:effectLst/>
                        </a:rPr>
                        <a:t> </a:t>
                      </a:r>
                      <a:endParaRPr lang="en-NZ" sz="800" dirty="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AI Idea / Solution</a:t>
                      </a:r>
                      <a:endParaRPr lang="en-NZ" sz="800">
                        <a:effectLst/>
                      </a:endParaRPr>
                    </a:p>
                    <a:p>
                      <a:pPr>
                        <a:spcAft>
                          <a:spcPts val="100"/>
                        </a:spcAft>
                        <a:buNone/>
                      </a:pPr>
                      <a:r>
                        <a:rPr lang="en-NZ" sz="1100">
                          <a:effectLst/>
                        </a:rPr>
                        <a:t>Our tool predicts baseline traffic, measures actual traffic and deviation from baseline and presents events that may cause deviations and provides data to estimate the risk impact based on population change and risk zones e.g.(Tsunami, flood zones)</a:t>
                      </a:r>
                      <a:endParaRPr lang="en-NZ" sz="800">
                        <a:effectLst/>
                      </a:endParaRPr>
                    </a:p>
                    <a:p>
                      <a:pPr>
                        <a:buNone/>
                      </a:pPr>
                      <a:r>
                        <a:rPr lang="en-NZ" sz="13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tc>
                  <a:txBody>
                    <a:bodyPr/>
                    <a:lstStyle/>
                    <a:p>
                      <a:pPr>
                        <a:spcAft>
                          <a:spcPts val="100"/>
                        </a:spcAft>
                        <a:buNone/>
                      </a:pPr>
                      <a:r>
                        <a:rPr lang="en-NZ" sz="900">
                          <a:effectLst/>
                        </a:rPr>
                        <a:t>Data Feasibility</a:t>
                      </a:r>
                      <a:endParaRPr lang="en-NZ" sz="800">
                        <a:effectLst/>
                      </a:endParaRPr>
                    </a:p>
                    <a:p>
                      <a:pPr>
                        <a:spcAft>
                          <a:spcPts val="100"/>
                        </a:spcAft>
                        <a:buNone/>
                      </a:pPr>
                      <a:r>
                        <a:rPr lang="en-NZ" sz="1100">
                          <a:effectLst/>
                        </a:rPr>
                        <a:t>What data is required? How ready is it for availability, quality, access and sensitivity?</a:t>
                      </a:r>
                      <a:endParaRPr lang="en-NZ" sz="800">
                        <a:effectLst/>
                      </a:endParaRPr>
                    </a:p>
                    <a:p>
                      <a:pPr>
                        <a:spcAft>
                          <a:spcPts val="100"/>
                        </a:spcAft>
                        <a:buNone/>
                      </a:pPr>
                      <a:r>
                        <a:rPr lang="en-NZ" sz="1100">
                          <a:effectLst/>
                        </a:rPr>
                        <a:t>Computer vision data</a:t>
                      </a:r>
                      <a:endParaRPr lang="en-NZ" sz="800">
                        <a:effectLst/>
                      </a:endParaRPr>
                    </a:p>
                    <a:p>
                      <a:pPr>
                        <a:spcAft>
                          <a:spcPts val="100"/>
                        </a:spcAft>
                        <a:buNone/>
                      </a:pPr>
                      <a:r>
                        <a:rPr lang="en-NZ" sz="1100">
                          <a:effectLst/>
                        </a:rPr>
                        <a:t> </a:t>
                      </a:r>
                      <a:endParaRPr lang="en-NZ" sz="800">
                        <a:effectLst/>
                      </a:endParaRPr>
                    </a:p>
                    <a:p>
                      <a:pPr>
                        <a:spcAft>
                          <a:spcPts val="200"/>
                        </a:spcAft>
                        <a:buNone/>
                      </a:pPr>
                      <a:r>
                        <a:rPr lang="en-NZ" sz="1300">
                          <a:effectLst/>
                        </a:rPr>
                        <a:t> </a:t>
                      </a:r>
                      <a:endParaRPr lang="en-NZ" sz="800">
                        <a:effectLst/>
                      </a:endParaRPr>
                    </a:p>
                    <a:p>
                      <a:pPr>
                        <a:buNone/>
                      </a:pPr>
                      <a:r>
                        <a:rPr lang="en-NZ" sz="13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extLst>
                  <a:ext uri="{0D108BD9-81ED-4DB2-BD59-A6C34878D82A}">
                    <a16:rowId xmlns:a16="http://schemas.microsoft.com/office/drawing/2014/main" val="1854742506"/>
                  </a:ext>
                </a:extLst>
              </a:tr>
              <a:tr h="1312778">
                <a:tc>
                  <a:txBody>
                    <a:bodyPr/>
                    <a:lstStyle/>
                    <a:p>
                      <a:pPr>
                        <a:spcAft>
                          <a:spcPts val="100"/>
                        </a:spcAft>
                        <a:buNone/>
                      </a:pPr>
                      <a:r>
                        <a:rPr lang="en-NZ" sz="900">
                          <a:effectLst/>
                        </a:rPr>
                        <a:t>Customer Problem</a:t>
                      </a:r>
                      <a:endParaRPr lang="en-NZ" sz="800">
                        <a:effectLst/>
                      </a:endParaRPr>
                    </a:p>
                    <a:p>
                      <a:pPr>
                        <a:spcAft>
                          <a:spcPts val="200"/>
                        </a:spcAft>
                        <a:buNone/>
                      </a:pPr>
                      <a:r>
                        <a:rPr lang="en-NZ" sz="1100">
                          <a:effectLst/>
                        </a:rPr>
                        <a:t>We don’t have visibility of  data or a model to predict population movement so can’t accurately estimate risk impact</a:t>
                      </a:r>
                      <a:endParaRPr lang="en-NZ" sz="800">
                        <a:effectLst/>
                      </a:endParaRPr>
                    </a:p>
                    <a:p>
                      <a:pPr>
                        <a:spcAft>
                          <a:spcPts val="100"/>
                        </a:spcAft>
                        <a:buNone/>
                      </a:pPr>
                      <a:r>
                        <a:rPr lang="en-NZ" sz="9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Business Goal / KPI / OKR</a:t>
                      </a:r>
                      <a:endParaRPr lang="en-NZ" sz="800">
                        <a:effectLst/>
                      </a:endParaRPr>
                    </a:p>
                    <a:p>
                      <a:pPr>
                        <a:spcAft>
                          <a:spcPts val="200"/>
                        </a:spcAft>
                        <a:buNone/>
                      </a:pPr>
                      <a:r>
                        <a:rPr lang="en-NZ" sz="1100">
                          <a:effectLst/>
                        </a:rPr>
                        <a:t>Improve risk estimation for planning, response and retrospectives</a:t>
                      </a:r>
                      <a:endParaRPr lang="en-NZ" sz="800">
                        <a:effectLst/>
                      </a:endParaRPr>
                    </a:p>
                    <a:p>
                      <a:pPr>
                        <a:spcAft>
                          <a:spcPts val="100"/>
                        </a:spcAft>
                        <a:buNone/>
                      </a:pPr>
                      <a:r>
                        <a:rPr lang="en-NZ" sz="9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Status Quo / Workaround</a:t>
                      </a:r>
                      <a:endParaRPr lang="en-NZ" sz="800">
                        <a:effectLst/>
                      </a:endParaRPr>
                    </a:p>
                    <a:p>
                      <a:pPr>
                        <a:buNone/>
                      </a:pPr>
                      <a:r>
                        <a:rPr lang="en-NZ" sz="1100">
                          <a:effectLst/>
                        </a:rPr>
                        <a:t>Individuals try and make sense of disparate data sets and think what is important to hand over</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tc>
                  <a:txBody>
                    <a:bodyPr/>
                    <a:lstStyle/>
                    <a:p>
                      <a:pPr>
                        <a:spcAft>
                          <a:spcPts val="100"/>
                        </a:spcAft>
                        <a:buNone/>
                      </a:pPr>
                      <a:r>
                        <a:rPr lang="en-NZ" sz="900">
                          <a:effectLst/>
                        </a:rPr>
                        <a:t>Technical Feasibility</a:t>
                      </a:r>
                      <a:endParaRPr lang="en-NZ" sz="800">
                        <a:effectLst/>
                      </a:endParaRPr>
                    </a:p>
                    <a:p>
                      <a:pPr>
                        <a:spcAft>
                          <a:spcPts val="200"/>
                        </a:spcAft>
                        <a:buNone/>
                      </a:pPr>
                      <a:r>
                        <a:rPr lang="en-NZ" sz="1100">
                          <a:effectLst/>
                        </a:rPr>
                        <a:t>Set up to run as a static bundle. One map layer and access to existing data sources. We have turned point source data into edge information</a:t>
                      </a:r>
                      <a:endParaRPr lang="en-NZ" sz="800">
                        <a:effectLst/>
                      </a:endParaRPr>
                    </a:p>
                    <a:p>
                      <a:pPr>
                        <a:buNone/>
                      </a:pPr>
                      <a:r>
                        <a:rPr lang="en-NZ" sz="8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extLst>
                  <a:ext uri="{0D108BD9-81ED-4DB2-BD59-A6C34878D82A}">
                    <a16:rowId xmlns:a16="http://schemas.microsoft.com/office/drawing/2014/main" val="4282589209"/>
                  </a:ext>
                </a:extLst>
              </a:tr>
              <a:tr h="1312778">
                <a:tc>
                  <a:txBody>
                    <a:bodyPr/>
                    <a:lstStyle/>
                    <a:p>
                      <a:pPr>
                        <a:spcAft>
                          <a:spcPts val="100"/>
                        </a:spcAft>
                        <a:buNone/>
                      </a:pPr>
                      <a:r>
                        <a:rPr lang="en-NZ" sz="900">
                          <a:effectLst/>
                        </a:rPr>
                        <a:t>Desired Outcome</a:t>
                      </a:r>
                      <a:endParaRPr lang="en-NZ" sz="800">
                        <a:effectLst/>
                      </a:endParaRPr>
                    </a:p>
                    <a:p>
                      <a:pPr>
                        <a:spcAft>
                          <a:spcPts val="200"/>
                        </a:spcAft>
                        <a:buNone/>
                      </a:pPr>
                      <a:r>
                        <a:rPr lang="en-NZ" sz="1100">
                          <a:effectLst/>
                        </a:rPr>
                        <a:t>An accurate real-time view of people movement – predicted, actual and anomalies</a:t>
                      </a:r>
                      <a:endParaRPr lang="en-NZ" sz="800">
                        <a:effectLst/>
                      </a:endParaRPr>
                    </a:p>
                    <a:p>
                      <a:pPr>
                        <a:spcAft>
                          <a:spcPts val="100"/>
                        </a:spcAft>
                        <a:buNone/>
                      </a:pPr>
                      <a:r>
                        <a:rPr lang="en-NZ" sz="9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Problem / Gap / Need</a:t>
                      </a:r>
                      <a:endParaRPr lang="en-NZ" sz="800">
                        <a:effectLst/>
                      </a:endParaRPr>
                    </a:p>
                    <a:p>
                      <a:pPr>
                        <a:spcAft>
                          <a:spcPts val="200"/>
                        </a:spcAft>
                        <a:buNone/>
                      </a:pPr>
                      <a:r>
                        <a:rPr lang="en-NZ" sz="1100">
                          <a:effectLst/>
                        </a:rPr>
                        <a:t>Managers don’t know what to expect, no real-time people movement data to make evidence based decisions</a:t>
                      </a:r>
                      <a:endParaRPr lang="en-NZ" sz="800">
                        <a:effectLst/>
                      </a:endParaRPr>
                    </a:p>
                    <a:p>
                      <a:pPr>
                        <a:spcAft>
                          <a:spcPts val="100"/>
                        </a:spcAft>
                        <a:buNone/>
                      </a:pPr>
                      <a:r>
                        <a:rPr lang="en-NZ" sz="9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First Test / Prototype</a:t>
                      </a:r>
                      <a:endParaRPr lang="en-NZ" sz="800">
                        <a:effectLst/>
                      </a:endParaRPr>
                    </a:p>
                    <a:p>
                      <a:pPr>
                        <a:spcAft>
                          <a:spcPts val="200"/>
                        </a:spcAft>
                        <a:buNone/>
                      </a:pPr>
                      <a:r>
                        <a:rPr lang="en-NZ" sz="1100">
                          <a:effectLst/>
                        </a:rPr>
                        <a:t>Demonstrates real-time people movement data, highlights anomalies and provides data for risk assessment</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tc>
                  <a:txBody>
                    <a:bodyPr/>
                    <a:lstStyle/>
                    <a:p>
                      <a:pPr>
                        <a:spcAft>
                          <a:spcPts val="100"/>
                        </a:spcAft>
                        <a:buNone/>
                      </a:pPr>
                      <a:r>
                        <a:rPr lang="en-NZ" sz="900" dirty="0">
                          <a:effectLst/>
                        </a:rPr>
                        <a:t>Legal, Compliance &amp; Trust Risk</a:t>
                      </a:r>
                      <a:endParaRPr lang="en-NZ" sz="800" dirty="0">
                        <a:effectLst/>
                      </a:endParaRPr>
                    </a:p>
                    <a:p>
                      <a:pPr>
                        <a:spcAft>
                          <a:spcPts val="200"/>
                        </a:spcAft>
                        <a:buNone/>
                      </a:pPr>
                      <a:r>
                        <a:rPr lang="en-NZ" sz="1100" dirty="0">
                          <a:effectLst/>
                        </a:rPr>
                        <a:t>Publicly available information. No private information, no bias identified.</a:t>
                      </a:r>
                      <a:endParaRPr lang="en-NZ" sz="800" dirty="0">
                        <a:solidFill>
                          <a:srgbClr val="334155"/>
                        </a:solidFill>
                        <a:effectLst/>
                        <a:latin typeface="Calibri" panose="020F0502020204030204" pitchFamily="34" charset="0"/>
                        <a:ea typeface="Calibri" panose="020F0502020204030204" pitchFamily="34" charset="0"/>
                      </a:endParaRPr>
                    </a:p>
                  </a:txBody>
                  <a:tcPr marL="76277" marR="76277" marT="41072" marB="41072"/>
                </a:tc>
                <a:extLst>
                  <a:ext uri="{0D108BD9-81ED-4DB2-BD59-A6C34878D82A}">
                    <a16:rowId xmlns:a16="http://schemas.microsoft.com/office/drawing/2014/main" val="1027049712"/>
                  </a:ext>
                </a:extLst>
              </a:tr>
            </a:tbl>
          </a:graphicData>
        </a:graphic>
      </p:graphicFrame>
    </p:spTree>
    <p:extLst>
      <p:ext uri="{BB962C8B-B14F-4D97-AF65-F5344CB8AC3E}">
        <p14:creationId xmlns:p14="http://schemas.microsoft.com/office/powerpoint/2010/main" val="3315948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5C08F18-03F8-5F77-89E0-80416818D578}"/>
              </a:ext>
            </a:extLst>
          </p:cNvPr>
          <p:cNvGraphicFramePr>
            <a:graphicFrameLocks noGrp="1"/>
          </p:cNvGraphicFramePr>
          <p:nvPr>
            <p:extLst>
              <p:ext uri="{D42A27DB-BD31-4B8C-83A1-F6EECF244321}">
                <p14:modId xmlns:p14="http://schemas.microsoft.com/office/powerpoint/2010/main" val="1889583205"/>
              </p:ext>
            </p:extLst>
          </p:nvPr>
        </p:nvGraphicFramePr>
        <p:xfrm>
          <a:off x="436880" y="1737360"/>
          <a:ext cx="11165838" cy="3749040"/>
        </p:xfrm>
        <a:graphic>
          <a:graphicData uri="http://schemas.openxmlformats.org/drawingml/2006/table">
            <a:tbl>
              <a:tblPr firstRow="1" firstCol="1" bandRow="1">
                <a:tableStyleId>{5C22544A-7EE6-4342-B048-85BDC9FD1C3A}</a:tableStyleId>
              </a:tblPr>
              <a:tblGrid>
                <a:gridCol w="1885386">
                  <a:extLst>
                    <a:ext uri="{9D8B030D-6E8A-4147-A177-3AD203B41FA5}">
                      <a16:colId xmlns:a16="http://schemas.microsoft.com/office/drawing/2014/main" val="3168093109"/>
                    </a:ext>
                  </a:extLst>
                </a:gridCol>
                <a:gridCol w="6669918">
                  <a:extLst>
                    <a:ext uri="{9D8B030D-6E8A-4147-A177-3AD203B41FA5}">
                      <a16:colId xmlns:a16="http://schemas.microsoft.com/office/drawing/2014/main" val="1042828812"/>
                    </a:ext>
                  </a:extLst>
                </a:gridCol>
                <a:gridCol w="1305267">
                  <a:extLst>
                    <a:ext uri="{9D8B030D-6E8A-4147-A177-3AD203B41FA5}">
                      <a16:colId xmlns:a16="http://schemas.microsoft.com/office/drawing/2014/main" val="201090423"/>
                    </a:ext>
                  </a:extLst>
                </a:gridCol>
                <a:gridCol w="1305267">
                  <a:extLst>
                    <a:ext uri="{9D8B030D-6E8A-4147-A177-3AD203B41FA5}">
                      <a16:colId xmlns:a16="http://schemas.microsoft.com/office/drawing/2014/main" val="223151039"/>
                    </a:ext>
                  </a:extLst>
                </a:gridCol>
              </a:tblGrid>
              <a:tr h="749808">
                <a:tc>
                  <a:txBody>
                    <a:bodyPr/>
                    <a:lstStyle/>
                    <a:p>
                      <a:pPr>
                        <a:buNone/>
                      </a:pPr>
                      <a:r>
                        <a:rPr lang="en-NZ" sz="2000" dirty="0">
                          <a:effectLst/>
                        </a:rPr>
                        <a:t>Metric</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dirty="0">
                          <a:effectLst/>
                        </a:rPr>
                        <a:t>Guidance</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Scale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Score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1131464776"/>
                  </a:ext>
                </a:extLst>
              </a:tr>
              <a:tr h="749808">
                <a:tc>
                  <a:txBody>
                    <a:bodyPr/>
                    <a:lstStyle/>
                    <a:p>
                      <a:pPr>
                        <a:buNone/>
                      </a:pPr>
                      <a:r>
                        <a:rPr lang="en-NZ" sz="2000">
                          <a:effectLst/>
                        </a:rPr>
                        <a:t>Impact</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dirty="0">
                          <a:effectLst/>
                        </a:rPr>
                        <a:t>How valuable would this be if it works?  1 = nice to have, 10 = game changer.</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 – 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310932516"/>
                  </a:ext>
                </a:extLst>
              </a:tr>
              <a:tr h="749808">
                <a:tc>
                  <a:txBody>
                    <a:bodyPr/>
                    <a:lstStyle/>
                    <a:p>
                      <a:pPr>
                        <a:buNone/>
                      </a:pPr>
                      <a:r>
                        <a:rPr lang="en-NZ" sz="2000">
                          <a:effectLst/>
                        </a:rPr>
                        <a:t>Confidence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dirty="0">
                          <a:effectLst/>
                        </a:rPr>
                        <a:t>How sure are we that this can work?  1 = not sure, 10 = very confident.</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 – 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2646718464"/>
                  </a:ext>
                </a:extLst>
              </a:tr>
              <a:tr h="749808">
                <a:tc>
                  <a:txBody>
                    <a:bodyPr/>
                    <a:lstStyle/>
                    <a:p>
                      <a:pPr>
                        <a:buNone/>
                      </a:pPr>
                      <a:r>
                        <a:rPr lang="en-NZ" sz="2000">
                          <a:effectLst/>
                        </a:rPr>
                        <a:t>Effort / Ease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dirty="0">
                          <a:effectLst/>
                        </a:rPr>
                        <a:t>How easy is it to test or deliver?  1 = hard, 10 = easy.</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 – 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9.5</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20411209"/>
                  </a:ext>
                </a:extLst>
              </a:tr>
              <a:tr h="749808">
                <a:tc>
                  <a:txBody>
                    <a:bodyPr/>
                    <a:lstStyle/>
                    <a:p>
                      <a:pPr>
                        <a:buNone/>
                      </a:pPr>
                      <a:r>
                        <a:rPr lang="en-NZ" sz="2000">
                          <a:effectLst/>
                        </a:rPr>
                        <a:t>Overall score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a:effectLst/>
                        </a:rPr>
                        <a:t>Impact × Confidence × Ease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950/ 1000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dirty="0">
                          <a:effectLst/>
                        </a:rPr>
                        <a:t> </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1322620450"/>
                  </a:ext>
                </a:extLst>
              </a:tr>
            </a:tbl>
          </a:graphicData>
        </a:graphic>
      </p:graphicFrame>
      <p:sp>
        <p:nvSpPr>
          <p:cNvPr id="4" name="TextBox 3">
            <a:extLst>
              <a:ext uri="{FF2B5EF4-FFF2-40B4-BE49-F238E27FC236}">
                <a16:creationId xmlns:a16="http://schemas.microsoft.com/office/drawing/2014/main" id="{91FD27D7-9C58-F593-4A27-E3662855F478}"/>
              </a:ext>
            </a:extLst>
          </p:cNvPr>
          <p:cNvSpPr txBox="1"/>
          <p:nvPr/>
        </p:nvSpPr>
        <p:spPr>
          <a:xfrm>
            <a:off x="772633" y="362615"/>
            <a:ext cx="6096000" cy="961802"/>
          </a:xfrm>
          <a:prstGeom prst="rect">
            <a:avLst/>
          </a:prstGeom>
          <a:noFill/>
        </p:spPr>
        <p:txBody>
          <a:bodyPr wrap="square">
            <a:spAutoFit/>
          </a:bodyPr>
          <a:lstStyle/>
          <a:p>
            <a:pPr>
              <a:spcBef>
                <a:spcPts val="800"/>
              </a:spcBef>
              <a:spcAft>
                <a:spcPts val="300"/>
              </a:spcAft>
              <a:buNone/>
            </a:pPr>
            <a:r>
              <a:rPr lang="en-NZ" sz="3600" b="1" dirty="0">
                <a:solidFill>
                  <a:srgbClr val="24314B"/>
                </a:solidFill>
                <a:effectLst/>
                <a:latin typeface="Calibri" panose="020F0502020204030204" pitchFamily="34" charset="0"/>
                <a:ea typeface="Calibri" panose="020F0502020204030204" pitchFamily="34" charset="0"/>
              </a:rPr>
              <a:t>ICE Prioritisation</a:t>
            </a:r>
            <a:endParaRPr lang="en-NZ" sz="2000" dirty="0">
              <a:solidFill>
                <a:srgbClr val="334155"/>
              </a:solidFill>
              <a:effectLst/>
              <a:latin typeface="Calibri" panose="020F0502020204030204" pitchFamily="34" charset="0"/>
              <a:ea typeface="Calibri" panose="020F0502020204030204" pitchFamily="34" charset="0"/>
            </a:endParaRPr>
          </a:p>
          <a:p>
            <a:pPr>
              <a:spcAft>
                <a:spcPts val="400"/>
              </a:spcAft>
              <a:buNone/>
            </a:pPr>
            <a:r>
              <a:rPr lang="en-NZ" sz="1800" i="1" dirty="0">
                <a:solidFill>
                  <a:srgbClr val="6B7787"/>
                </a:solidFill>
                <a:effectLst/>
                <a:latin typeface="Calibri" panose="020F0502020204030204" pitchFamily="34" charset="0"/>
                <a:ea typeface="Calibri" panose="020F0502020204030204" pitchFamily="34" charset="0"/>
              </a:rPr>
              <a:t>Score each item from 1 to 10.</a:t>
            </a:r>
            <a:endParaRPr lang="en-NZ" sz="2000" dirty="0">
              <a:solidFill>
                <a:srgbClr val="334155"/>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29229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AF8F4"/>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1A1815"/>
                </a:solidFill>
                <a:latin typeface="Cambria" pitchFamily="34" charset="0"/>
                <a:ea typeface="Cambria" pitchFamily="34" charset="-122"/>
                <a:cs typeface="Cambria" pitchFamily="34" charset="-120"/>
              </a:rPr>
              <a:t>Forecast the normal. Measure the actual. Score the gap.</a:t>
            </a:r>
            <a:endParaRPr lang="en-US" sz="3100" dirty="0"/>
          </a:p>
        </p:txBody>
      </p:sp>
      <p:sp>
        <p:nvSpPr>
          <p:cNvPr id="3" name="Shape 1"/>
          <p:cNvSpPr/>
          <p:nvPr/>
        </p:nvSpPr>
        <p:spPr>
          <a:xfrm>
            <a:off x="640080" y="1417320"/>
            <a:ext cx="3246120" cy="2148840"/>
          </a:xfrm>
          <a:prstGeom prst="roundRect">
            <a:avLst>
              <a:gd name="adj" fmla="val 3830"/>
            </a:avLst>
          </a:prstGeom>
          <a:solidFill>
            <a:srgbClr val="FFFFFF"/>
          </a:solidFill>
          <a:ln w="12700">
            <a:solidFill>
              <a:srgbClr val="CEC8BD"/>
            </a:solidFill>
            <a:prstDash val="solid"/>
          </a:ln>
          <a:effectLst>
            <a:outerShdw blurRad="76200" dist="25400" dir="5400000" algn="bl" rotWithShape="0">
              <a:srgbClr val="BFB8AC">
                <a:alpha val="30000"/>
              </a:srgbClr>
            </a:outerShdw>
          </a:effectLst>
        </p:spPr>
        <p:txBody>
          <a:bodyPr/>
          <a:lstStyle/>
          <a:p>
            <a:endParaRPr lang="en-NZ"/>
          </a:p>
        </p:txBody>
      </p:sp>
      <p:sp>
        <p:nvSpPr>
          <p:cNvPr id="4" name="Shape 2"/>
          <p:cNvSpPr/>
          <p:nvPr/>
        </p:nvSpPr>
        <p:spPr>
          <a:xfrm>
            <a:off x="896112" y="1664208"/>
            <a:ext cx="548640" cy="548640"/>
          </a:xfrm>
          <a:prstGeom prst="ellipse">
            <a:avLst/>
          </a:prstGeom>
          <a:solidFill>
            <a:srgbClr val="1F3D2F"/>
          </a:solidFill>
          <a:ln/>
        </p:spPr>
        <p:txBody>
          <a:bodyPr/>
          <a:lstStyle/>
          <a:p>
            <a:endParaRPr lang="en-NZ"/>
          </a:p>
        </p:txBody>
      </p:sp>
      <p:sp>
        <p:nvSpPr>
          <p:cNvPr id="5" name="Text 3"/>
          <p:cNvSpPr/>
          <p:nvPr/>
        </p:nvSpPr>
        <p:spPr>
          <a:xfrm>
            <a:off x="896112" y="1664208"/>
            <a:ext cx="548640" cy="548640"/>
          </a:xfrm>
          <a:prstGeom prst="rect">
            <a:avLst/>
          </a:prstGeom>
          <a:noFill/>
          <a:ln/>
        </p:spPr>
        <p:txBody>
          <a:bodyPr wrap="square" rtlCol="0" anchor="ctr"/>
          <a:lstStyle/>
          <a:p>
            <a:pPr marL="0" indent="0" algn="ctr">
              <a:buNone/>
            </a:pPr>
            <a:r>
              <a:rPr lang="en-US" sz="2200" b="1" dirty="0">
                <a:solidFill>
                  <a:srgbClr val="FAF8F4"/>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554480" y="1737360"/>
            <a:ext cx="2194560" cy="411480"/>
          </a:xfrm>
          <a:prstGeom prst="rect">
            <a:avLst/>
          </a:prstGeom>
          <a:noFill/>
          <a:ln/>
        </p:spPr>
        <p:txBody>
          <a:bodyPr wrap="square" rtlCol="0" anchor="ctr"/>
          <a:lstStyle/>
          <a:p>
            <a:pPr marL="0" indent="0">
              <a:buNone/>
            </a:pPr>
            <a:r>
              <a:rPr lang="en-US" sz="1800" b="1" dirty="0">
                <a:solidFill>
                  <a:srgbClr val="1F3D2F"/>
                </a:solidFill>
                <a:latin typeface="Cambria" pitchFamily="34" charset="0"/>
                <a:ea typeface="Cambria" pitchFamily="34" charset="-122"/>
                <a:cs typeface="Cambria" pitchFamily="34" charset="-120"/>
              </a:rPr>
              <a:t>BASELINE</a:t>
            </a:r>
            <a:endParaRPr lang="en-US" sz="1800" dirty="0"/>
          </a:p>
        </p:txBody>
      </p:sp>
      <p:sp>
        <p:nvSpPr>
          <p:cNvPr id="7" name="Text 5"/>
          <p:cNvSpPr/>
          <p:nvPr/>
        </p:nvSpPr>
        <p:spPr>
          <a:xfrm>
            <a:off x="914400" y="2423160"/>
            <a:ext cx="2697480" cy="1005840"/>
          </a:xfrm>
          <a:prstGeom prst="rect">
            <a:avLst/>
          </a:prstGeom>
          <a:noFill/>
          <a:ln/>
        </p:spPr>
        <p:txBody>
          <a:bodyPr wrap="square" rtlCol="0" anchor="ctr"/>
          <a:lstStyle/>
          <a:p>
            <a:pPr marL="0" indent="0">
              <a:lnSpc>
                <a:spcPct val="112000"/>
              </a:lnSpc>
              <a:buNone/>
            </a:pPr>
            <a:r>
              <a:rPr lang="en-US" sz="1400" dirty="0">
                <a:solidFill>
                  <a:srgbClr val="4A453D"/>
                </a:solidFill>
                <a:latin typeface="Calibri" pitchFamily="34" charset="0"/>
                <a:ea typeface="Calibri" pitchFamily="34" charset="-122"/>
                <a:cs typeface="Calibri" pitchFamily="34" charset="-120"/>
              </a:rPr>
              <a:t>What a normal day looks like, by mode — modelled as an 84-day same-weekday median (up to 12 recent occurrences).</a:t>
            </a:r>
            <a:endParaRPr lang="en-US" sz="1400" dirty="0"/>
          </a:p>
        </p:txBody>
      </p:sp>
      <p:sp>
        <p:nvSpPr>
          <p:cNvPr id="8" name="Text 6"/>
          <p:cNvSpPr/>
          <p:nvPr/>
        </p:nvSpPr>
        <p:spPr>
          <a:xfrm>
            <a:off x="3867912" y="2103120"/>
            <a:ext cx="356616" cy="457200"/>
          </a:xfrm>
          <a:prstGeom prst="rect">
            <a:avLst/>
          </a:prstGeom>
          <a:noFill/>
          <a:ln/>
        </p:spPr>
        <p:txBody>
          <a:bodyPr wrap="square" rtlCol="0" anchor="ctr"/>
          <a:lstStyle/>
          <a:p>
            <a:pPr marL="0" indent="0" algn="ctr">
              <a:buNone/>
            </a:pPr>
            <a:r>
              <a:rPr lang="en-US" sz="2400" b="1" dirty="0">
                <a:solidFill>
                  <a:srgbClr val="6B655C"/>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4206240" y="1417320"/>
            <a:ext cx="3246120" cy="2148840"/>
          </a:xfrm>
          <a:prstGeom prst="roundRect">
            <a:avLst>
              <a:gd name="adj" fmla="val 3830"/>
            </a:avLst>
          </a:prstGeom>
          <a:solidFill>
            <a:srgbClr val="FFFFFF"/>
          </a:solidFill>
          <a:ln w="12700">
            <a:solidFill>
              <a:srgbClr val="CEC8BD"/>
            </a:solidFill>
            <a:prstDash val="solid"/>
          </a:ln>
          <a:effectLst>
            <a:outerShdw blurRad="76200" dist="25400" dir="5400000" algn="bl" rotWithShape="0">
              <a:srgbClr val="BFB8AC">
                <a:alpha val="30000"/>
              </a:srgbClr>
            </a:outerShdw>
          </a:effectLst>
        </p:spPr>
        <p:txBody>
          <a:bodyPr/>
          <a:lstStyle/>
          <a:p>
            <a:endParaRPr lang="en-NZ"/>
          </a:p>
        </p:txBody>
      </p:sp>
      <p:sp>
        <p:nvSpPr>
          <p:cNvPr id="10" name="Shape 8"/>
          <p:cNvSpPr/>
          <p:nvPr/>
        </p:nvSpPr>
        <p:spPr>
          <a:xfrm>
            <a:off x="4462272" y="1664208"/>
            <a:ext cx="548640" cy="548640"/>
          </a:xfrm>
          <a:prstGeom prst="ellipse">
            <a:avLst/>
          </a:prstGeom>
          <a:solidFill>
            <a:srgbClr val="2B4A6E"/>
          </a:solidFill>
          <a:ln/>
        </p:spPr>
        <p:txBody>
          <a:bodyPr/>
          <a:lstStyle/>
          <a:p>
            <a:endParaRPr lang="en-NZ"/>
          </a:p>
        </p:txBody>
      </p:sp>
      <p:sp>
        <p:nvSpPr>
          <p:cNvPr id="11" name="Text 9"/>
          <p:cNvSpPr/>
          <p:nvPr/>
        </p:nvSpPr>
        <p:spPr>
          <a:xfrm>
            <a:off x="4462272" y="1664208"/>
            <a:ext cx="548640" cy="548640"/>
          </a:xfrm>
          <a:prstGeom prst="rect">
            <a:avLst/>
          </a:prstGeom>
          <a:noFill/>
          <a:ln/>
        </p:spPr>
        <p:txBody>
          <a:bodyPr wrap="square" rtlCol="0" anchor="ctr"/>
          <a:lstStyle/>
          <a:p>
            <a:pPr marL="0" indent="0" algn="ctr">
              <a:buNone/>
            </a:pPr>
            <a:r>
              <a:rPr lang="en-US" sz="2200" b="1" dirty="0">
                <a:solidFill>
                  <a:srgbClr val="FAF8F4"/>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5120640" y="1737360"/>
            <a:ext cx="2194560" cy="411480"/>
          </a:xfrm>
          <a:prstGeom prst="rect">
            <a:avLst/>
          </a:prstGeom>
          <a:noFill/>
          <a:ln/>
        </p:spPr>
        <p:txBody>
          <a:bodyPr wrap="square" rtlCol="0" anchor="ctr"/>
          <a:lstStyle/>
          <a:p>
            <a:pPr marL="0" indent="0">
              <a:buNone/>
            </a:pPr>
            <a:r>
              <a:rPr lang="en-US" sz="1800" b="1" dirty="0">
                <a:solidFill>
                  <a:srgbClr val="2B4A6E"/>
                </a:solidFill>
                <a:latin typeface="Cambria" pitchFamily="34" charset="0"/>
                <a:ea typeface="Cambria" pitchFamily="34" charset="-122"/>
                <a:cs typeface="Cambria" pitchFamily="34" charset="-120"/>
              </a:rPr>
              <a:t>ACTUAL</a:t>
            </a:r>
            <a:endParaRPr lang="en-US" sz="1800" dirty="0"/>
          </a:p>
        </p:txBody>
      </p:sp>
      <p:sp>
        <p:nvSpPr>
          <p:cNvPr id="13" name="Text 11"/>
          <p:cNvSpPr/>
          <p:nvPr/>
        </p:nvSpPr>
        <p:spPr>
          <a:xfrm>
            <a:off x="4480560" y="2423160"/>
            <a:ext cx="2697480" cy="1005840"/>
          </a:xfrm>
          <a:prstGeom prst="rect">
            <a:avLst/>
          </a:prstGeom>
          <a:noFill/>
          <a:ln/>
        </p:spPr>
        <p:txBody>
          <a:bodyPr wrap="square" rtlCol="0" anchor="ctr"/>
          <a:lstStyle/>
          <a:p>
            <a:pPr marL="0" indent="0">
              <a:lnSpc>
                <a:spcPct val="112000"/>
              </a:lnSpc>
              <a:buNone/>
            </a:pPr>
            <a:r>
              <a:rPr lang="en-US" sz="1400" dirty="0">
                <a:solidFill>
                  <a:srgbClr val="4A453D"/>
                </a:solidFill>
                <a:latin typeface="Calibri" pitchFamily="34" charset="0"/>
                <a:ea typeface="Calibri" pitchFamily="34" charset="-122"/>
                <a:cs typeface="Calibri" pitchFamily="34" charset="-120"/>
              </a:rPr>
              <a:t>What happened today, per mode, per edge — measured against that expected rhythm.</a:t>
            </a:r>
            <a:endParaRPr lang="en-US" sz="1400" dirty="0"/>
          </a:p>
        </p:txBody>
      </p:sp>
      <p:sp>
        <p:nvSpPr>
          <p:cNvPr id="14" name="Text 12"/>
          <p:cNvSpPr/>
          <p:nvPr/>
        </p:nvSpPr>
        <p:spPr>
          <a:xfrm>
            <a:off x="7434072" y="2103120"/>
            <a:ext cx="356616" cy="457200"/>
          </a:xfrm>
          <a:prstGeom prst="rect">
            <a:avLst/>
          </a:prstGeom>
          <a:noFill/>
          <a:ln/>
        </p:spPr>
        <p:txBody>
          <a:bodyPr wrap="square" rtlCol="0" anchor="ctr"/>
          <a:lstStyle/>
          <a:p>
            <a:pPr marL="0" indent="0" algn="ctr">
              <a:buNone/>
            </a:pPr>
            <a:r>
              <a:rPr lang="en-US" sz="2400" b="1" dirty="0">
                <a:solidFill>
                  <a:srgbClr val="6B655C"/>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7772400" y="1417320"/>
            <a:ext cx="3246120" cy="2148840"/>
          </a:xfrm>
          <a:prstGeom prst="roundRect">
            <a:avLst>
              <a:gd name="adj" fmla="val 3830"/>
            </a:avLst>
          </a:prstGeom>
          <a:solidFill>
            <a:srgbClr val="FFFFFF"/>
          </a:solidFill>
          <a:ln w="12700">
            <a:solidFill>
              <a:srgbClr val="CEC8BD"/>
            </a:solidFill>
            <a:prstDash val="solid"/>
          </a:ln>
          <a:effectLst>
            <a:outerShdw blurRad="76200" dist="25400" dir="5400000" algn="bl" rotWithShape="0">
              <a:srgbClr val="BFB8AC">
                <a:alpha val="30000"/>
              </a:srgbClr>
            </a:outerShdw>
          </a:effectLst>
        </p:spPr>
        <p:txBody>
          <a:bodyPr/>
          <a:lstStyle/>
          <a:p>
            <a:endParaRPr lang="en-NZ"/>
          </a:p>
        </p:txBody>
      </p:sp>
      <p:sp>
        <p:nvSpPr>
          <p:cNvPr id="16" name="Shape 14"/>
          <p:cNvSpPr/>
          <p:nvPr/>
        </p:nvSpPr>
        <p:spPr>
          <a:xfrm>
            <a:off x="8028432" y="1664208"/>
            <a:ext cx="548640" cy="548640"/>
          </a:xfrm>
          <a:prstGeom prst="ellipse">
            <a:avLst/>
          </a:prstGeom>
          <a:solidFill>
            <a:srgbClr val="8B2635"/>
          </a:solidFill>
          <a:ln/>
        </p:spPr>
        <p:txBody>
          <a:bodyPr/>
          <a:lstStyle/>
          <a:p>
            <a:endParaRPr lang="en-NZ"/>
          </a:p>
        </p:txBody>
      </p:sp>
      <p:sp>
        <p:nvSpPr>
          <p:cNvPr id="17" name="Text 15"/>
          <p:cNvSpPr/>
          <p:nvPr/>
        </p:nvSpPr>
        <p:spPr>
          <a:xfrm>
            <a:off x="8028432" y="1664208"/>
            <a:ext cx="548640" cy="548640"/>
          </a:xfrm>
          <a:prstGeom prst="rect">
            <a:avLst/>
          </a:prstGeom>
          <a:noFill/>
          <a:ln/>
        </p:spPr>
        <p:txBody>
          <a:bodyPr wrap="square" rtlCol="0" anchor="ctr"/>
          <a:lstStyle/>
          <a:p>
            <a:pPr marL="0" indent="0" algn="ctr">
              <a:buNone/>
            </a:pPr>
            <a:r>
              <a:rPr lang="en-US" sz="2200" b="1" dirty="0">
                <a:solidFill>
                  <a:srgbClr val="FAF8F4"/>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8686800" y="1737360"/>
            <a:ext cx="2194560" cy="411480"/>
          </a:xfrm>
          <a:prstGeom prst="rect">
            <a:avLst/>
          </a:prstGeom>
          <a:noFill/>
          <a:ln/>
        </p:spPr>
        <p:txBody>
          <a:bodyPr wrap="square" rtlCol="0" anchor="ctr"/>
          <a:lstStyle/>
          <a:p>
            <a:pPr marL="0" indent="0">
              <a:buNone/>
            </a:pPr>
            <a:r>
              <a:rPr lang="en-US" sz="1800" b="1" dirty="0">
                <a:solidFill>
                  <a:srgbClr val="8B2635"/>
                </a:solidFill>
                <a:latin typeface="Cambria" pitchFamily="34" charset="0"/>
                <a:ea typeface="Cambria" pitchFamily="34" charset="-122"/>
                <a:cs typeface="Cambria" pitchFamily="34" charset="-120"/>
              </a:rPr>
              <a:t>RISK</a:t>
            </a:r>
            <a:endParaRPr lang="en-US" sz="1800" dirty="0"/>
          </a:p>
        </p:txBody>
      </p:sp>
      <p:sp>
        <p:nvSpPr>
          <p:cNvPr id="19" name="Text 17"/>
          <p:cNvSpPr/>
          <p:nvPr/>
        </p:nvSpPr>
        <p:spPr>
          <a:xfrm>
            <a:off x="8046720" y="2423160"/>
            <a:ext cx="2697480" cy="1005840"/>
          </a:xfrm>
          <a:prstGeom prst="rect">
            <a:avLst/>
          </a:prstGeom>
          <a:noFill/>
          <a:ln/>
        </p:spPr>
        <p:txBody>
          <a:bodyPr wrap="square" rtlCol="0" anchor="ctr"/>
          <a:lstStyle/>
          <a:p>
            <a:pPr marL="0" indent="0">
              <a:lnSpc>
                <a:spcPct val="112000"/>
              </a:lnSpc>
              <a:buNone/>
            </a:pPr>
            <a:r>
              <a:rPr lang="en-US" sz="1400" dirty="0">
                <a:solidFill>
                  <a:srgbClr val="4A453D"/>
                </a:solidFill>
                <a:latin typeface="Calibri" pitchFamily="34" charset="0"/>
                <a:ea typeface="Calibri" pitchFamily="34" charset="-122"/>
                <a:cs typeface="Calibri" pitchFamily="34" charset="-120"/>
              </a:rPr>
              <a:t>The size of the gap × where it sits × how many people the area holds.</a:t>
            </a:r>
            <a:endParaRPr lang="en-US" sz="1400" dirty="0"/>
          </a:p>
        </p:txBody>
      </p:sp>
      <p:sp>
        <p:nvSpPr>
          <p:cNvPr id="20" name="Shape 18"/>
          <p:cNvSpPr/>
          <p:nvPr/>
        </p:nvSpPr>
        <p:spPr>
          <a:xfrm>
            <a:off x="640080" y="3886200"/>
            <a:ext cx="10908792" cy="868680"/>
          </a:xfrm>
          <a:prstGeom prst="roundRect">
            <a:avLst>
              <a:gd name="adj" fmla="val 9474"/>
            </a:avLst>
          </a:prstGeom>
          <a:solidFill>
            <a:srgbClr val="E9E4D9"/>
          </a:solidFill>
          <a:ln w="12700">
            <a:solidFill>
              <a:srgbClr val="CEC8BD"/>
            </a:solidFill>
            <a:prstDash val="solid"/>
          </a:ln>
        </p:spPr>
        <p:txBody>
          <a:bodyPr/>
          <a:lstStyle/>
          <a:p>
            <a:endParaRPr lang="en-NZ"/>
          </a:p>
        </p:txBody>
      </p:sp>
      <p:sp>
        <p:nvSpPr>
          <p:cNvPr id="21" name="Text 19"/>
          <p:cNvSpPr/>
          <p:nvPr/>
        </p:nvSpPr>
        <p:spPr>
          <a:xfrm>
            <a:off x="868680" y="4023360"/>
            <a:ext cx="4572000" cy="274320"/>
          </a:xfrm>
          <a:prstGeom prst="rect">
            <a:avLst/>
          </a:prstGeom>
          <a:noFill/>
          <a:ln/>
        </p:spPr>
        <p:txBody>
          <a:bodyPr wrap="square" rtlCol="0" anchor="ctr"/>
          <a:lstStyle/>
          <a:p>
            <a:pPr marL="0" indent="0">
              <a:buNone/>
            </a:pPr>
            <a:r>
              <a:rPr lang="en-US" sz="1150" b="1" kern="0" spc="100" dirty="0">
                <a:solidFill>
                  <a:srgbClr val="A67C1A"/>
                </a:solidFill>
                <a:latin typeface="Calibri" pitchFamily="34" charset="0"/>
                <a:ea typeface="Calibri" pitchFamily="34" charset="-122"/>
                <a:cs typeface="Calibri" pitchFamily="34" charset="-120"/>
              </a:rPr>
              <a:t>EVENTS RESHAPE WHAT TO EXPECT</a:t>
            </a:r>
            <a:endParaRPr lang="en-US" sz="1150" dirty="0"/>
          </a:p>
        </p:txBody>
      </p:sp>
      <p:sp>
        <p:nvSpPr>
          <p:cNvPr id="22" name="Text 20"/>
          <p:cNvSpPr/>
          <p:nvPr/>
        </p:nvSpPr>
        <p:spPr>
          <a:xfrm>
            <a:off x="868680" y="4279392"/>
            <a:ext cx="10424160" cy="457200"/>
          </a:xfrm>
          <a:prstGeom prst="rect">
            <a:avLst/>
          </a:prstGeom>
          <a:noFill/>
          <a:ln/>
        </p:spPr>
        <p:txBody>
          <a:bodyPr wrap="square" rtlCol="0" anchor="ctr"/>
          <a:lstStyle/>
          <a:p>
            <a:pPr marL="0" indent="0">
              <a:buNone/>
            </a:pPr>
            <a:r>
              <a:rPr lang="en-US" sz="1350" dirty="0">
                <a:solidFill>
                  <a:srgbClr val="4A453D"/>
                </a:solidFill>
                <a:latin typeface="Calibri" pitchFamily="34" charset="0"/>
                <a:ea typeface="Calibri" pitchFamily="34" charset="-122"/>
                <a:cs typeface="Calibri" pitchFamily="34" charset="-120"/>
              </a:rPr>
              <a:t>Cruise ships in port · a test at the stadium · MetService warnings · Civil Defence alerts — hand-entered or fed in, they lift or suppress the baseline before we judge the day.</a:t>
            </a:r>
            <a:endParaRPr lang="en-US" sz="1350" dirty="0"/>
          </a:p>
        </p:txBody>
      </p:sp>
      <p:sp>
        <p:nvSpPr>
          <p:cNvPr id="23" name="Text 21"/>
          <p:cNvSpPr/>
          <p:nvPr/>
        </p:nvSpPr>
        <p:spPr>
          <a:xfrm>
            <a:off x="640080" y="5074920"/>
            <a:ext cx="10972800" cy="365760"/>
          </a:xfrm>
          <a:prstGeom prst="rect">
            <a:avLst/>
          </a:prstGeom>
          <a:noFill/>
          <a:ln/>
        </p:spPr>
        <p:txBody>
          <a:bodyPr wrap="square" rtlCol="0" anchor="ctr"/>
          <a:lstStyle/>
          <a:p>
            <a:pPr marL="0" indent="0">
              <a:buNone/>
            </a:pPr>
            <a:r>
              <a:rPr lang="en-US" sz="1400" i="1" dirty="0">
                <a:solidFill>
                  <a:srgbClr val="6B655C"/>
                </a:solidFill>
                <a:latin typeface="Calibri" pitchFamily="34" charset="0"/>
                <a:ea typeface="Calibri" pitchFamily="34" charset="-122"/>
                <a:cs typeface="Calibri" pitchFamily="34" charset="-120"/>
              </a:rPr>
              <a:t>100% = baseline (expected).   Below 100% = fewer people than a normal day.   Above = more.</a:t>
            </a:r>
            <a:endParaRPr lang="en-US" sz="1400" dirty="0"/>
          </a:p>
        </p:txBody>
      </p:sp>
      <p:sp>
        <p:nvSpPr>
          <p:cNvPr id="24" name="Text 22"/>
          <p:cNvSpPr/>
          <p:nvPr/>
        </p:nvSpPr>
        <p:spPr>
          <a:xfrm>
            <a:off x="640080" y="5989320"/>
            <a:ext cx="10972800" cy="365760"/>
          </a:xfrm>
          <a:prstGeom prst="rect">
            <a:avLst/>
          </a:prstGeom>
          <a:noFill/>
          <a:ln/>
        </p:spPr>
        <p:txBody>
          <a:bodyPr wrap="square" rtlCol="0" anchor="ctr"/>
          <a:lstStyle/>
          <a:p>
            <a:pPr marL="0" indent="0">
              <a:buNone/>
            </a:pPr>
            <a:r>
              <a:rPr lang="en-US" sz="1500" b="1" dirty="0">
                <a:solidFill>
                  <a:srgbClr val="1F3D2F"/>
                </a:solidFill>
                <a:latin typeface="Cambria" pitchFamily="34" charset="0"/>
                <a:ea typeface="Cambria" pitchFamily="34" charset="-122"/>
                <a:cs typeface="Cambria" pitchFamily="34" charset="-120"/>
              </a:rPr>
              <a:t>Modular Population Forecast &amp; Risk Estimation — one platform, extensible with more feeds and derived risks.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AF8F4"/>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1A1815"/>
                </a:solidFill>
                <a:latin typeface="Cambria" pitchFamily="34" charset="0"/>
                <a:ea typeface="Cambria" pitchFamily="34" charset="-122"/>
                <a:cs typeface="Cambria" pitchFamily="34" charset="-120"/>
              </a:rPr>
              <a:t>The trick: sensors become edge weights, not dots</a:t>
            </a:r>
            <a:endParaRPr lang="en-US" sz="3100" dirty="0"/>
          </a:p>
        </p:txBody>
      </p:sp>
      <p:sp>
        <p:nvSpPr>
          <p:cNvPr id="3" name="Text 1"/>
          <p:cNvSpPr/>
          <p:nvPr/>
        </p:nvSpPr>
        <p:spPr>
          <a:xfrm>
            <a:off x="640080" y="1188720"/>
            <a:ext cx="10881360" cy="548640"/>
          </a:xfrm>
          <a:prstGeom prst="rect">
            <a:avLst/>
          </a:prstGeom>
          <a:noFill/>
          <a:ln/>
        </p:spPr>
        <p:txBody>
          <a:bodyPr wrap="square" rtlCol="0" anchor="ctr"/>
          <a:lstStyle/>
          <a:p>
            <a:pPr marL="0" indent="0">
              <a:buNone/>
            </a:pPr>
            <a:r>
              <a:rPr lang="en-US" sz="1600" dirty="0">
                <a:solidFill>
                  <a:srgbClr val="4A453D"/>
                </a:solidFill>
                <a:latin typeface="Calibri" pitchFamily="34" charset="0"/>
                <a:ea typeface="Calibri" pitchFamily="34" charset="-122"/>
                <a:cs typeface="Calibri" pitchFamily="34" charset="-120"/>
              </a:rPr>
              <a:t>A single camera counts one spot. We spread its count along the road or path it watches — so coverage becomes a network, not a scatter of points.</a:t>
            </a:r>
            <a:endParaRPr lang="en-US" sz="1600" dirty="0"/>
          </a:p>
        </p:txBody>
      </p:sp>
      <p:pic>
        <p:nvPicPr>
          <p:cNvPr id="4" name="Image 0" descr="svg2_edge.png"/>
          <p:cNvPicPr>
            <a:picLocks noChangeAspect="1"/>
          </p:cNvPicPr>
          <p:nvPr/>
        </p:nvPicPr>
        <p:blipFill>
          <a:blip r:embed="rId3"/>
          <a:stretch>
            <a:fillRect/>
          </a:stretch>
        </p:blipFill>
        <p:spPr>
          <a:xfrm>
            <a:off x="1234440" y="1783080"/>
            <a:ext cx="9692640" cy="3291840"/>
          </a:xfrm>
          <a:prstGeom prst="rect">
            <a:avLst/>
          </a:prstGeom>
        </p:spPr>
      </p:pic>
      <p:sp>
        <p:nvSpPr>
          <p:cNvPr id="5" name="Text 2"/>
          <p:cNvSpPr/>
          <p:nvPr/>
        </p:nvSpPr>
        <p:spPr>
          <a:xfrm>
            <a:off x="1234440" y="5212080"/>
            <a:ext cx="3108960" cy="548640"/>
          </a:xfrm>
          <a:prstGeom prst="rect">
            <a:avLst/>
          </a:prstGeom>
          <a:noFill/>
          <a:ln/>
        </p:spPr>
        <p:txBody>
          <a:bodyPr wrap="square" rtlCol="0" anchor="ctr"/>
          <a:lstStyle/>
          <a:p>
            <a:pPr marL="0" indent="0" algn="ctr">
              <a:buNone/>
            </a:pPr>
            <a:r>
              <a:rPr lang="en-US" sz="3200" b="1" dirty="0">
                <a:solidFill>
                  <a:srgbClr val="1F3D2F"/>
                </a:solidFill>
                <a:latin typeface="Cambria" pitchFamily="34" charset="0"/>
                <a:ea typeface="Cambria" pitchFamily="34" charset="-122"/>
                <a:cs typeface="Cambria" pitchFamily="34" charset="-120"/>
              </a:rPr>
              <a:t>398</a:t>
            </a:r>
            <a:endParaRPr lang="en-US" sz="3200" dirty="0"/>
          </a:p>
        </p:txBody>
      </p:sp>
      <p:sp>
        <p:nvSpPr>
          <p:cNvPr id="6" name="Text 3"/>
          <p:cNvSpPr/>
          <p:nvPr/>
        </p:nvSpPr>
        <p:spPr>
          <a:xfrm>
            <a:off x="1234440" y="5779008"/>
            <a:ext cx="3108960" cy="457200"/>
          </a:xfrm>
          <a:prstGeom prst="rect">
            <a:avLst/>
          </a:prstGeom>
          <a:noFill/>
          <a:ln/>
        </p:spPr>
        <p:txBody>
          <a:bodyPr wrap="square" rtlCol="0" anchor="ctr"/>
          <a:lstStyle/>
          <a:p>
            <a:pPr marL="0" indent="0" algn="ctr">
              <a:buNone/>
            </a:pPr>
            <a:r>
              <a:rPr lang="en-US" sz="1250" dirty="0">
                <a:solidFill>
                  <a:srgbClr val="6B655C"/>
                </a:solidFill>
                <a:latin typeface="Calibri" pitchFamily="34" charset="0"/>
                <a:ea typeface="Calibri" pitchFamily="34" charset="-122"/>
                <a:cs typeface="Calibri" pitchFamily="34" charset="-120"/>
              </a:rPr>
              <a:t>countlines (raw point counters)</a:t>
            </a:r>
            <a:endParaRPr lang="en-US" sz="1250" dirty="0"/>
          </a:p>
        </p:txBody>
      </p:sp>
      <p:sp>
        <p:nvSpPr>
          <p:cNvPr id="7" name="Text 4"/>
          <p:cNvSpPr/>
          <p:nvPr/>
        </p:nvSpPr>
        <p:spPr>
          <a:xfrm>
            <a:off x="4526280" y="5212080"/>
            <a:ext cx="3108960" cy="548640"/>
          </a:xfrm>
          <a:prstGeom prst="rect">
            <a:avLst/>
          </a:prstGeom>
          <a:noFill/>
          <a:ln/>
        </p:spPr>
        <p:txBody>
          <a:bodyPr wrap="square" rtlCol="0" anchor="ctr"/>
          <a:lstStyle/>
          <a:p>
            <a:pPr marL="0" indent="0" algn="ctr">
              <a:buNone/>
            </a:pPr>
            <a:r>
              <a:rPr lang="en-US" sz="3200" b="1" dirty="0">
                <a:solidFill>
                  <a:srgbClr val="1F3D2F"/>
                </a:solidFill>
                <a:latin typeface="Cambria" pitchFamily="34" charset="0"/>
                <a:ea typeface="Cambria" pitchFamily="34" charset="-122"/>
                <a:cs typeface="Cambria" pitchFamily="34" charset="-120"/>
              </a:rPr>
              <a:t>128</a:t>
            </a:r>
            <a:endParaRPr lang="en-US" sz="3200" dirty="0"/>
          </a:p>
        </p:txBody>
      </p:sp>
      <p:sp>
        <p:nvSpPr>
          <p:cNvPr id="8" name="Text 5"/>
          <p:cNvSpPr/>
          <p:nvPr/>
        </p:nvSpPr>
        <p:spPr>
          <a:xfrm>
            <a:off x="4526280" y="5779008"/>
            <a:ext cx="3108960" cy="457200"/>
          </a:xfrm>
          <a:prstGeom prst="rect">
            <a:avLst/>
          </a:prstGeom>
          <a:noFill/>
          <a:ln/>
        </p:spPr>
        <p:txBody>
          <a:bodyPr wrap="square" rtlCol="0" anchor="ctr"/>
          <a:lstStyle/>
          <a:p>
            <a:pPr marL="0" indent="0" algn="ctr">
              <a:buNone/>
            </a:pPr>
            <a:r>
              <a:rPr lang="en-US" sz="1250" dirty="0">
                <a:solidFill>
                  <a:srgbClr val="6B655C"/>
                </a:solidFill>
                <a:latin typeface="Calibri" pitchFamily="34" charset="0"/>
                <a:ea typeface="Calibri" pitchFamily="34" charset="-122"/>
                <a:cs typeface="Calibri" pitchFamily="34" charset="-120"/>
              </a:rPr>
              <a:t>camera sites (grouped by viewpoint)</a:t>
            </a:r>
            <a:endParaRPr lang="en-US" sz="1250" dirty="0"/>
          </a:p>
        </p:txBody>
      </p:sp>
      <p:sp>
        <p:nvSpPr>
          <p:cNvPr id="9" name="Text 6"/>
          <p:cNvSpPr/>
          <p:nvPr/>
        </p:nvSpPr>
        <p:spPr>
          <a:xfrm>
            <a:off x="7818120" y="5212080"/>
            <a:ext cx="3108960" cy="548640"/>
          </a:xfrm>
          <a:prstGeom prst="rect">
            <a:avLst/>
          </a:prstGeom>
          <a:noFill/>
          <a:ln/>
        </p:spPr>
        <p:txBody>
          <a:bodyPr wrap="square" rtlCol="0" anchor="ctr"/>
          <a:lstStyle/>
          <a:p>
            <a:pPr marL="0" indent="0" algn="ctr">
              <a:buNone/>
            </a:pPr>
            <a:r>
              <a:rPr lang="en-US" sz="3200" b="1" dirty="0">
                <a:solidFill>
                  <a:srgbClr val="1F3D2F"/>
                </a:solidFill>
                <a:latin typeface="Cambria" pitchFamily="34" charset="0"/>
                <a:ea typeface="Cambria" pitchFamily="34" charset="-122"/>
                <a:cs typeface="Cambria" pitchFamily="34" charset="-120"/>
              </a:rPr>
              <a:t>147</a:t>
            </a:r>
            <a:endParaRPr lang="en-US" sz="3200" dirty="0"/>
          </a:p>
        </p:txBody>
      </p:sp>
      <p:sp>
        <p:nvSpPr>
          <p:cNvPr id="10" name="Text 7"/>
          <p:cNvSpPr/>
          <p:nvPr/>
        </p:nvSpPr>
        <p:spPr>
          <a:xfrm>
            <a:off x="7818120" y="5779008"/>
            <a:ext cx="3108960" cy="457200"/>
          </a:xfrm>
          <a:prstGeom prst="rect">
            <a:avLst/>
          </a:prstGeom>
          <a:noFill/>
          <a:ln/>
        </p:spPr>
        <p:txBody>
          <a:bodyPr wrap="square" rtlCol="0" anchor="ctr"/>
          <a:lstStyle/>
          <a:p>
            <a:pPr marL="0" indent="0" algn="ctr">
              <a:buNone/>
            </a:pPr>
            <a:r>
              <a:rPr lang="en-US" sz="1250" dirty="0">
                <a:solidFill>
                  <a:srgbClr val="6B655C"/>
                </a:solidFill>
                <a:latin typeface="Calibri" pitchFamily="34" charset="0"/>
                <a:ea typeface="Calibri" pitchFamily="34" charset="-122"/>
                <a:cs typeface="Calibri" pitchFamily="34" charset="-120"/>
              </a:rPr>
              <a:t>edges carry a value · 94 judged</a:t>
            </a:r>
            <a:endParaRPr lang="en-US" sz="1250" dirty="0"/>
          </a:p>
        </p:txBody>
      </p:sp>
      <p:sp>
        <p:nvSpPr>
          <p:cNvPr id="11" name="Text 8"/>
          <p:cNvSpPr/>
          <p:nvPr/>
        </p:nvSpPr>
        <p:spPr>
          <a:xfrm>
            <a:off x="640080" y="6355080"/>
            <a:ext cx="10972800" cy="365760"/>
          </a:xfrm>
          <a:prstGeom prst="rect">
            <a:avLst/>
          </a:prstGeom>
          <a:noFill/>
          <a:ln/>
        </p:spPr>
        <p:txBody>
          <a:bodyPr wrap="square" rtlCol="0" anchor="ctr"/>
          <a:lstStyle/>
          <a:p>
            <a:pPr marL="0" indent="0" algn="ctr">
              <a:buNone/>
            </a:pPr>
            <a:r>
              <a:rPr lang="en-US" sz="1400" b="1" i="1" dirty="0">
                <a:solidFill>
                  <a:srgbClr val="8B2635"/>
                </a:solidFill>
                <a:latin typeface="Cambria" pitchFamily="34" charset="0"/>
                <a:ea typeface="Cambria" pitchFamily="34" charset="-122"/>
                <a:cs typeface="Cambria" pitchFamily="34" charset="-120"/>
              </a:rPr>
              <a:t>A closure between two cameras still shows up.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8F4"/>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1A1815"/>
                </a:solidFill>
                <a:latin typeface="Cambria" pitchFamily="34" charset="0"/>
                <a:ea typeface="Cambria" pitchFamily="34" charset="-122"/>
                <a:cs typeface="Cambria" pitchFamily="34" charset="-120"/>
              </a:rPr>
              <a:t>The ratio between modes is the diagnosis</a:t>
            </a:r>
            <a:endParaRPr lang="en-US" sz="3100" dirty="0"/>
          </a:p>
        </p:txBody>
      </p:sp>
      <p:sp>
        <p:nvSpPr>
          <p:cNvPr id="3" name="Text 1"/>
          <p:cNvSpPr/>
          <p:nvPr/>
        </p:nvSpPr>
        <p:spPr>
          <a:xfrm>
            <a:off x="640080" y="1188720"/>
            <a:ext cx="10881360" cy="548640"/>
          </a:xfrm>
          <a:prstGeom prst="rect">
            <a:avLst/>
          </a:prstGeom>
          <a:noFill/>
          <a:ln/>
        </p:spPr>
        <p:txBody>
          <a:bodyPr wrap="square" rtlCol="0" anchor="ctr"/>
          <a:lstStyle/>
          <a:p>
            <a:pPr marL="0" indent="0">
              <a:buNone/>
            </a:pPr>
            <a:r>
              <a:rPr lang="en-US" sz="1600" dirty="0">
                <a:solidFill>
                  <a:srgbClr val="4A453D"/>
                </a:solidFill>
                <a:latin typeface="Calibri" pitchFamily="34" charset="0"/>
                <a:ea typeface="Calibri" pitchFamily="34" charset="-122"/>
                <a:cs typeface="Calibri" pitchFamily="34" charset="-120"/>
              </a:rPr>
              <a:t>We never type a site by how big the drop is — only by which mode fell. That is what turns a number into a cause worth investigating.</a:t>
            </a:r>
            <a:endParaRPr lang="en-US" sz="1600" dirty="0"/>
          </a:p>
        </p:txBody>
      </p:sp>
      <p:sp>
        <p:nvSpPr>
          <p:cNvPr id="4" name="Shape 2"/>
          <p:cNvSpPr/>
          <p:nvPr/>
        </p:nvSpPr>
        <p:spPr>
          <a:xfrm>
            <a:off x="640080" y="1874520"/>
            <a:ext cx="5440680" cy="1417320"/>
          </a:xfrm>
          <a:prstGeom prst="roundRect">
            <a:avLst>
              <a:gd name="adj" fmla="val 5806"/>
            </a:avLst>
          </a:prstGeom>
          <a:solidFill>
            <a:srgbClr val="FFFFFF"/>
          </a:solidFill>
          <a:ln w="12700">
            <a:solidFill>
              <a:srgbClr val="CEC8BD"/>
            </a:solidFill>
            <a:prstDash val="solid"/>
          </a:ln>
          <a:effectLst>
            <a:outerShdw blurRad="63500" dist="25400" dir="5400000" algn="bl" rotWithShape="0">
              <a:srgbClr val="BFB8AC">
                <a:alpha val="28000"/>
              </a:srgbClr>
            </a:outerShdw>
          </a:effectLst>
        </p:spPr>
        <p:txBody>
          <a:bodyPr/>
          <a:lstStyle/>
          <a:p>
            <a:endParaRPr lang="en-NZ"/>
          </a:p>
        </p:txBody>
      </p:sp>
      <p:sp>
        <p:nvSpPr>
          <p:cNvPr id="5" name="Shape 3"/>
          <p:cNvSpPr/>
          <p:nvPr/>
        </p:nvSpPr>
        <p:spPr>
          <a:xfrm>
            <a:off x="896112" y="2167128"/>
            <a:ext cx="822960" cy="822960"/>
          </a:xfrm>
          <a:prstGeom prst="ellipse">
            <a:avLst/>
          </a:prstGeom>
          <a:solidFill>
            <a:srgbClr val="8B2635"/>
          </a:solidFill>
          <a:ln/>
        </p:spPr>
        <p:txBody>
          <a:bodyPr/>
          <a:lstStyle/>
          <a:p>
            <a:endParaRPr lang="en-NZ"/>
          </a:p>
        </p:txBody>
      </p:sp>
      <p:sp>
        <p:nvSpPr>
          <p:cNvPr id="6" name="Text 4"/>
          <p:cNvSpPr/>
          <p:nvPr/>
        </p:nvSpPr>
        <p:spPr>
          <a:xfrm>
            <a:off x="896112" y="2167128"/>
            <a:ext cx="822960" cy="822960"/>
          </a:xfrm>
          <a:prstGeom prst="rect">
            <a:avLst/>
          </a:prstGeom>
          <a:noFill/>
          <a:ln/>
        </p:spPr>
        <p:txBody>
          <a:bodyPr wrap="square" rtlCol="0" anchor="ctr"/>
          <a:lstStyle/>
          <a:p>
            <a:pPr marL="0" indent="0" algn="ctr">
              <a:buNone/>
            </a:pPr>
            <a:r>
              <a:rPr lang="en-US" sz="2600" b="1" dirty="0">
                <a:solidFill>
                  <a:srgbClr val="FAF8F4"/>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920240" y="2075688"/>
            <a:ext cx="3977640" cy="365760"/>
          </a:xfrm>
          <a:prstGeom prst="rect">
            <a:avLst/>
          </a:prstGeom>
          <a:noFill/>
          <a:ln/>
        </p:spPr>
        <p:txBody>
          <a:bodyPr wrap="square" rtlCol="0" anchor="ctr"/>
          <a:lstStyle/>
          <a:p>
            <a:pPr marL="0" indent="0">
              <a:buNone/>
            </a:pPr>
            <a:r>
              <a:rPr lang="en-US" sz="1700" b="1" dirty="0">
                <a:solidFill>
                  <a:srgbClr val="8B2635"/>
                </a:solidFill>
                <a:latin typeface="Cambria" pitchFamily="34" charset="0"/>
                <a:ea typeface="Cambria" pitchFamily="34" charset="-122"/>
                <a:cs typeface="Cambria" pitchFamily="34" charset="-120"/>
              </a:rPr>
              <a:t>EXPOSURE HAZARD</a:t>
            </a:r>
            <a:endParaRPr lang="en-US" sz="1700" dirty="0"/>
          </a:p>
        </p:txBody>
      </p:sp>
      <p:sp>
        <p:nvSpPr>
          <p:cNvPr id="8" name="Text 6"/>
          <p:cNvSpPr/>
          <p:nvPr/>
        </p:nvSpPr>
        <p:spPr>
          <a:xfrm>
            <a:off x="1920240" y="2441448"/>
            <a:ext cx="3977640" cy="292608"/>
          </a:xfrm>
          <a:prstGeom prst="rect">
            <a:avLst/>
          </a:prstGeom>
          <a:noFill/>
          <a:ln/>
        </p:spPr>
        <p:txBody>
          <a:bodyPr wrap="square" rtlCol="0" anchor="ctr"/>
          <a:lstStyle/>
          <a:p>
            <a:pPr marL="0" indent="0">
              <a:buNone/>
            </a:pPr>
            <a:r>
              <a:rPr lang="en-US" sz="1250" b="1" i="1" dirty="0">
                <a:solidFill>
                  <a:srgbClr val="6B655C"/>
                </a:solidFill>
                <a:latin typeface="Calibri" pitchFamily="34" charset="0"/>
                <a:ea typeface="Calibri" pitchFamily="34" charset="-122"/>
                <a:cs typeface="Calibri" pitchFamily="34" charset="-120"/>
              </a:rPr>
              <a:t>people collapse ≫ cars</a:t>
            </a:r>
            <a:endParaRPr lang="en-US" sz="1250" dirty="0"/>
          </a:p>
        </p:txBody>
      </p:sp>
      <p:sp>
        <p:nvSpPr>
          <p:cNvPr id="9" name="Text 7"/>
          <p:cNvSpPr/>
          <p:nvPr/>
        </p:nvSpPr>
        <p:spPr>
          <a:xfrm>
            <a:off x="1920240" y="2743200"/>
            <a:ext cx="3977640" cy="457200"/>
          </a:xfrm>
          <a:prstGeom prst="rect">
            <a:avLst/>
          </a:prstGeom>
          <a:noFill/>
          <a:ln/>
        </p:spPr>
        <p:txBody>
          <a:bodyPr wrap="square" rtlCol="0" anchor="ctr"/>
          <a:lstStyle/>
          <a:p>
            <a:pPr marL="0" indent="0">
              <a:lnSpc>
                <a:spcPct val="105000"/>
              </a:lnSpc>
              <a:buNone/>
            </a:pPr>
            <a:r>
              <a:rPr lang="en-US" sz="1300" dirty="0">
                <a:solidFill>
                  <a:srgbClr val="4A453D"/>
                </a:solidFill>
                <a:latin typeface="Calibri" pitchFamily="34" charset="0"/>
                <a:ea typeface="Calibri" pitchFamily="34" charset="-122"/>
                <a:cs typeface="Calibri" pitchFamily="34" charset="-120"/>
              </a:rPr>
              <a:t>People stopped walking first — conditions on the street.</a:t>
            </a:r>
            <a:endParaRPr lang="en-US" sz="1300" dirty="0"/>
          </a:p>
        </p:txBody>
      </p:sp>
      <p:sp>
        <p:nvSpPr>
          <p:cNvPr id="10" name="Shape 8"/>
          <p:cNvSpPr/>
          <p:nvPr/>
        </p:nvSpPr>
        <p:spPr>
          <a:xfrm>
            <a:off x="6400800" y="1874520"/>
            <a:ext cx="5440680" cy="1417320"/>
          </a:xfrm>
          <a:prstGeom prst="roundRect">
            <a:avLst>
              <a:gd name="adj" fmla="val 5806"/>
            </a:avLst>
          </a:prstGeom>
          <a:solidFill>
            <a:srgbClr val="FFFFFF"/>
          </a:solidFill>
          <a:ln w="12700">
            <a:solidFill>
              <a:srgbClr val="CEC8BD"/>
            </a:solidFill>
            <a:prstDash val="solid"/>
          </a:ln>
          <a:effectLst>
            <a:outerShdw blurRad="63500" dist="25400" dir="5400000" algn="bl" rotWithShape="0">
              <a:srgbClr val="BFB8AC">
                <a:alpha val="28000"/>
              </a:srgbClr>
            </a:outerShdw>
          </a:effectLst>
        </p:spPr>
        <p:txBody>
          <a:bodyPr/>
          <a:lstStyle/>
          <a:p>
            <a:endParaRPr lang="en-NZ"/>
          </a:p>
        </p:txBody>
      </p:sp>
      <p:sp>
        <p:nvSpPr>
          <p:cNvPr id="11" name="Shape 9"/>
          <p:cNvSpPr/>
          <p:nvPr/>
        </p:nvSpPr>
        <p:spPr>
          <a:xfrm>
            <a:off x="6656832" y="2167128"/>
            <a:ext cx="822960" cy="822960"/>
          </a:xfrm>
          <a:prstGeom prst="ellipse">
            <a:avLst/>
          </a:prstGeom>
          <a:solidFill>
            <a:srgbClr val="A67C1A"/>
          </a:solidFill>
          <a:ln/>
        </p:spPr>
        <p:txBody>
          <a:bodyPr/>
          <a:lstStyle/>
          <a:p>
            <a:endParaRPr lang="en-NZ"/>
          </a:p>
        </p:txBody>
      </p:sp>
      <p:sp>
        <p:nvSpPr>
          <p:cNvPr id="12" name="Text 10"/>
          <p:cNvSpPr/>
          <p:nvPr/>
        </p:nvSpPr>
        <p:spPr>
          <a:xfrm>
            <a:off x="6656832" y="2167128"/>
            <a:ext cx="822960" cy="822960"/>
          </a:xfrm>
          <a:prstGeom prst="rect">
            <a:avLst/>
          </a:prstGeom>
          <a:noFill/>
          <a:ln/>
        </p:spPr>
        <p:txBody>
          <a:bodyPr wrap="square" rtlCol="0" anchor="ctr"/>
          <a:lstStyle/>
          <a:p>
            <a:pPr marL="0" indent="0" algn="ctr">
              <a:buNone/>
            </a:pPr>
            <a:r>
              <a:rPr lang="en-US" sz="2000" b="1" dirty="0">
                <a:solidFill>
                  <a:srgbClr val="FAF8F4"/>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7680960" y="2075688"/>
            <a:ext cx="3977640" cy="365760"/>
          </a:xfrm>
          <a:prstGeom prst="rect">
            <a:avLst/>
          </a:prstGeom>
          <a:noFill/>
          <a:ln/>
        </p:spPr>
        <p:txBody>
          <a:bodyPr wrap="square" rtlCol="0" anchor="ctr"/>
          <a:lstStyle/>
          <a:p>
            <a:pPr marL="0" indent="0">
              <a:buNone/>
            </a:pPr>
            <a:r>
              <a:rPr lang="en-US" sz="1700" b="1" dirty="0">
                <a:solidFill>
                  <a:srgbClr val="A67C1A"/>
                </a:solidFill>
                <a:latin typeface="Cambria" pitchFamily="34" charset="0"/>
                <a:ea typeface="Cambria" pitchFamily="34" charset="-122"/>
                <a:cs typeface="Cambria" pitchFamily="34" charset="-120"/>
              </a:rPr>
              <a:t>ROAD CLOSURE</a:t>
            </a:r>
            <a:endParaRPr lang="en-US" sz="1700" dirty="0"/>
          </a:p>
        </p:txBody>
      </p:sp>
      <p:sp>
        <p:nvSpPr>
          <p:cNvPr id="14" name="Text 12"/>
          <p:cNvSpPr/>
          <p:nvPr/>
        </p:nvSpPr>
        <p:spPr>
          <a:xfrm>
            <a:off x="7680960" y="2441448"/>
            <a:ext cx="3977640" cy="292608"/>
          </a:xfrm>
          <a:prstGeom prst="rect">
            <a:avLst/>
          </a:prstGeom>
          <a:noFill/>
          <a:ln/>
        </p:spPr>
        <p:txBody>
          <a:bodyPr wrap="square" rtlCol="0" anchor="ctr"/>
          <a:lstStyle/>
          <a:p>
            <a:pPr marL="0" indent="0">
              <a:buNone/>
            </a:pPr>
            <a:r>
              <a:rPr lang="en-US" sz="1250" b="1" i="1" dirty="0">
                <a:solidFill>
                  <a:srgbClr val="6B655C"/>
                </a:solidFill>
                <a:latin typeface="Calibri" pitchFamily="34" charset="0"/>
                <a:ea typeface="Calibri" pitchFamily="34" charset="-122"/>
                <a:cs typeface="Calibri" pitchFamily="34" charset="-120"/>
              </a:rPr>
              <a:t>cars collapse ≫ people</a:t>
            </a:r>
            <a:endParaRPr lang="en-US" sz="1250" dirty="0"/>
          </a:p>
        </p:txBody>
      </p:sp>
      <p:sp>
        <p:nvSpPr>
          <p:cNvPr id="15" name="Text 13"/>
          <p:cNvSpPr/>
          <p:nvPr/>
        </p:nvSpPr>
        <p:spPr>
          <a:xfrm>
            <a:off x="7680960" y="2743200"/>
            <a:ext cx="3977640" cy="457200"/>
          </a:xfrm>
          <a:prstGeom prst="rect">
            <a:avLst/>
          </a:prstGeom>
          <a:noFill/>
          <a:ln/>
        </p:spPr>
        <p:txBody>
          <a:bodyPr wrap="square" rtlCol="0" anchor="ctr"/>
          <a:lstStyle/>
          <a:p>
            <a:pPr marL="0" indent="0">
              <a:lnSpc>
                <a:spcPct val="105000"/>
              </a:lnSpc>
              <a:buNone/>
            </a:pPr>
            <a:r>
              <a:rPr lang="en-US" sz="1300" dirty="0">
                <a:solidFill>
                  <a:srgbClr val="4A453D"/>
                </a:solidFill>
                <a:latin typeface="Calibri" pitchFamily="34" charset="0"/>
                <a:ea typeface="Calibri" pitchFamily="34" charset="-122"/>
                <a:cs typeface="Calibri" pitchFamily="34" charset="-120"/>
              </a:rPr>
              <a:t>Street still walkable; something is blocking traffic.</a:t>
            </a:r>
            <a:endParaRPr lang="en-US" sz="1300" dirty="0"/>
          </a:p>
        </p:txBody>
      </p:sp>
      <p:sp>
        <p:nvSpPr>
          <p:cNvPr id="16" name="Shape 14"/>
          <p:cNvSpPr/>
          <p:nvPr/>
        </p:nvSpPr>
        <p:spPr>
          <a:xfrm>
            <a:off x="640080" y="3611880"/>
            <a:ext cx="5440680" cy="1417320"/>
          </a:xfrm>
          <a:prstGeom prst="roundRect">
            <a:avLst>
              <a:gd name="adj" fmla="val 5806"/>
            </a:avLst>
          </a:prstGeom>
          <a:solidFill>
            <a:srgbClr val="FFFFFF"/>
          </a:solidFill>
          <a:ln w="12700">
            <a:solidFill>
              <a:srgbClr val="CEC8BD"/>
            </a:solidFill>
            <a:prstDash val="solid"/>
          </a:ln>
          <a:effectLst>
            <a:outerShdw blurRad="63500" dist="25400" dir="5400000" algn="bl" rotWithShape="0">
              <a:srgbClr val="BFB8AC">
                <a:alpha val="28000"/>
              </a:srgbClr>
            </a:outerShdw>
          </a:effectLst>
        </p:spPr>
        <p:txBody>
          <a:bodyPr/>
          <a:lstStyle/>
          <a:p>
            <a:endParaRPr lang="en-NZ"/>
          </a:p>
        </p:txBody>
      </p:sp>
      <p:sp>
        <p:nvSpPr>
          <p:cNvPr id="17" name="Shape 15"/>
          <p:cNvSpPr/>
          <p:nvPr/>
        </p:nvSpPr>
        <p:spPr>
          <a:xfrm>
            <a:off x="896112" y="3904488"/>
            <a:ext cx="822960" cy="822960"/>
          </a:xfrm>
          <a:prstGeom prst="ellipse">
            <a:avLst/>
          </a:prstGeom>
          <a:solidFill>
            <a:srgbClr val="684A8A"/>
          </a:solidFill>
          <a:ln/>
        </p:spPr>
        <p:txBody>
          <a:bodyPr/>
          <a:lstStyle/>
          <a:p>
            <a:endParaRPr lang="en-NZ"/>
          </a:p>
        </p:txBody>
      </p:sp>
      <p:sp>
        <p:nvSpPr>
          <p:cNvPr id="18" name="Text 16"/>
          <p:cNvSpPr/>
          <p:nvPr/>
        </p:nvSpPr>
        <p:spPr>
          <a:xfrm>
            <a:off x="896112" y="3904488"/>
            <a:ext cx="822960" cy="822960"/>
          </a:xfrm>
          <a:prstGeom prst="rect">
            <a:avLst/>
          </a:prstGeom>
          <a:noFill/>
          <a:ln/>
        </p:spPr>
        <p:txBody>
          <a:bodyPr wrap="square" rtlCol="0" anchor="ctr"/>
          <a:lstStyle/>
          <a:p>
            <a:pPr marL="0" indent="0" algn="ctr">
              <a:buNone/>
            </a:pPr>
            <a:r>
              <a:rPr lang="en-US" sz="2000" b="1" dirty="0">
                <a:solidFill>
                  <a:srgbClr val="FAF8F4"/>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1920240" y="3813048"/>
            <a:ext cx="3977640" cy="365760"/>
          </a:xfrm>
          <a:prstGeom prst="rect">
            <a:avLst/>
          </a:prstGeom>
          <a:noFill/>
          <a:ln/>
        </p:spPr>
        <p:txBody>
          <a:bodyPr wrap="square" rtlCol="0" anchor="ctr"/>
          <a:lstStyle/>
          <a:p>
            <a:pPr marL="0" indent="0">
              <a:buNone/>
            </a:pPr>
            <a:r>
              <a:rPr lang="en-US" sz="1700" b="1" dirty="0">
                <a:solidFill>
                  <a:srgbClr val="684A8A"/>
                </a:solidFill>
                <a:latin typeface="Cambria" pitchFamily="34" charset="0"/>
                <a:ea typeface="Cambria" pitchFamily="34" charset="-122"/>
                <a:cs typeface="Cambria" pitchFamily="34" charset="-120"/>
              </a:rPr>
              <a:t>LOSS OF ACCESS</a:t>
            </a:r>
            <a:endParaRPr lang="en-US" sz="1700" dirty="0"/>
          </a:p>
        </p:txBody>
      </p:sp>
      <p:sp>
        <p:nvSpPr>
          <p:cNvPr id="20" name="Text 18"/>
          <p:cNvSpPr/>
          <p:nvPr/>
        </p:nvSpPr>
        <p:spPr>
          <a:xfrm>
            <a:off x="1920240" y="4178808"/>
            <a:ext cx="3977640" cy="292608"/>
          </a:xfrm>
          <a:prstGeom prst="rect">
            <a:avLst/>
          </a:prstGeom>
          <a:noFill/>
          <a:ln/>
        </p:spPr>
        <p:txBody>
          <a:bodyPr wrap="square" rtlCol="0" anchor="ctr"/>
          <a:lstStyle/>
          <a:p>
            <a:pPr marL="0" indent="0">
              <a:buNone/>
            </a:pPr>
            <a:r>
              <a:rPr lang="en-US" sz="1250" b="1" i="1" dirty="0">
                <a:solidFill>
                  <a:srgbClr val="6B655C"/>
                </a:solidFill>
                <a:latin typeface="Calibri" pitchFamily="34" charset="0"/>
                <a:ea typeface="Calibri" pitchFamily="34" charset="-122"/>
                <a:cs typeface="Calibri" pitchFamily="34" charset="-120"/>
              </a:rPr>
              <a:t>both collapse together</a:t>
            </a:r>
            <a:endParaRPr lang="en-US" sz="1250" dirty="0"/>
          </a:p>
        </p:txBody>
      </p:sp>
      <p:sp>
        <p:nvSpPr>
          <p:cNvPr id="21" name="Text 19"/>
          <p:cNvSpPr/>
          <p:nvPr/>
        </p:nvSpPr>
        <p:spPr>
          <a:xfrm>
            <a:off x="1920240" y="4480560"/>
            <a:ext cx="3977640" cy="457200"/>
          </a:xfrm>
          <a:prstGeom prst="rect">
            <a:avLst/>
          </a:prstGeom>
          <a:noFill/>
          <a:ln/>
        </p:spPr>
        <p:txBody>
          <a:bodyPr wrap="square" rtlCol="0" anchor="ctr"/>
          <a:lstStyle/>
          <a:p>
            <a:pPr marL="0" indent="0">
              <a:lnSpc>
                <a:spcPct val="105000"/>
              </a:lnSpc>
              <a:buNone/>
            </a:pPr>
            <a:r>
              <a:rPr lang="en-US" sz="1300" dirty="0">
                <a:solidFill>
                  <a:srgbClr val="4A453D"/>
                </a:solidFill>
                <a:latin typeface="Calibri" pitchFamily="34" charset="0"/>
                <a:ea typeface="Calibri" pitchFamily="34" charset="-122"/>
                <a:cs typeface="Calibri" pitchFamily="34" charset="-120"/>
              </a:rPr>
              <a:t>The whole corridor emptied — nobody is moving through.</a:t>
            </a:r>
            <a:endParaRPr lang="en-US" sz="1300" dirty="0"/>
          </a:p>
        </p:txBody>
      </p:sp>
      <p:sp>
        <p:nvSpPr>
          <p:cNvPr id="22" name="Shape 20"/>
          <p:cNvSpPr/>
          <p:nvPr/>
        </p:nvSpPr>
        <p:spPr>
          <a:xfrm>
            <a:off x="6400800" y="3611880"/>
            <a:ext cx="5440680" cy="1417320"/>
          </a:xfrm>
          <a:prstGeom prst="roundRect">
            <a:avLst>
              <a:gd name="adj" fmla="val 5806"/>
            </a:avLst>
          </a:prstGeom>
          <a:solidFill>
            <a:srgbClr val="FFFFFF"/>
          </a:solidFill>
          <a:ln w="12700">
            <a:solidFill>
              <a:srgbClr val="CEC8BD"/>
            </a:solidFill>
            <a:prstDash val="solid"/>
          </a:ln>
          <a:effectLst>
            <a:outerShdw blurRad="63500" dist="25400" dir="5400000" algn="bl" rotWithShape="0">
              <a:srgbClr val="BFB8AC">
                <a:alpha val="28000"/>
              </a:srgbClr>
            </a:outerShdw>
          </a:effectLst>
        </p:spPr>
        <p:txBody>
          <a:bodyPr/>
          <a:lstStyle/>
          <a:p>
            <a:endParaRPr lang="en-NZ"/>
          </a:p>
        </p:txBody>
      </p:sp>
      <p:sp>
        <p:nvSpPr>
          <p:cNvPr id="23" name="Shape 21"/>
          <p:cNvSpPr/>
          <p:nvPr/>
        </p:nvSpPr>
        <p:spPr>
          <a:xfrm>
            <a:off x="6656832" y="3904488"/>
            <a:ext cx="822960" cy="822960"/>
          </a:xfrm>
          <a:prstGeom prst="ellipse">
            <a:avLst/>
          </a:prstGeom>
          <a:solidFill>
            <a:srgbClr val="1F6E6A"/>
          </a:solidFill>
          <a:ln/>
        </p:spPr>
        <p:txBody>
          <a:bodyPr/>
          <a:lstStyle/>
          <a:p>
            <a:endParaRPr lang="en-NZ"/>
          </a:p>
        </p:txBody>
      </p:sp>
      <p:sp>
        <p:nvSpPr>
          <p:cNvPr id="24" name="Text 22"/>
          <p:cNvSpPr/>
          <p:nvPr/>
        </p:nvSpPr>
        <p:spPr>
          <a:xfrm>
            <a:off x="6656832" y="3904488"/>
            <a:ext cx="822960" cy="822960"/>
          </a:xfrm>
          <a:prstGeom prst="rect">
            <a:avLst/>
          </a:prstGeom>
          <a:noFill/>
          <a:ln/>
        </p:spPr>
        <p:txBody>
          <a:bodyPr wrap="square" rtlCol="0" anchor="ctr"/>
          <a:lstStyle/>
          <a:p>
            <a:pPr marL="0" indent="0" algn="ctr">
              <a:buNone/>
            </a:pPr>
            <a:r>
              <a:rPr lang="en-US" sz="2000" b="1" dirty="0">
                <a:solidFill>
                  <a:srgbClr val="FAF8F4"/>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7680960" y="3813048"/>
            <a:ext cx="3977640" cy="365760"/>
          </a:xfrm>
          <a:prstGeom prst="rect">
            <a:avLst/>
          </a:prstGeom>
          <a:noFill/>
          <a:ln/>
        </p:spPr>
        <p:txBody>
          <a:bodyPr wrap="square" rtlCol="0" anchor="ctr"/>
          <a:lstStyle/>
          <a:p>
            <a:pPr marL="0" indent="0">
              <a:buNone/>
            </a:pPr>
            <a:r>
              <a:rPr lang="en-US" sz="1700" b="1" dirty="0">
                <a:solidFill>
                  <a:srgbClr val="1F6E6A"/>
                </a:solidFill>
                <a:latin typeface="Cambria" pitchFamily="34" charset="0"/>
                <a:ea typeface="Cambria" pitchFamily="34" charset="-122"/>
                <a:cs typeface="Cambria" pitchFamily="34" charset="-120"/>
              </a:rPr>
              <a:t>OPEN TO PEOPLE</a:t>
            </a:r>
            <a:endParaRPr lang="en-US" sz="1700" dirty="0"/>
          </a:p>
        </p:txBody>
      </p:sp>
      <p:sp>
        <p:nvSpPr>
          <p:cNvPr id="26" name="Text 24"/>
          <p:cNvSpPr/>
          <p:nvPr/>
        </p:nvSpPr>
        <p:spPr>
          <a:xfrm>
            <a:off x="7680960" y="4178808"/>
            <a:ext cx="3977640" cy="292608"/>
          </a:xfrm>
          <a:prstGeom prst="rect">
            <a:avLst/>
          </a:prstGeom>
          <a:noFill/>
          <a:ln/>
        </p:spPr>
        <p:txBody>
          <a:bodyPr wrap="square" rtlCol="0" anchor="ctr"/>
          <a:lstStyle/>
          <a:p>
            <a:pPr marL="0" indent="0">
              <a:buNone/>
            </a:pPr>
            <a:r>
              <a:rPr lang="en-US" sz="1250" b="1" i="1" dirty="0">
                <a:solidFill>
                  <a:srgbClr val="6B655C"/>
                </a:solidFill>
                <a:latin typeface="Calibri" pitchFamily="34" charset="0"/>
                <a:ea typeface="Calibri" pitchFamily="34" charset="-122"/>
                <a:cs typeface="Calibri" pitchFamily="34" charset="-120"/>
              </a:rPr>
              <a:t>people up, cars down</a:t>
            </a:r>
            <a:endParaRPr lang="en-US" sz="1250" dirty="0"/>
          </a:p>
        </p:txBody>
      </p:sp>
      <p:sp>
        <p:nvSpPr>
          <p:cNvPr id="27" name="Text 25"/>
          <p:cNvSpPr/>
          <p:nvPr/>
        </p:nvSpPr>
        <p:spPr>
          <a:xfrm>
            <a:off x="7680960" y="4480560"/>
            <a:ext cx="3977640" cy="457200"/>
          </a:xfrm>
          <a:prstGeom prst="rect">
            <a:avLst/>
          </a:prstGeom>
          <a:noFill/>
          <a:ln/>
        </p:spPr>
        <p:txBody>
          <a:bodyPr wrap="square" rtlCol="0" anchor="ctr"/>
          <a:lstStyle/>
          <a:p>
            <a:pPr marL="0" indent="0">
              <a:lnSpc>
                <a:spcPct val="105000"/>
              </a:lnSpc>
              <a:buNone/>
            </a:pPr>
            <a:r>
              <a:rPr lang="en-US" sz="1300" dirty="0">
                <a:solidFill>
                  <a:srgbClr val="4A453D"/>
                </a:solidFill>
                <a:latin typeface="Calibri" pitchFamily="34" charset="0"/>
                <a:ea typeface="Calibri" pitchFamily="34" charset="-122"/>
                <a:cs typeface="Calibri" pitchFamily="34" charset="-120"/>
              </a:rPr>
              <a:t>Closed to traffic, opened to people — an event or march.</a:t>
            </a:r>
            <a:endParaRPr lang="en-US" sz="1300" dirty="0"/>
          </a:p>
        </p:txBody>
      </p:sp>
      <p:sp>
        <p:nvSpPr>
          <p:cNvPr id="28" name="Text 26"/>
          <p:cNvSpPr/>
          <p:nvPr/>
        </p:nvSpPr>
        <p:spPr>
          <a:xfrm>
            <a:off x="640080" y="5989320"/>
            <a:ext cx="10972800" cy="365760"/>
          </a:xfrm>
          <a:prstGeom prst="rect">
            <a:avLst/>
          </a:prstGeom>
          <a:noFill/>
          <a:ln/>
        </p:spPr>
        <p:txBody>
          <a:bodyPr wrap="square" rtlCol="0" anchor="ctr"/>
          <a:lstStyle/>
          <a:p>
            <a:pPr marL="0" indent="0" algn="l">
              <a:buNone/>
            </a:pPr>
            <a:r>
              <a:rPr lang="en-US" sz="1400" i="1" dirty="0">
                <a:solidFill>
                  <a:srgbClr val="6B655C"/>
                </a:solidFill>
                <a:latin typeface="Calibri" pitchFamily="34" charset="0"/>
                <a:ea typeface="Calibri" pitchFamily="34" charset="-122"/>
                <a:cs typeface="Calibri" pitchFamily="34" charset="-120"/>
              </a:rPr>
              <a:t>Not enough multi-mode coverage?  It returns “cannot type” — a counted, first-class verdict, never a guess.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8F4"/>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1A1815"/>
                </a:solidFill>
                <a:latin typeface="Cambria" pitchFamily="34" charset="0"/>
                <a:ea typeface="Cambria" pitchFamily="34" charset="-122"/>
                <a:cs typeface="Cambria" pitchFamily="34" charset="-120"/>
              </a:rPr>
              <a:t>23 October 2025 — the day it fired</a:t>
            </a:r>
            <a:endParaRPr lang="en-US" sz="3100" dirty="0"/>
          </a:p>
        </p:txBody>
      </p:sp>
      <p:sp>
        <p:nvSpPr>
          <p:cNvPr id="3" name="Text 1"/>
          <p:cNvSpPr/>
          <p:nvPr/>
        </p:nvSpPr>
        <p:spPr>
          <a:xfrm>
            <a:off x="548640" y="1554480"/>
            <a:ext cx="3931920" cy="1371600"/>
          </a:xfrm>
          <a:prstGeom prst="rect">
            <a:avLst/>
          </a:prstGeom>
          <a:noFill/>
          <a:ln/>
        </p:spPr>
        <p:txBody>
          <a:bodyPr wrap="square" rtlCol="0" anchor="ctr"/>
          <a:lstStyle/>
          <a:p>
            <a:pPr marL="0" indent="0" algn="ctr">
              <a:buNone/>
            </a:pPr>
            <a:r>
              <a:rPr lang="en-US" sz="9600" b="1" dirty="0">
                <a:solidFill>
                  <a:srgbClr val="8B2635"/>
                </a:solidFill>
                <a:latin typeface="Cambria" pitchFamily="34" charset="0"/>
                <a:ea typeface="Cambria" pitchFamily="34" charset="-122"/>
                <a:cs typeface="Cambria" pitchFamily="34" charset="-120"/>
              </a:rPr>
              <a:t>−41%</a:t>
            </a:r>
            <a:endParaRPr lang="en-US" sz="9600" dirty="0"/>
          </a:p>
        </p:txBody>
      </p:sp>
      <p:sp>
        <p:nvSpPr>
          <p:cNvPr id="4" name="Text 2"/>
          <p:cNvSpPr/>
          <p:nvPr/>
        </p:nvSpPr>
        <p:spPr>
          <a:xfrm>
            <a:off x="548640" y="2926080"/>
            <a:ext cx="3931920" cy="548640"/>
          </a:xfrm>
          <a:prstGeom prst="rect">
            <a:avLst/>
          </a:prstGeom>
          <a:noFill/>
          <a:ln/>
        </p:spPr>
        <p:txBody>
          <a:bodyPr wrap="square" rtlCol="0" anchor="ctr"/>
          <a:lstStyle/>
          <a:p>
            <a:pPr marL="0" indent="0" algn="ctr">
              <a:buNone/>
            </a:pPr>
            <a:r>
              <a:rPr lang="en-US" sz="1500" dirty="0">
                <a:solidFill>
                  <a:srgbClr val="4A453D"/>
                </a:solidFill>
                <a:latin typeface="Calibri" pitchFamily="34" charset="0"/>
                <a:ea typeface="Calibri" pitchFamily="34" charset="-122"/>
                <a:cs typeface="Calibri" pitchFamily="34" charset="-120"/>
              </a:rPr>
              <a:t>citywide movement vs a normal Thursday</a:t>
            </a:r>
            <a:endParaRPr lang="en-US" sz="1500" dirty="0"/>
          </a:p>
        </p:txBody>
      </p:sp>
      <p:sp>
        <p:nvSpPr>
          <p:cNvPr id="5" name="Shape 3"/>
          <p:cNvSpPr/>
          <p:nvPr/>
        </p:nvSpPr>
        <p:spPr>
          <a:xfrm>
            <a:off x="685800" y="3703320"/>
            <a:ext cx="3611880" cy="384048"/>
          </a:xfrm>
          <a:prstGeom prst="roundRect">
            <a:avLst>
              <a:gd name="adj" fmla="val 50000"/>
            </a:avLst>
          </a:prstGeom>
          <a:solidFill>
            <a:srgbClr val="8B2635"/>
          </a:solidFill>
          <a:ln/>
        </p:spPr>
        <p:txBody>
          <a:bodyPr/>
          <a:lstStyle/>
          <a:p>
            <a:endParaRPr lang="en-NZ"/>
          </a:p>
        </p:txBody>
      </p:sp>
      <p:sp>
        <p:nvSpPr>
          <p:cNvPr id="6" name="Text 4"/>
          <p:cNvSpPr/>
          <p:nvPr/>
        </p:nvSpPr>
        <p:spPr>
          <a:xfrm>
            <a:off x="685800" y="3703320"/>
            <a:ext cx="361188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MetService RED severe-wind warning</a:t>
            </a:r>
            <a:endParaRPr lang="en-US" sz="1150" dirty="0"/>
          </a:p>
        </p:txBody>
      </p:sp>
      <p:sp>
        <p:nvSpPr>
          <p:cNvPr id="7" name="Shape 5"/>
          <p:cNvSpPr/>
          <p:nvPr/>
        </p:nvSpPr>
        <p:spPr>
          <a:xfrm>
            <a:off x="685800" y="4206240"/>
            <a:ext cx="3611880" cy="384048"/>
          </a:xfrm>
          <a:prstGeom prst="roundRect">
            <a:avLst>
              <a:gd name="adj" fmla="val 50000"/>
            </a:avLst>
          </a:prstGeom>
          <a:solidFill>
            <a:srgbClr val="5C1420"/>
          </a:solidFill>
          <a:ln/>
        </p:spPr>
        <p:txBody>
          <a:bodyPr/>
          <a:lstStyle/>
          <a:p>
            <a:endParaRPr lang="en-NZ"/>
          </a:p>
        </p:txBody>
      </p:sp>
      <p:sp>
        <p:nvSpPr>
          <p:cNvPr id="8" name="Text 6"/>
          <p:cNvSpPr/>
          <p:nvPr/>
        </p:nvSpPr>
        <p:spPr>
          <a:xfrm>
            <a:off x="685800" y="4206240"/>
            <a:ext cx="361188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Gusts to 140 km/h at Mount Kaukau</a:t>
            </a:r>
            <a:endParaRPr lang="en-US" sz="1150" dirty="0"/>
          </a:p>
        </p:txBody>
      </p:sp>
      <p:sp>
        <p:nvSpPr>
          <p:cNvPr id="9" name="Shape 7"/>
          <p:cNvSpPr/>
          <p:nvPr/>
        </p:nvSpPr>
        <p:spPr>
          <a:xfrm>
            <a:off x="685800" y="4709160"/>
            <a:ext cx="3611880" cy="384048"/>
          </a:xfrm>
          <a:prstGeom prst="roundRect">
            <a:avLst>
              <a:gd name="adj" fmla="val 50000"/>
            </a:avLst>
          </a:prstGeom>
          <a:solidFill>
            <a:srgbClr val="1F3D2F"/>
          </a:solidFill>
          <a:ln/>
        </p:spPr>
        <p:txBody>
          <a:bodyPr/>
          <a:lstStyle/>
          <a:p>
            <a:endParaRPr lang="en-NZ"/>
          </a:p>
        </p:txBody>
      </p:sp>
      <p:sp>
        <p:nvSpPr>
          <p:cNvPr id="10" name="Text 8"/>
          <p:cNvSpPr/>
          <p:nvPr/>
        </p:nvSpPr>
        <p:spPr>
          <a:xfrm>
            <a:off x="685800" y="4709160"/>
            <a:ext cx="361188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Every Wellington train cancelled</a:t>
            </a:r>
            <a:endParaRPr lang="en-US" sz="1150" dirty="0"/>
          </a:p>
        </p:txBody>
      </p:sp>
      <p:sp>
        <p:nvSpPr>
          <p:cNvPr id="11" name="Text 9"/>
          <p:cNvSpPr/>
          <p:nvPr/>
        </p:nvSpPr>
        <p:spPr>
          <a:xfrm>
            <a:off x="685800" y="5349240"/>
            <a:ext cx="3657600" cy="640080"/>
          </a:xfrm>
          <a:prstGeom prst="rect">
            <a:avLst/>
          </a:prstGeom>
          <a:noFill/>
          <a:ln/>
        </p:spPr>
        <p:txBody>
          <a:bodyPr wrap="square" rtlCol="0" anchor="ctr"/>
          <a:lstStyle/>
          <a:p>
            <a:pPr marL="0" indent="0">
              <a:lnSpc>
                <a:spcPct val="110000"/>
              </a:lnSpc>
              <a:buNone/>
            </a:pPr>
            <a:r>
              <a:rPr lang="en-US" sz="1200" i="1" dirty="0">
                <a:solidFill>
                  <a:srgbClr val="6B655C"/>
                </a:solidFill>
                <a:latin typeface="Calibri" pitchFamily="34" charset="0"/>
                <a:ea typeface="Calibri" pitchFamily="34" charset="-122"/>
                <a:cs typeface="Calibri" pitchFamily="34" charset="-120"/>
              </a:rPr>
              <a:t>Headline is the 11-Thursday robust baseline — a sceptic can redo it by hand.</a:t>
            </a:r>
            <a:endParaRPr lang="en-US" sz="1200" dirty="0"/>
          </a:p>
        </p:txBody>
      </p:sp>
      <p:sp>
        <p:nvSpPr>
          <p:cNvPr id="12" name="Shape 10"/>
          <p:cNvSpPr/>
          <p:nvPr/>
        </p:nvSpPr>
        <p:spPr>
          <a:xfrm>
            <a:off x="4800600" y="1554480"/>
            <a:ext cx="6720840" cy="4480560"/>
          </a:xfrm>
          <a:prstGeom prst="roundRect">
            <a:avLst>
              <a:gd name="adj" fmla="val 1837"/>
            </a:avLst>
          </a:prstGeom>
          <a:solidFill>
            <a:srgbClr val="FFFFFF"/>
          </a:solidFill>
          <a:ln w="12700">
            <a:solidFill>
              <a:srgbClr val="CEC8BD"/>
            </a:solidFill>
            <a:prstDash val="solid"/>
          </a:ln>
          <a:effectLst>
            <a:outerShdw blurRad="76200" dist="25400" dir="5400000" algn="bl" rotWithShape="0">
              <a:srgbClr val="BFB8AC">
                <a:alpha val="30000"/>
              </a:srgbClr>
            </a:outerShdw>
          </a:effectLst>
        </p:spPr>
        <p:txBody>
          <a:bodyPr/>
          <a:lstStyle/>
          <a:p>
            <a:endParaRPr lang="en-NZ"/>
          </a:p>
        </p:txBody>
      </p:sp>
      <p:sp>
        <p:nvSpPr>
          <p:cNvPr id="13" name="Text 11"/>
          <p:cNvSpPr/>
          <p:nvPr/>
        </p:nvSpPr>
        <p:spPr>
          <a:xfrm>
            <a:off x="5120640" y="1783080"/>
            <a:ext cx="2926080" cy="365760"/>
          </a:xfrm>
          <a:prstGeom prst="rect">
            <a:avLst/>
          </a:prstGeom>
          <a:noFill/>
          <a:ln/>
        </p:spPr>
        <p:txBody>
          <a:bodyPr wrap="square" rtlCol="0" anchor="ctr"/>
          <a:lstStyle/>
          <a:p>
            <a:pPr marL="0" indent="0" algn="ctr">
              <a:buNone/>
            </a:pPr>
            <a:r>
              <a:rPr lang="en-US" sz="1500" b="1" dirty="0">
                <a:solidFill>
                  <a:srgbClr val="1F3D2F"/>
                </a:solidFill>
                <a:latin typeface="Cambria" pitchFamily="34" charset="0"/>
                <a:ea typeface="Cambria" pitchFamily="34" charset="-122"/>
                <a:cs typeface="Cambria" pitchFamily="34" charset="-120"/>
              </a:rPr>
              <a:t>16 Oct · normal</a:t>
            </a:r>
            <a:endParaRPr lang="en-US" sz="1500" dirty="0"/>
          </a:p>
        </p:txBody>
      </p:sp>
      <p:sp>
        <p:nvSpPr>
          <p:cNvPr id="14" name="Text 12"/>
          <p:cNvSpPr/>
          <p:nvPr/>
        </p:nvSpPr>
        <p:spPr>
          <a:xfrm>
            <a:off x="8275320" y="1783080"/>
            <a:ext cx="2926080" cy="365760"/>
          </a:xfrm>
          <a:prstGeom prst="rect">
            <a:avLst/>
          </a:prstGeom>
          <a:noFill/>
          <a:ln/>
        </p:spPr>
        <p:txBody>
          <a:bodyPr wrap="square" rtlCol="0" anchor="ctr"/>
          <a:lstStyle/>
          <a:p>
            <a:pPr marL="0" indent="0" algn="ctr">
              <a:buNone/>
            </a:pPr>
            <a:r>
              <a:rPr lang="en-US" sz="1500" b="1" dirty="0">
                <a:solidFill>
                  <a:srgbClr val="8B2635"/>
                </a:solidFill>
                <a:latin typeface="Cambria" pitchFamily="34" charset="0"/>
                <a:ea typeface="Cambria" pitchFamily="34" charset="-122"/>
                <a:cs typeface="Cambria" pitchFamily="34" charset="-120"/>
              </a:rPr>
              <a:t>23 Oct · storm</a:t>
            </a:r>
            <a:endParaRPr lang="en-US" sz="1500" dirty="0"/>
          </a:p>
        </p:txBody>
      </p:sp>
      <p:sp>
        <p:nvSpPr>
          <p:cNvPr id="15" name="Shape 13"/>
          <p:cNvSpPr/>
          <p:nvPr/>
        </p:nvSpPr>
        <p:spPr>
          <a:xfrm>
            <a:off x="8161020" y="2240280"/>
            <a:ext cx="0" cy="3291840"/>
          </a:xfrm>
          <a:prstGeom prst="line">
            <a:avLst/>
          </a:prstGeom>
          <a:noFill/>
          <a:ln w="12700">
            <a:solidFill>
              <a:srgbClr val="CEC8BD"/>
            </a:solidFill>
            <a:prstDash val="dash"/>
          </a:ln>
        </p:spPr>
        <p:txBody>
          <a:bodyPr/>
          <a:lstStyle/>
          <a:p>
            <a:endParaRPr lang="en-NZ"/>
          </a:p>
        </p:txBody>
      </p:sp>
      <p:sp>
        <p:nvSpPr>
          <p:cNvPr id="16" name="Shape 14"/>
          <p:cNvSpPr/>
          <p:nvPr/>
        </p:nvSpPr>
        <p:spPr>
          <a:xfrm>
            <a:off x="544068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17" name="Shape 15"/>
          <p:cNvSpPr/>
          <p:nvPr/>
        </p:nvSpPr>
        <p:spPr>
          <a:xfrm>
            <a:off x="5440680" y="2587752"/>
            <a:ext cx="384048" cy="45720"/>
          </a:xfrm>
          <a:prstGeom prst="rect">
            <a:avLst/>
          </a:prstGeom>
          <a:solidFill>
            <a:srgbClr val="6B655C">
              <a:alpha val="80000"/>
            </a:srgbClr>
          </a:solidFill>
          <a:ln/>
        </p:spPr>
        <p:txBody>
          <a:bodyPr/>
          <a:lstStyle/>
          <a:p>
            <a:endParaRPr lang="en-NZ"/>
          </a:p>
        </p:txBody>
      </p:sp>
      <p:sp>
        <p:nvSpPr>
          <p:cNvPr id="18" name="Shape 16"/>
          <p:cNvSpPr/>
          <p:nvPr/>
        </p:nvSpPr>
        <p:spPr>
          <a:xfrm>
            <a:off x="5498287" y="2834640"/>
            <a:ext cx="268834" cy="2057400"/>
          </a:xfrm>
          <a:prstGeom prst="rect">
            <a:avLst/>
          </a:prstGeom>
          <a:solidFill>
            <a:srgbClr val="1F3D2F"/>
          </a:solidFill>
          <a:ln/>
        </p:spPr>
        <p:txBody>
          <a:bodyPr/>
          <a:lstStyle/>
          <a:p>
            <a:endParaRPr lang="en-NZ"/>
          </a:p>
        </p:txBody>
      </p:sp>
      <p:sp>
        <p:nvSpPr>
          <p:cNvPr id="19" name="Shape 17"/>
          <p:cNvSpPr/>
          <p:nvPr/>
        </p:nvSpPr>
        <p:spPr>
          <a:xfrm>
            <a:off x="5559552" y="4965192"/>
            <a:ext cx="146304" cy="146304"/>
          </a:xfrm>
          <a:prstGeom prst="rect">
            <a:avLst/>
          </a:prstGeom>
          <a:solidFill>
            <a:srgbClr val="1F3D2F"/>
          </a:solidFill>
          <a:ln/>
        </p:spPr>
        <p:txBody>
          <a:bodyPr/>
          <a:lstStyle/>
          <a:p>
            <a:endParaRPr lang="en-NZ"/>
          </a:p>
        </p:txBody>
      </p:sp>
      <p:sp>
        <p:nvSpPr>
          <p:cNvPr id="20" name="Shape 18"/>
          <p:cNvSpPr/>
          <p:nvPr/>
        </p:nvSpPr>
        <p:spPr>
          <a:xfrm>
            <a:off x="598932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21" name="Shape 19"/>
          <p:cNvSpPr/>
          <p:nvPr/>
        </p:nvSpPr>
        <p:spPr>
          <a:xfrm>
            <a:off x="5989320" y="2587752"/>
            <a:ext cx="384048" cy="45720"/>
          </a:xfrm>
          <a:prstGeom prst="rect">
            <a:avLst/>
          </a:prstGeom>
          <a:solidFill>
            <a:srgbClr val="6B655C">
              <a:alpha val="80000"/>
            </a:srgbClr>
          </a:solidFill>
          <a:ln/>
        </p:spPr>
        <p:txBody>
          <a:bodyPr/>
          <a:lstStyle/>
          <a:p>
            <a:endParaRPr lang="en-NZ"/>
          </a:p>
        </p:txBody>
      </p:sp>
      <p:sp>
        <p:nvSpPr>
          <p:cNvPr id="22" name="Shape 20"/>
          <p:cNvSpPr/>
          <p:nvPr/>
        </p:nvSpPr>
        <p:spPr>
          <a:xfrm>
            <a:off x="6046927" y="2926080"/>
            <a:ext cx="268834" cy="1965960"/>
          </a:xfrm>
          <a:prstGeom prst="rect">
            <a:avLst/>
          </a:prstGeom>
          <a:solidFill>
            <a:srgbClr val="1F3D2F"/>
          </a:solidFill>
          <a:ln/>
        </p:spPr>
        <p:txBody>
          <a:bodyPr/>
          <a:lstStyle/>
          <a:p>
            <a:endParaRPr lang="en-NZ"/>
          </a:p>
        </p:txBody>
      </p:sp>
      <p:sp>
        <p:nvSpPr>
          <p:cNvPr id="23" name="Shape 21"/>
          <p:cNvSpPr/>
          <p:nvPr/>
        </p:nvSpPr>
        <p:spPr>
          <a:xfrm>
            <a:off x="6108192" y="4965192"/>
            <a:ext cx="146304" cy="146304"/>
          </a:xfrm>
          <a:prstGeom prst="triangle">
            <a:avLst/>
          </a:prstGeom>
          <a:solidFill>
            <a:srgbClr val="1F3D2F"/>
          </a:solidFill>
          <a:ln/>
        </p:spPr>
        <p:txBody>
          <a:bodyPr/>
          <a:lstStyle/>
          <a:p>
            <a:endParaRPr lang="en-NZ"/>
          </a:p>
        </p:txBody>
      </p:sp>
      <p:sp>
        <p:nvSpPr>
          <p:cNvPr id="24" name="Shape 22"/>
          <p:cNvSpPr/>
          <p:nvPr/>
        </p:nvSpPr>
        <p:spPr>
          <a:xfrm>
            <a:off x="653796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25" name="Shape 23"/>
          <p:cNvSpPr/>
          <p:nvPr/>
        </p:nvSpPr>
        <p:spPr>
          <a:xfrm>
            <a:off x="6537960" y="2587752"/>
            <a:ext cx="384048" cy="45720"/>
          </a:xfrm>
          <a:prstGeom prst="rect">
            <a:avLst/>
          </a:prstGeom>
          <a:solidFill>
            <a:srgbClr val="6B655C">
              <a:alpha val="80000"/>
            </a:srgbClr>
          </a:solidFill>
          <a:ln/>
        </p:spPr>
        <p:txBody>
          <a:bodyPr/>
          <a:lstStyle/>
          <a:p>
            <a:endParaRPr lang="en-NZ"/>
          </a:p>
        </p:txBody>
      </p:sp>
      <p:sp>
        <p:nvSpPr>
          <p:cNvPr id="26" name="Shape 24"/>
          <p:cNvSpPr/>
          <p:nvPr/>
        </p:nvSpPr>
        <p:spPr>
          <a:xfrm>
            <a:off x="6595567" y="2788920"/>
            <a:ext cx="268834" cy="2103120"/>
          </a:xfrm>
          <a:prstGeom prst="rect">
            <a:avLst/>
          </a:prstGeom>
          <a:solidFill>
            <a:srgbClr val="1F3D2F"/>
          </a:solidFill>
          <a:ln/>
        </p:spPr>
        <p:txBody>
          <a:bodyPr/>
          <a:lstStyle/>
          <a:p>
            <a:endParaRPr lang="en-NZ"/>
          </a:p>
        </p:txBody>
      </p:sp>
      <p:sp>
        <p:nvSpPr>
          <p:cNvPr id="27" name="Shape 25"/>
          <p:cNvSpPr/>
          <p:nvPr/>
        </p:nvSpPr>
        <p:spPr>
          <a:xfrm>
            <a:off x="6656832" y="4965192"/>
            <a:ext cx="146304" cy="146304"/>
          </a:xfrm>
          <a:prstGeom prst="rect">
            <a:avLst/>
          </a:prstGeom>
          <a:solidFill>
            <a:srgbClr val="1F3D2F"/>
          </a:solidFill>
          <a:ln/>
        </p:spPr>
        <p:txBody>
          <a:bodyPr/>
          <a:lstStyle/>
          <a:p>
            <a:endParaRPr lang="en-NZ"/>
          </a:p>
        </p:txBody>
      </p:sp>
      <p:sp>
        <p:nvSpPr>
          <p:cNvPr id="28" name="Shape 26"/>
          <p:cNvSpPr/>
          <p:nvPr/>
        </p:nvSpPr>
        <p:spPr>
          <a:xfrm>
            <a:off x="708660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29" name="Shape 27"/>
          <p:cNvSpPr/>
          <p:nvPr/>
        </p:nvSpPr>
        <p:spPr>
          <a:xfrm>
            <a:off x="7086600" y="2587752"/>
            <a:ext cx="384048" cy="45720"/>
          </a:xfrm>
          <a:prstGeom prst="rect">
            <a:avLst/>
          </a:prstGeom>
          <a:solidFill>
            <a:srgbClr val="6B655C">
              <a:alpha val="80000"/>
            </a:srgbClr>
          </a:solidFill>
          <a:ln/>
        </p:spPr>
        <p:txBody>
          <a:bodyPr/>
          <a:lstStyle/>
          <a:p>
            <a:endParaRPr lang="en-NZ"/>
          </a:p>
        </p:txBody>
      </p:sp>
      <p:sp>
        <p:nvSpPr>
          <p:cNvPr id="30" name="Shape 28"/>
          <p:cNvSpPr/>
          <p:nvPr/>
        </p:nvSpPr>
        <p:spPr>
          <a:xfrm>
            <a:off x="7144207" y="2880360"/>
            <a:ext cx="268834" cy="2011680"/>
          </a:xfrm>
          <a:prstGeom prst="rect">
            <a:avLst/>
          </a:prstGeom>
          <a:solidFill>
            <a:srgbClr val="1F3D2F"/>
          </a:solidFill>
          <a:ln/>
        </p:spPr>
        <p:txBody>
          <a:bodyPr/>
          <a:lstStyle/>
          <a:p>
            <a:endParaRPr lang="en-NZ"/>
          </a:p>
        </p:txBody>
      </p:sp>
      <p:sp>
        <p:nvSpPr>
          <p:cNvPr id="31" name="Shape 29"/>
          <p:cNvSpPr/>
          <p:nvPr/>
        </p:nvSpPr>
        <p:spPr>
          <a:xfrm>
            <a:off x="7205472" y="4965192"/>
            <a:ext cx="146304" cy="146304"/>
          </a:xfrm>
          <a:prstGeom prst="triangle">
            <a:avLst/>
          </a:prstGeom>
          <a:solidFill>
            <a:srgbClr val="1F3D2F"/>
          </a:solidFill>
          <a:ln/>
        </p:spPr>
        <p:txBody>
          <a:bodyPr/>
          <a:lstStyle/>
          <a:p>
            <a:endParaRPr lang="en-NZ"/>
          </a:p>
        </p:txBody>
      </p:sp>
      <p:sp>
        <p:nvSpPr>
          <p:cNvPr id="32" name="Shape 30"/>
          <p:cNvSpPr/>
          <p:nvPr/>
        </p:nvSpPr>
        <p:spPr>
          <a:xfrm>
            <a:off x="763524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33" name="Shape 31"/>
          <p:cNvSpPr/>
          <p:nvPr/>
        </p:nvSpPr>
        <p:spPr>
          <a:xfrm>
            <a:off x="7635240" y="2587752"/>
            <a:ext cx="384048" cy="45720"/>
          </a:xfrm>
          <a:prstGeom prst="rect">
            <a:avLst/>
          </a:prstGeom>
          <a:solidFill>
            <a:srgbClr val="6B655C">
              <a:alpha val="80000"/>
            </a:srgbClr>
          </a:solidFill>
          <a:ln/>
        </p:spPr>
        <p:txBody>
          <a:bodyPr/>
          <a:lstStyle/>
          <a:p>
            <a:endParaRPr lang="en-NZ"/>
          </a:p>
        </p:txBody>
      </p:sp>
      <p:sp>
        <p:nvSpPr>
          <p:cNvPr id="34" name="Shape 32"/>
          <p:cNvSpPr/>
          <p:nvPr/>
        </p:nvSpPr>
        <p:spPr>
          <a:xfrm>
            <a:off x="7692847" y="2834640"/>
            <a:ext cx="268834" cy="2057400"/>
          </a:xfrm>
          <a:prstGeom prst="rect">
            <a:avLst/>
          </a:prstGeom>
          <a:solidFill>
            <a:srgbClr val="1F3D2F"/>
          </a:solidFill>
          <a:ln/>
        </p:spPr>
        <p:txBody>
          <a:bodyPr/>
          <a:lstStyle/>
          <a:p>
            <a:endParaRPr lang="en-NZ"/>
          </a:p>
        </p:txBody>
      </p:sp>
      <p:sp>
        <p:nvSpPr>
          <p:cNvPr id="35" name="Shape 33"/>
          <p:cNvSpPr/>
          <p:nvPr/>
        </p:nvSpPr>
        <p:spPr>
          <a:xfrm>
            <a:off x="7754112" y="4965192"/>
            <a:ext cx="146304" cy="146304"/>
          </a:xfrm>
          <a:prstGeom prst="rect">
            <a:avLst/>
          </a:prstGeom>
          <a:solidFill>
            <a:srgbClr val="1F3D2F"/>
          </a:solidFill>
          <a:ln/>
        </p:spPr>
        <p:txBody>
          <a:bodyPr/>
          <a:lstStyle/>
          <a:p>
            <a:endParaRPr lang="en-NZ"/>
          </a:p>
        </p:txBody>
      </p:sp>
      <p:sp>
        <p:nvSpPr>
          <p:cNvPr id="36" name="Shape 34"/>
          <p:cNvSpPr/>
          <p:nvPr/>
        </p:nvSpPr>
        <p:spPr>
          <a:xfrm>
            <a:off x="859536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37" name="Shape 35"/>
          <p:cNvSpPr/>
          <p:nvPr/>
        </p:nvSpPr>
        <p:spPr>
          <a:xfrm>
            <a:off x="8595360" y="2587752"/>
            <a:ext cx="384048" cy="45720"/>
          </a:xfrm>
          <a:prstGeom prst="rect">
            <a:avLst/>
          </a:prstGeom>
          <a:solidFill>
            <a:srgbClr val="6B655C">
              <a:alpha val="80000"/>
            </a:srgbClr>
          </a:solidFill>
          <a:ln/>
        </p:spPr>
        <p:txBody>
          <a:bodyPr/>
          <a:lstStyle/>
          <a:p>
            <a:endParaRPr lang="en-NZ"/>
          </a:p>
        </p:txBody>
      </p:sp>
      <p:sp>
        <p:nvSpPr>
          <p:cNvPr id="38" name="Shape 36"/>
          <p:cNvSpPr/>
          <p:nvPr/>
        </p:nvSpPr>
        <p:spPr>
          <a:xfrm>
            <a:off x="8652967" y="4572000"/>
            <a:ext cx="268834" cy="320040"/>
          </a:xfrm>
          <a:prstGeom prst="rect">
            <a:avLst/>
          </a:prstGeom>
          <a:solidFill>
            <a:srgbClr val="8B2635"/>
          </a:solidFill>
          <a:ln/>
        </p:spPr>
        <p:txBody>
          <a:bodyPr/>
          <a:lstStyle/>
          <a:p>
            <a:endParaRPr lang="en-NZ"/>
          </a:p>
        </p:txBody>
      </p:sp>
      <p:sp>
        <p:nvSpPr>
          <p:cNvPr id="39" name="Shape 37"/>
          <p:cNvSpPr/>
          <p:nvPr/>
        </p:nvSpPr>
        <p:spPr>
          <a:xfrm>
            <a:off x="8714232" y="4965192"/>
            <a:ext cx="146304" cy="146304"/>
          </a:xfrm>
          <a:prstGeom prst="rect">
            <a:avLst/>
          </a:prstGeom>
          <a:solidFill>
            <a:srgbClr val="8B2635"/>
          </a:solidFill>
          <a:ln/>
        </p:spPr>
        <p:txBody>
          <a:bodyPr/>
          <a:lstStyle/>
          <a:p>
            <a:endParaRPr lang="en-NZ"/>
          </a:p>
        </p:txBody>
      </p:sp>
      <p:sp>
        <p:nvSpPr>
          <p:cNvPr id="40" name="Shape 38"/>
          <p:cNvSpPr/>
          <p:nvPr/>
        </p:nvSpPr>
        <p:spPr>
          <a:xfrm>
            <a:off x="914400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41" name="Shape 39"/>
          <p:cNvSpPr/>
          <p:nvPr/>
        </p:nvSpPr>
        <p:spPr>
          <a:xfrm>
            <a:off x="9144000" y="2587752"/>
            <a:ext cx="384048" cy="45720"/>
          </a:xfrm>
          <a:prstGeom prst="rect">
            <a:avLst/>
          </a:prstGeom>
          <a:solidFill>
            <a:srgbClr val="6B655C">
              <a:alpha val="80000"/>
            </a:srgbClr>
          </a:solidFill>
          <a:ln/>
        </p:spPr>
        <p:txBody>
          <a:bodyPr/>
          <a:lstStyle/>
          <a:p>
            <a:endParaRPr lang="en-NZ"/>
          </a:p>
        </p:txBody>
      </p:sp>
      <p:sp>
        <p:nvSpPr>
          <p:cNvPr id="42" name="Shape 40"/>
          <p:cNvSpPr/>
          <p:nvPr/>
        </p:nvSpPr>
        <p:spPr>
          <a:xfrm>
            <a:off x="9201607" y="3931920"/>
            <a:ext cx="268834" cy="960120"/>
          </a:xfrm>
          <a:prstGeom prst="rect">
            <a:avLst/>
          </a:prstGeom>
          <a:solidFill>
            <a:srgbClr val="8B2635"/>
          </a:solidFill>
          <a:ln/>
        </p:spPr>
        <p:txBody>
          <a:bodyPr/>
          <a:lstStyle/>
          <a:p>
            <a:endParaRPr lang="en-NZ"/>
          </a:p>
        </p:txBody>
      </p:sp>
      <p:sp>
        <p:nvSpPr>
          <p:cNvPr id="43" name="Shape 41"/>
          <p:cNvSpPr/>
          <p:nvPr/>
        </p:nvSpPr>
        <p:spPr>
          <a:xfrm>
            <a:off x="9262872" y="4965192"/>
            <a:ext cx="146304" cy="146304"/>
          </a:xfrm>
          <a:prstGeom prst="triangle">
            <a:avLst/>
          </a:prstGeom>
          <a:solidFill>
            <a:srgbClr val="8B2635"/>
          </a:solidFill>
          <a:ln/>
        </p:spPr>
        <p:txBody>
          <a:bodyPr/>
          <a:lstStyle/>
          <a:p>
            <a:endParaRPr lang="en-NZ"/>
          </a:p>
        </p:txBody>
      </p:sp>
      <p:sp>
        <p:nvSpPr>
          <p:cNvPr id="44" name="Shape 42"/>
          <p:cNvSpPr/>
          <p:nvPr/>
        </p:nvSpPr>
        <p:spPr>
          <a:xfrm>
            <a:off x="969264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45" name="Shape 43"/>
          <p:cNvSpPr/>
          <p:nvPr/>
        </p:nvSpPr>
        <p:spPr>
          <a:xfrm>
            <a:off x="9692640" y="2587752"/>
            <a:ext cx="384048" cy="45720"/>
          </a:xfrm>
          <a:prstGeom prst="rect">
            <a:avLst/>
          </a:prstGeom>
          <a:solidFill>
            <a:srgbClr val="6B655C">
              <a:alpha val="80000"/>
            </a:srgbClr>
          </a:solidFill>
          <a:ln/>
        </p:spPr>
        <p:txBody>
          <a:bodyPr/>
          <a:lstStyle/>
          <a:p>
            <a:endParaRPr lang="en-NZ"/>
          </a:p>
        </p:txBody>
      </p:sp>
      <p:sp>
        <p:nvSpPr>
          <p:cNvPr id="46" name="Shape 44"/>
          <p:cNvSpPr/>
          <p:nvPr/>
        </p:nvSpPr>
        <p:spPr>
          <a:xfrm>
            <a:off x="9750247" y="4617720"/>
            <a:ext cx="268834" cy="274320"/>
          </a:xfrm>
          <a:prstGeom prst="rect">
            <a:avLst/>
          </a:prstGeom>
          <a:solidFill>
            <a:srgbClr val="8B2635"/>
          </a:solidFill>
          <a:ln/>
        </p:spPr>
        <p:txBody>
          <a:bodyPr/>
          <a:lstStyle/>
          <a:p>
            <a:endParaRPr lang="en-NZ"/>
          </a:p>
        </p:txBody>
      </p:sp>
      <p:sp>
        <p:nvSpPr>
          <p:cNvPr id="47" name="Shape 45"/>
          <p:cNvSpPr/>
          <p:nvPr/>
        </p:nvSpPr>
        <p:spPr>
          <a:xfrm>
            <a:off x="9811512" y="4965192"/>
            <a:ext cx="146304" cy="146304"/>
          </a:xfrm>
          <a:prstGeom prst="rect">
            <a:avLst/>
          </a:prstGeom>
          <a:solidFill>
            <a:srgbClr val="8B2635"/>
          </a:solidFill>
          <a:ln/>
        </p:spPr>
        <p:txBody>
          <a:bodyPr/>
          <a:lstStyle/>
          <a:p>
            <a:endParaRPr lang="en-NZ"/>
          </a:p>
        </p:txBody>
      </p:sp>
      <p:sp>
        <p:nvSpPr>
          <p:cNvPr id="48" name="Shape 46"/>
          <p:cNvSpPr/>
          <p:nvPr/>
        </p:nvSpPr>
        <p:spPr>
          <a:xfrm>
            <a:off x="1024128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49" name="Shape 47"/>
          <p:cNvSpPr/>
          <p:nvPr/>
        </p:nvSpPr>
        <p:spPr>
          <a:xfrm>
            <a:off x="10241280" y="2587752"/>
            <a:ext cx="384048" cy="45720"/>
          </a:xfrm>
          <a:prstGeom prst="rect">
            <a:avLst/>
          </a:prstGeom>
          <a:solidFill>
            <a:srgbClr val="6B655C">
              <a:alpha val="80000"/>
            </a:srgbClr>
          </a:solidFill>
          <a:ln/>
        </p:spPr>
        <p:txBody>
          <a:bodyPr/>
          <a:lstStyle/>
          <a:p>
            <a:endParaRPr lang="en-NZ"/>
          </a:p>
        </p:txBody>
      </p:sp>
      <p:sp>
        <p:nvSpPr>
          <p:cNvPr id="50" name="Shape 48"/>
          <p:cNvSpPr/>
          <p:nvPr/>
        </p:nvSpPr>
        <p:spPr>
          <a:xfrm>
            <a:off x="10298887" y="4023360"/>
            <a:ext cx="268834" cy="868680"/>
          </a:xfrm>
          <a:prstGeom prst="rect">
            <a:avLst/>
          </a:prstGeom>
          <a:solidFill>
            <a:srgbClr val="8B2635"/>
          </a:solidFill>
          <a:ln/>
        </p:spPr>
        <p:txBody>
          <a:bodyPr/>
          <a:lstStyle/>
          <a:p>
            <a:endParaRPr lang="en-NZ"/>
          </a:p>
        </p:txBody>
      </p:sp>
      <p:sp>
        <p:nvSpPr>
          <p:cNvPr id="51" name="Shape 49"/>
          <p:cNvSpPr/>
          <p:nvPr/>
        </p:nvSpPr>
        <p:spPr>
          <a:xfrm>
            <a:off x="10360152" y="4965192"/>
            <a:ext cx="146304" cy="146304"/>
          </a:xfrm>
          <a:prstGeom prst="triangle">
            <a:avLst/>
          </a:prstGeom>
          <a:solidFill>
            <a:srgbClr val="8B2635"/>
          </a:solidFill>
          <a:ln/>
        </p:spPr>
        <p:txBody>
          <a:bodyPr/>
          <a:lstStyle/>
          <a:p>
            <a:endParaRPr lang="en-NZ"/>
          </a:p>
        </p:txBody>
      </p:sp>
      <p:sp>
        <p:nvSpPr>
          <p:cNvPr id="52" name="Shape 50"/>
          <p:cNvSpPr/>
          <p:nvPr/>
        </p:nvSpPr>
        <p:spPr>
          <a:xfrm>
            <a:off x="1078992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53" name="Shape 51"/>
          <p:cNvSpPr/>
          <p:nvPr/>
        </p:nvSpPr>
        <p:spPr>
          <a:xfrm>
            <a:off x="10789920" y="2587752"/>
            <a:ext cx="384048" cy="45720"/>
          </a:xfrm>
          <a:prstGeom prst="rect">
            <a:avLst/>
          </a:prstGeom>
          <a:solidFill>
            <a:srgbClr val="6B655C">
              <a:alpha val="80000"/>
            </a:srgbClr>
          </a:solidFill>
          <a:ln/>
        </p:spPr>
        <p:txBody>
          <a:bodyPr/>
          <a:lstStyle/>
          <a:p>
            <a:endParaRPr lang="en-NZ"/>
          </a:p>
        </p:txBody>
      </p:sp>
      <p:sp>
        <p:nvSpPr>
          <p:cNvPr id="54" name="Shape 52"/>
          <p:cNvSpPr/>
          <p:nvPr/>
        </p:nvSpPr>
        <p:spPr>
          <a:xfrm>
            <a:off x="10847527" y="4526280"/>
            <a:ext cx="268834" cy="365760"/>
          </a:xfrm>
          <a:prstGeom prst="rect">
            <a:avLst/>
          </a:prstGeom>
          <a:solidFill>
            <a:srgbClr val="8B2635"/>
          </a:solidFill>
          <a:ln/>
        </p:spPr>
        <p:txBody>
          <a:bodyPr/>
          <a:lstStyle/>
          <a:p>
            <a:endParaRPr lang="en-NZ"/>
          </a:p>
        </p:txBody>
      </p:sp>
      <p:sp>
        <p:nvSpPr>
          <p:cNvPr id="55" name="Shape 53"/>
          <p:cNvSpPr/>
          <p:nvPr/>
        </p:nvSpPr>
        <p:spPr>
          <a:xfrm>
            <a:off x="10908792" y="4965192"/>
            <a:ext cx="146304" cy="146304"/>
          </a:xfrm>
          <a:prstGeom prst="rect">
            <a:avLst/>
          </a:prstGeom>
          <a:solidFill>
            <a:srgbClr val="8B2635"/>
          </a:solidFill>
          <a:ln/>
        </p:spPr>
        <p:txBody>
          <a:bodyPr/>
          <a:lstStyle/>
          <a:p>
            <a:endParaRPr lang="en-NZ"/>
          </a:p>
        </p:txBody>
      </p:sp>
      <p:sp>
        <p:nvSpPr>
          <p:cNvPr id="56" name="Text 54"/>
          <p:cNvSpPr/>
          <p:nvPr/>
        </p:nvSpPr>
        <p:spPr>
          <a:xfrm>
            <a:off x="4800600" y="5212080"/>
            <a:ext cx="6720840" cy="320040"/>
          </a:xfrm>
          <a:prstGeom prst="rect">
            <a:avLst/>
          </a:prstGeom>
          <a:noFill/>
          <a:ln/>
        </p:spPr>
        <p:txBody>
          <a:bodyPr wrap="square" rtlCol="0" anchor="ctr"/>
          <a:lstStyle/>
          <a:p>
            <a:pPr marL="0" indent="0" algn="ctr">
              <a:buNone/>
            </a:pPr>
            <a:r>
              <a:rPr lang="en-US" sz="1150" dirty="0">
                <a:solidFill>
                  <a:srgbClr val="6B655C"/>
                </a:solidFill>
                <a:latin typeface="Calibri" pitchFamily="34" charset="0"/>
                <a:ea typeface="Calibri" pitchFamily="34" charset="-122"/>
                <a:cs typeface="Calibri" pitchFamily="34" charset="-120"/>
              </a:rPr>
              <a:t>■ people    ▲ vehicles   ·   bars show actual against the expected level, by mode</a:t>
            </a:r>
            <a:endParaRPr lang="en-US" sz="1150" dirty="0"/>
          </a:p>
        </p:txBody>
      </p:sp>
      <p:sp>
        <p:nvSpPr>
          <p:cNvPr id="57" name="Text 55"/>
          <p:cNvSpPr/>
          <p:nvPr/>
        </p:nvSpPr>
        <p:spPr>
          <a:xfrm>
            <a:off x="5029200" y="5577840"/>
            <a:ext cx="6263640" cy="457200"/>
          </a:xfrm>
          <a:prstGeom prst="rect">
            <a:avLst/>
          </a:prstGeom>
          <a:noFill/>
          <a:ln/>
        </p:spPr>
        <p:txBody>
          <a:bodyPr wrap="square" rtlCol="0" anchor="ctr"/>
          <a:lstStyle/>
          <a:p>
            <a:pPr marL="0" indent="0" algn="ctr">
              <a:lnSpc>
                <a:spcPct val="105000"/>
              </a:lnSpc>
              <a:buNone/>
            </a:pPr>
            <a:r>
              <a:rPr lang="en-US" sz="1350" i="1" dirty="0">
                <a:solidFill>
                  <a:srgbClr val="1A1815"/>
                </a:solidFill>
                <a:latin typeface="Cambria" pitchFamily="34" charset="0"/>
                <a:ea typeface="Cambria" pitchFamily="34" charset="-122"/>
                <a:cs typeface="Cambria" pitchFamily="34" charset="-120"/>
              </a:rPr>
              <a:t>You don’t read a z-score. Actual falls far below what a normal Thursday expects — and the gap is the emergency.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1F3D2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FAF8F4"/>
                </a:solidFill>
                <a:latin typeface="Cambria" pitchFamily="34" charset="0"/>
                <a:ea typeface="Cambria" pitchFamily="34" charset="-122"/>
                <a:cs typeface="Cambria" pitchFamily="34" charset="-120"/>
              </a:rPr>
              <a:t>It refuses to panic — and it’s built to extend</a:t>
            </a:r>
            <a:endParaRPr lang="en-US" sz="3100" dirty="0"/>
          </a:p>
        </p:txBody>
      </p:sp>
      <p:sp>
        <p:nvSpPr>
          <p:cNvPr id="3" name="Text 1"/>
          <p:cNvSpPr/>
          <p:nvPr/>
        </p:nvSpPr>
        <p:spPr>
          <a:xfrm>
            <a:off x="685800" y="1417320"/>
            <a:ext cx="5120640" cy="320040"/>
          </a:xfrm>
          <a:prstGeom prst="rect">
            <a:avLst/>
          </a:prstGeom>
          <a:noFill/>
          <a:ln/>
        </p:spPr>
        <p:txBody>
          <a:bodyPr wrap="square" rtlCol="0" anchor="ctr"/>
          <a:lstStyle/>
          <a:p>
            <a:pPr marL="0" indent="0">
              <a:buNone/>
            </a:pPr>
            <a:r>
              <a:rPr lang="en-US" sz="1300" b="1" kern="0" spc="100" dirty="0">
                <a:solidFill>
                  <a:srgbClr val="E88BA0"/>
                </a:solidFill>
                <a:latin typeface="Calibri" pitchFamily="34" charset="0"/>
                <a:ea typeface="Calibri" pitchFamily="34" charset="-122"/>
                <a:cs typeface="Calibri" pitchFamily="34" charset="-120"/>
              </a:rPr>
              <a:t>HONEST BY DESIGN</a:t>
            </a:r>
            <a:endParaRPr lang="en-US" sz="1300" dirty="0"/>
          </a:p>
        </p:txBody>
      </p:sp>
      <p:sp>
        <p:nvSpPr>
          <p:cNvPr id="4" name="Text 2"/>
          <p:cNvSpPr/>
          <p:nvPr/>
        </p:nvSpPr>
        <p:spPr>
          <a:xfrm>
            <a:off x="685800" y="1828800"/>
            <a:ext cx="5166360" cy="73152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Not live.  </a:t>
            </a:r>
            <a:r>
              <a:rPr lang="en-US" sz="1400" dirty="0">
                <a:solidFill>
                  <a:srgbClr val="CFE0D6"/>
                </a:solidFill>
                <a:latin typeface="Calibri" pitchFamily="34" charset="0"/>
                <a:ea typeface="Calibri" pitchFamily="34" charset="-122"/>
                <a:cs typeface="Calibri" pitchFamily="34" charset="-120"/>
              </a:rPr>
              <a:t>The feed is T+1 — a next-morning and after-action tool, never present tense.</a:t>
            </a:r>
            <a:endParaRPr lang="en-US" sz="1400" dirty="0"/>
          </a:p>
        </p:txBody>
      </p:sp>
      <p:sp>
        <p:nvSpPr>
          <p:cNvPr id="5" name="Text 3"/>
          <p:cNvSpPr/>
          <p:nvPr/>
        </p:nvSpPr>
        <p:spPr>
          <a:xfrm>
            <a:off x="685800" y="2670048"/>
            <a:ext cx="5166360" cy="73152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Missing ≠ zero.  </a:t>
            </a:r>
            <a:r>
              <a:rPr lang="en-US" sz="1400" dirty="0">
                <a:solidFill>
                  <a:srgbClr val="CFE0D6"/>
                </a:solidFill>
                <a:latin typeface="Calibri" pitchFamily="34" charset="0"/>
                <a:ea typeface="Calibri" pitchFamily="34" charset="-122"/>
                <a:cs typeface="Calibri" pitchFamily="34" charset="-120"/>
              </a:rPr>
              <a:t>A silent sensor draws as a break in the line, never as a low value.</a:t>
            </a:r>
            <a:endParaRPr lang="en-US" sz="1400" dirty="0"/>
          </a:p>
        </p:txBody>
      </p:sp>
      <p:sp>
        <p:nvSpPr>
          <p:cNvPr id="6" name="Text 4"/>
          <p:cNvSpPr/>
          <p:nvPr/>
        </p:nvSpPr>
        <p:spPr>
          <a:xfrm>
            <a:off x="685800" y="3511296"/>
            <a:ext cx="5166360" cy="73152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Guarded baselines.  </a:t>
            </a:r>
            <a:r>
              <a:rPr lang="en-US" sz="1400" dirty="0">
                <a:solidFill>
                  <a:srgbClr val="CFE0D6"/>
                </a:solidFill>
                <a:latin typeface="Calibri" pitchFamily="34" charset="0"/>
                <a:ea typeface="Calibri" pitchFamily="34" charset="-122"/>
                <a:cs typeface="Calibri" pitchFamily="34" charset="-120"/>
              </a:rPr>
              <a:t>Public holidays and broken ingests are excluded from every comparison.</a:t>
            </a:r>
            <a:endParaRPr lang="en-US" sz="1400" dirty="0"/>
          </a:p>
        </p:txBody>
      </p:sp>
      <p:sp>
        <p:nvSpPr>
          <p:cNvPr id="7" name="Text 5"/>
          <p:cNvSpPr/>
          <p:nvPr/>
        </p:nvSpPr>
        <p:spPr>
          <a:xfrm>
            <a:off x="685800" y="4352544"/>
            <a:ext cx="5166360" cy="73152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It admits blindness.  </a:t>
            </a:r>
            <a:r>
              <a:rPr lang="en-US" sz="1400" dirty="0">
                <a:solidFill>
                  <a:srgbClr val="CFE0D6"/>
                </a:solidFill>
                <a:latin typeface="Calibri" pitchFamily="34" charset="0"/>
                <a:ea typeface="Calibri" pitchFamily="34" charset="-122"/>
                <a:cs typeface="Calibri" pitchFamily="34" charset="-120"/>
              </a:rPr>
              <a:t>When it cannot see, it greys the map rather than calling a false −65%.</a:t>
            </a:r>
            <a:endParaRPr lang="en-US" sz="1400" dirty="0"/>
          </a:p>
        </p:txBody>
      </p:sp>
      <p:sp>
        <p:nvSpPr>
          <p:cNvPr id="8" name="Shape 6"/>
          <p:cNvSpPr/>
          <p:nvPr/>
        </p:nvSpPr>
        <p:spPr>
          <a:xfrm>
            <a:off x="6172200" y="1463040"/>
            <a:ext cx="0" cy="4206240"/>
          </a:xfrm>
          <a:prstGeom prst="line">
            <a:avLst/>
          </a:prstGeom>
          <a:noFill/>
          <a:ln w="12700">
            <a:solidFill>
              <a:srgbClr val="3E5A4C"/>
            </a:solidFill>
            <a:prstDash val="solid"/>
          </a:ln>
        </p:spPr>
        <p:txBody>
          <a:bodyPr/>
          <a:lstStyle/>
          <a:p>
            <a:endParaRPr lang="en-NZ"/>
          </a:p>
        </p:txBody>
      </p:sp>
      <p:sp>
        <p:nvSpPr>
          <p:cNvPr id="9" name="Text 7"/>
          <p:cNvSpPr/>
          <p:nvPr/>
        </p:nvSpPr>
        <p:spPr>
          <a:xfrm>
            <a:off x="6492240" y="1417320"/>
            <a:ext cx="5120640" cy="320040"/>
          </a:xfrm>
          <a:prstGeom prst="rect">
            <a:avLst/>
          </a:prstGeom>
          <a:noFill/>
          <a:ln/>
        </p:spPr>
        <p:txBody>
          <a:bodyPr wrap="square" rtlCol="0" anchor="ctr"/>
          <a:lstStyle/>
          <a:p>
            <a:pPr marL="0" indent="0">
              <a:buNone/>
            </a:pPr>
            <a:r>
              <a:rPr lang="en-US" sz="1300" b="1" kern="0" spc="100" dirty="0">
                <a:solidFill>
                  <a:srgbClr val="8FBFB0"/>
                </a:solidFill>
                <a:latin typeface="Calibri" pitchFamily="34" charset="0"/>
                <a:ea typeface="Calibri" pitchFamily="34" charset="-122"/>
                <a:cs typeface="Calibri" pitchFamily="34" charset="-120"/>
              </a:rPr>
              <a:t>BUILT TO EXTEND</a:t>
            </a:r>
            <a:endParaRPr lang="en-US" sz="1300" dirty="0"/>
          </a:p>
        </p:txBody>
      </p:sp>
      <p:sp>
        <p:nvSpPr>
          <p:cNvPr id="10" name="Text 8"/>
          <p:cNvSpPr/>
          <p:nvPr/>
        </p:nvSpPr>
        <p:spPr>
          <a:xfrm>
            <a:off x="6492240" y="1828800"/>
            <a:ext cx="5029200" cy="82296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Modular platform.  </a:t>
            </a:r>
            <a:r>
              <a:rPr lang="en-US" sz="1400" dirty="0">
                <a:solidFill>
                  <a:srgbClr val="CFE0D6"/>
                </a:solidFill>
                <a:latin typeface="Calibri" pitchFamily="34" charset="0"/>
                <a:ea typeface="Calibri" pitchFamily="34" charset="-122"/>
                <a:cs typeface="Calibri" pitchFamily="34" charset="-120"/>
              </a:rPr>
              <a:t>Add causation feeds — weather, cruise ships, road closures, warnings — as they arrive.</a:t>
            </a:r>
            <a:endParaRPr lang="en-US" sz="1400" dirty="0"/>
          </a:p>
        </p:txBody>
      </p:sp>
      <p:sp>
        <p:nvSpPr>
          <p:cNvPr id="11" name="Text 9"/>
          <p:cNvSpPr/>
          <p:nvPr/>
        </p:nvSpPr>
        <p:spPr>
          <a:xfrm>
            <a:off x="6492240" y="2743200"/>
            <a:ext cx="5029200" cy="82296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Derived risks.  </a:t>
            </a:r>
            <a:r>
              <a:rPr lang="en-US" sz="1400" dirty="0">
                <a:solidFill>
                  <a:srgbClr val="CFE0D6"/>
                </a:solidFill>
                <a:latin typeface="Calibri" pitchFamily="34" charset="0"/>
                <a:ea typeface="Calibri" pitchFamily="34" charset="-122"/>
                <a:cs typeface="Calibri" pitchFamily="34" charset="-120"/>
              </a:rPr>
              <a:t>Score new risks on top of the same baseline-vs-actual spine.</a:t>
            </a:r>
            <a:endParaRPr lang="en-US" sz="1400" dirty="0"/>
          </a:p>
        </p:txBody>
      </p:sp>
      <p:sp>
        <p:nvSpPr>
          <p:cNvPr id="12" name="Text 10"/>
          <p:cNvSpPr/>
          <p:nvPr/>
        </p:nvSpPr>
        <p:spPr>
          <a:xfrm>
            <a:off x="6492240" y="3657600"/>
            <a:ext cx="5029200" cy="82296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Outputs compose.  </a:t>
            </a:r>
            <a:r>
              <a:rPr lang="en-US" sz="1400" dirty="0">
                <a:solidFill>
                  <a:srgbClr val="CFE0D6"/>
                </a:solidFill>
                <a:latin typeface="Calibri" pitchFamily="34" charset="0"/>
                <a:ea typeface="Calibri" pitchFamily="34" charset="-122"/>
                <a:cs typeface="Calibri" pitchFamily="34" charset="-120"/>
              </a:rPr>
              <a:t>GeoJSON, a feed or an API — it slots into the shared common operating picture.</a:t>
            </a:r>
            <a:endParaRPr lang="en-US" sz="1400" dirty="0"/>
          </a:p>
        </p:txBody>
      </p:sp>
      <p:sp>
        <p:nvSpPr>
          <p:cNvPr id="13" name="Shape 11"/>
          <p:cNvSpPr/>
          <p:nvPr/>
        </p:nvSpPr>
        <p:spPr>
          <a:xfrm>
            <a:off x="0" y="5943600"/>
            <a:ext cx="12191695" cy="914"/>
          </a:xfrm>
          <a:prstGeom prst="rect">
            <a:avLst/>
          </a:prstGeom>
          <a:ln/>
        </p:spPr>
        <p:txBody>
          <a:bodyPr/>
          <a:lstStyle/>
          <a:p>
            <a:endParaRPr lang="en-NZ"/>
          </a:p>
        </p:txBody>
      </p:sp>
      <p:sp>
        <p:nvSpPr>
          <p:cNvPr id="14" name="Text 12"/>
          <p:cNvSpPr/>
          <p:nvPr/>
        </p:nvSpPr>
        <p:spPr>
          <a:xfrm>
            <a:off x="685800" y="5943600"/>
            <a:ext cx="10789920" cy="502920"/>
          </a:xfrm>
          <a:prstGeom prst="rect">
            <a:avLst/>
          </a:prstGeom>
          <a:noFill/>
          <a:ln/>
        </p:spPr>
        <p:txBody>
          <a:bodyPr wrap="square" rtlCol="0" anchor="ctr"/>
          <a:lstStyle/>
          <a:p>
            <a:pPr marL="0" indent="0" algn="ctr">
              <a:buNone/>
            </a:pPr>
            <a:r>
              <a:rPr lang="en-US" sz="1500" i="1" dirty="0">
                <a:solidFill>
                  <a:srgbClr val="D9E7DF"/>
                </a:solidFill>
                <a:latin typeface="Cambria" pitchFamily="34" charset="0"/>
                <a:ea typeface="Cambria" pitchFamily="34" charset="-122"/>
                <a:cs typeface="Cambria" pitchFamily="34" charset="-120"/>
              </a:rPr>
              <a:t>“A tool that visibly declines to panic is worth more to an emergency manager than one that only fires correctly.”</a:t>
            </a:r>
            <a:endParaRPr lang="en-US" sz="1500" dirty="0"/>
          </a:p>
        </p:txBody>
      </p:sp>
      <p:sp>
        <p:nvSpPr>
          <p:cNvPr id="15" name="Text 13"/>
          <p:cNvSpPr/>
          <p:nvPr/>
        </p:nvSpPr>
        <p:spPr>
          <a:xfrm>
            <a:off x="0" y="6510528"/>
            <a:ext cx="12191695" cy="274320"/>
          </a:xfrm>
          <a:prstGeom prst="rect">
            <a:avLst/>
          </a:prstGeom>
          <a:noFill/>
          <a:ln/>
        </p:spPr>
        <p:txBody>
          <a:bodyPr wrap="square" rtlCol="0" anchor="ctr"/>
          <a:lstStyle/>
          <a:p>
            <a:pPr marL="0" indent="0" algn="ctr">
              <a:buNone/>
            </a:pPr>
            <a:r>
              <a:rPr lang="en-US" sz="1000" dirty="0">
                <a:solidFill>
                  <a:srgbClr val="8FA79A"/>
                </a:solidFill>
                <a:latin typeface="Calibri" pitchFamily="34" charset="0"/>
                <a:ea typeface="Calibri" pitchFamily="34" charset="-122"/>
                <a:cs typeface="Calibri" pitchFamily="34" charset="-120"/>
              </a:rPr>
              <a:t>Movement: WCC / VivaCity via Pōneke Travel Insights.  Hazard-planning material, not live emergency information — in an emergency, call 111.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1452</Words>
  <Application>Microsoft Macintosh PowerPoint</Application>
  <PresentationFormat>Widescreen</PresentationFormat>
  <Paragraphs>170</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Tim McDermott</cp:lastModifiedBy>
  <cp:revision>4</cp:revision>
  <dcterms:created xsi:type="dcterms:W3CDTF">2026-08-08T00:15:46Z</dcterms:created>
  <dcterms:modified xsi:type="dcterms:W3CDTF">2026-08-08T04:04:34Z</dcterms:modified>
</cp:coreProperties>
</file>