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003cc8aaaa4764" /><Relationship Type="http://schemas.openxmlformats.org/officeDocument/2006/relationships/extended-properties" Target="/docProps/app.xml" Id="R8ade94d52bf14450" /><Relationship Type="http://schemas.openxmlformats.org/officeDocument/2006/relationships/officeDocument" Target="/ppt/presentation.xml" Id="R49241b77882d4cc6" /></Relationships>
</file>

<file path=ppt/presentation.xml><?xml version="1.0" encoding="utf-8"?>
<p:presentation xmlns:p="http://schemas.openxmlformats.org/presentationml/2006/main">
  <p:sldMasterIdLst>
    <p:sldMasterId xmlns:r="http://schemas.openxmlformats.org/officeDocument/2006/relationships" id="2147483648" r:id="R7933a94f8aab451a"/>
  </p:sldMasterIdLst>
  <p:notesMasterIdLst>
    <p:notesMasterId xmlns:r="http://schemas.openxmlformats.org/officeDocument/2006/relationships" r:id="R5e90be324d314620"/>
  </p:notesMasterIdLst>
  <p:sldIdLst>
    <p:sldId xmlns:r="http://schemas.openxmlformats.org/officeDocument/2006/relationships" id="256" r:id="R8b4d6841ddab4275"/>
    <p:sldId xmlns:r="http://schemas.openxmlformats.org/officeDocument/2006/relationships" id="257" r:id="Rc469b0fdbc884986"/>
    <p:sldId xmlns:r="http://schemas.openxmlformats.org/officeDocument/2006/relationships" id="258" r:id="R67d4a70395bb43e0"/>
    <p:sldId xmlns:r="http://schemas.openxmlformats.org/officeDocument/2006/relationships" id="259" r:id="Re352023ef7434d28"/>
    <p:sldId xmlns:r="http://schemas.openxmlformats.org/officeDocument/2006/relationships" id="260" r:id="R6e5e3eeed9d24f6d"/>
    <p:sldId xmlns:r="http://schemas.openxmlformats.org/officeDocument/2006/relationships" id="261" r:id="Rcefafd2c63cc49a1"/>
    <p:sldId xmlns:r="http://schemas.openxmlformats.org/officeDocument/2006/relationships" id="262" r:id="R9343a181f1754338"/>
    <p:sldId xmlns:r="http://schemas.openxmlformats.org/officeDocument/2006/relationships" id="263" r:id="R1764c90920374974"/>
    <p:sldId xmlns:r="http://schemas.openxmlformats.org/officeDocument/2006/relationships" id="264" r:id="R430781d5790a421b"/>
    <p:sldId xmlns:r="http://schemas.openxmlformats.org/officeDocument/2006/relationships" id="265" r:id="R767a1dd1129042c1"/>
    <p:sldId xmlns:r="http://schemas.openxmlformats.org/officeDocument/2006/relationships" id="266" r:id="Rafe80194926447d1"/>
    <p:sldId xmlns:r="http://schemas.openxmlformats.org/officeDocument/2006/relationships" id="267" r:id="Rc6607e9788aa400a"/>
    <p:sldId xmlns:r="http://schemas.openxmlformats.org/officeDocument/2006/relationships" id="268" r:id="R6a1e125fed7d49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fe8d7b454aa456f" /><Relationship Type="http://schemas.openxmlformats.org/officeDocument/2006/relationships/slideMaster" Target="/ppt/slideMasters/slideMaster1.xml" Id="R7933a94f8aab451a" /><Relationship Type="http://schemas.openxmlformats.org/officeDocument/2006/relationships/notesMaster" Target="/ppt/notesMasters/notesMaster1.xml" Id="R5e90be324d314620" /><Relationship Type="http://schemas.openxmlformats.org/officeDocument/2006/relationships/presProps" Target="/ppt/presProps.xml" Id="R8822397b8afb48a0" /><Relationship Type="http://schemas.openxmlformats.org/officeDocument/2006/relationships/viewProps" Target="/ppt/viewProps.xml" Id="R99471115c5504b04" /><Relationship Type="http://schemas.openxmlformats.org/officeDocument/2006/relationships/tableStyles" Target="/ppt/tableStyles.xml" Id="R4abea6f0dee94df2" /><Relationship Type="http://schemas.openxmlformats.org/officeDocument/2006/relationships/slide" Target="/ppt/slides/slide1.xml" Id="R8b4d6841ddab4275" /><Relationship Type="http://schemas.openxmlformats.org/officeDocument/2006/relationships/slide" Target="/ppt/slides/slide2.xml" Id="Rc469b0fdbc884986" /><Relationship Type="http://schemas.openxmlformats.org/officeDocument/2006/relationships/slide" Target="/ppt/slides/slide3.xml" Id="R67d4a70395bb43e0" /><Relationship Type="http://schemas.openxmlformats.org/officeDocument/2006/relationships/slide" Target="/ppt/slides/slide4.xml" Id="Re352023ef7434d28" /><Relationship Type="http://schemas.openxmlformats.org/officeDocument/2006/relationships/slide" Target="/ppt/slides/slide5.xml" Id="R6e5e3eeed9d24f6d" /><Relationship Type="http://schemas.openxmlformats.org/officeDocument/2006/relationships/slide" Target="/ppt/slides/slide6.xml" Id="Rcefafd2c63cc49a1" /><Relationship Type="http://schemas.openxmlformats.org/officeDocument/2006/relationships/slide" Target="/ppt/slides/slide7.xml" Id="R9343a181f1754338" /><Relationship Type="http://schemas.openxmlformats.org/officeDocument/2006/relationships/slide" Target="/ppt/slides/slide8.xml" Id="R1764c90920374974" /><Relationship Type="http://schemas.openxmlformats.org/officeDocument/2006/relationships/slide" Target="/ppt/slides/slide9.xml" Id="R430781d5790a421b" /><Relationship Type="http://schemas.openxmlformats.org/officeDocument/2006/relationships/slide" Target="/ppt/slides/slide10.xml" Id="R767a1dd1129042c1" /><Relationship Type="http://schemas.openxmlformats.org/officeDocument/2006/relationships/slide" Target="/ppt/slides/slide11.xml" Id="Rafe80194926447d1" /><Relationship Type="http://schemas.openxmlformats.org/officeDocument/2006/relationships/slide" Target="/ppt/slides/slide12.xml" Id="Rc6607e9788aa400a" /><Relationship Type="http://schemas.openxmlformats.org/officeDocument/2006/relationships/slide" Target="/ppt/slides/slide13.xml" Id="R6a1e125fed7d49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04989ac4fc42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a18cc994854654" /><Relationship Type="http://schemas.openxmlformats.org/officeDocument/2006/relationships/notesMaster" Target="/ppt/notesMasters/notesMaster1.xml" Id="R3894f5dd5b454c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e7b324301c45ec" /><Relationship Type="http://schemas.openxmlformats.org/officeDocument/2006/relationships/notesMaster" Target="/ppt/notesMasters/notesMaster1.xml" Id="R812ba5e4dc0349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57f4e3dd2c4b8a" /><Relationship Type="http://schemas.openxmlformats.org/officeDocument/2006/relationships/notesMaster" Target="/ppt/notesMasters/notesMaster1.xml" Id="Red036a25885143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e93dd4ad56431c" /><Relationship Type="http://schemas.openxmlformats.org/officeDocument/2006/relationships/notesMaster" Target="/ppt/notesMasters/notesMaster1.xml" Id="Rf66757c23ace4d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4f48b1b4d5401c" /><Relationship Type="http://schemas.openxmlformats.org/officeDocument/2006/relationships/notesMaster" Target="/ppt/notesMasters/notesMaster1.xml" Id="R9409149a91c446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be129ee2d840a3" /><Relationship Type="http://schemas.openxmlformats.org/officeDocument/2006/relationships/notesMaster" Target="/ppt/notesMasters/notesMaster1.xml" Id="R535169b0ac134b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ae223129e4465f" /><Relationship Type="http://schemas.openxmlformats.org/officeDocument/2006/relationships/notesMaster" Target="/ppt/notesMasters/notesMaster1.xml" Id="Rbc27163b056246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95b2de2e1949a2" /><Relationship Type="http://schemas.openxmlformats.org/officeDocument/2006/relationships/notesMaster" Target="/ppt/notesMasters/notesMaster1.xml" Id="R3deb6280f1bc44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190a5cc4ee4bbe" /><Relationship Type="http://schemas.openxmlformats.org/officeDocument/2006/relationships/notesMaster" Target="/ppt/notesMasters/notesMaster1.xml" Id="R6ccc1ed8f8514d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6216c388814379" /><Relationship Type="http://schemas.openxmlformats.org/officeDocument/2006/relationships/notesMaster" Target="/ppt/notesMasters/notesMaster1.xml" Id="R79afd22e10794a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aa5e5ecd374838" /><Relationship Type="http://schemas.openxmlformats.org/officeDocument/2006/relationships/notesMaster" Target="/ppt/notesMasters/notesMaster1.xml" Id="Rfac30eb97a5d44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023dfe5132476c" /><Relationship Type="http://schemas.openxmlformats.org/officeDocument/2006/relationships/notesMaster" Target="/ppt/notesMasters/notesMaster1.xml" Id="R3143ad77a8594b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029ea0c83d45e4" /><Relationship Type="http://schemas.openxmlformats.org/officeDocument/2006/relationships/notesMaster" Target="/ppt/notesMasters/notesMaster1.xml" Id="R4fa3c53fdc0940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Pōneke Pulse — Team 8, Problem 05. Wellington has a heartbeat; 128 cameras see it beat. The trace flatlines on the storm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WCC learns where people are affected from individual reports — slow and patchy. We want an early, automatic signal.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WCC learns where people are affected from individual reports — slow and patchy. We want an early, automatic signal.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moves: model the baseline by mode, measure the actual per edge, score the gap by location and population. Events reshape the expectation.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derived data product: point counters become weights along edges, so coverage becomes a network. 398 countlines -&gt; 128 sites -&gt; 147 edges. A closure between cameras still shows.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type each site by the ratio between modes, not the size of the drop. People-first fall = exposure hazard; cars-first = road closure; both = loss of access; people up cars down = open to people. Cannot type is a first-class verdict.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Proof: 23 Oct 2025, red wind warning, trains cancelled, -41% citywide. Actual bars fall far below the expected level; the gap is the emergency. Headline uses the 11-Thursday robust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Honest by design: T+1, missing != zero, guarded baselines, admits blindness. Built to extend: modular feeds, derived risks, composable outputs into the common operating picture.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view — citywide movement against forecast, with the map, risk read and ranked edges moving together.</a:t>
            </a:r>
          </a:p>
          <a:p xmlns:a="http://schemas.openxmlformats.org/drawingml/2006/main">
            <a:r>
              <a:t/>
            </a:r>
          </a:p>
          <a:p xmlns:a="http://schemas.openxmlformats.org/drawingml/2006/main">
            <a:r>
              <a:t>[Sources]</a:t>
            </a:r>
          </a:p>
          <a:p xmlns:a="http://schemas.openxmlformats.org/drawingml/2006/main">
            <a:r>
              <a:t>- Screenshot: team8/poc_1/web/e2e/shots/readme/week.png</a:t>
            </a:r>
          </a:p>
          <a:p xmlns:a="http://schemas.openxmlformats.org/drawingml/2006/main">
            <a:r>
              <a:t>- Description paraphrased from README.md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Streets view — camera sites ranked against baseline, with per-site traces and explicit refusal states.</a:t>
            </a:r>
          </a:p>
          <a:p xmlns:a="http://schemas.openxmlformats.org/drawingml/2006/main">
            <a:r>
              <a:t/>
            </a:r>
          </a:p>
          <a:p xmlns:a="http://schemas.openxmlformats.org/drawingml/2006/main">
            <a:r>
              <a:t>[Sources]</a:t>
            </a:r>
          </a:p>
          <a:p xmlns:a="http://schemas.openxmlformats.org/drawingml/2006/main">
            <a:r>
              <a:t>- Screenshot: team8/poc_1/web/e2e/shots/readme/streets.png</a:t>
            </a:r>
          </a:p>
          <a:p xmlns:a="http://schemas.openxmlformats.org/drawingml/2006/main">
            <a:r>
              <a:t>- Description paraphrased from README.md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Areas view — movement deviation crossed with hazard geography, with coverage limits alongside the alerts.</a:t>
            </a:r>
          </a:p>
          <a:p xmlns:a="http://schemas.openxmlformats.org/drawingml/2006/main">
            <a:r>
              <a:t/>
            </a:r>
          </a:p>
          <a:p xmlns:a="http://schemas.openxmlformats.org/drawingml/2006/main">
            <a:r>
              <a:t>[Sources]</a:t>
            </a:r>
          </a:p>
          <a:p xmlns:a="http://schemas.openxmlformats.org/drawingml/2006/main">
            <a:r>
              <a:t>- Screenshot: team8/poc_1/web/e2e/shots/readme/areas.png</a:t>
            </a:r>
          </a:p>
          <a:p xmlns:a="http://schemas.openxmlformats.org/drawingml/2006/main">
            <a:r>
              <a:t>- Description paraphrased from README.md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e89ccd2e11494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9426bc5c204bb6" /><Relationship Type="http://schemas.openxmlformats.org/officeDocument/2006/relationships/slideLayout" Target="/ppt/slideLayouts/slideLayout1.xml" Id="R443be86af91c49f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3be86af91c49f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9dfb72789f4922" /><Relationship Type="http://schemas.openxmlformats.org/officeDocument/2006/relationships/image" Target="/ppt/media/image.png" Id="R567a7ca998834f29" /><Relationship Type="http://schemas.openxmlformats.org/officeDocument/2006/relationships/notesSlide" Target="/ppt/notesSlides/notesSlide1.xml" Id="R5aa9631c352945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a8c18a545f46f3" /><Relationship Type="http://schemas.openxmlformats.org/officeDocument/2006/relationships/notesSlide" Target="/ppt/notesSlides/notesSlide2.xml" Id="R5877508a9a6646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01f317e2ce4e47" /><Relationship Type="http://schemas.openxmlformats.org/officeDocument/2006/relationships/image" Target="/ppt/media/image2.png" Id="R0be3ad1bd6f94af7" /><Relationship Type="http://schemas.openxmlformats.org/officeDocument/2006/relationships/image" Target="/ppt/media/image3.png" Id="R64c9b8927e264f63" /><Relationship Type="http://schemas.openxmlformats.org/officeDocument/2006/relationships/notesSlide" Target="/ppt/notesSlides/notesSlide3.xml" Id="Re928d8f543794d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c1ef27a944c449b" /><Relationship Type="http://schemas.openxmlformats.org/officeDocument/2006/relationships/notesSlide" Target="/ppt/notesSlides/notesSlide4.xml" Id="Rcd3344300da74b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4e1dd05c18484d" /><Relationship Type="http://schemas.openxmlformats.org/officeDocument/2006/relationships/notesSlide" Target="/ppt/notesSlides/notesSlide5.xml" Id="Rf5b349ce33d843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7dee0729374249" /><Relationship Type="http://schemas.openxmlformats.org/officeDocument/2006/relationships/notesSlide" Target="/ppt/notesSlides/notesSlide6.xml" Id="R3d8f2ec2d4f549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1f6248f0324517" /><Relationship Type="http://schemas.openxmlformats.org/officeDocument/2006/relationships/image" Target="/ppt/media/image4.png" Id="R2410fd962b554b0b" /><Relationship Type="http://schemas.openxmlformats.org/officeDocument/2006/relationships/notesSlide" Target="/ppt/notesSlides/notesSlide7.xml" Id="Rd58ce31777544a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1085ba63c440e5" /><Relationship Type="http://schemas.openxmlformats.org/officeDocument/2006/relationships/notesSlide" Target="/ppt/notesSlides/notesSlide8.xml" Id="Rff61d550a6394b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cd8da1fc864a1f" /><Relationship Type="http://schemas.openxmlformats.org/officeDocument/2006/relationships/notesSlide" Target="/ppt/notesSlides/notesSlide9.xml" Id="R64c39cff716143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1c8823300b841ed" /><Relationship Type="http://schemas.openxmlformats.org/officeDocument/2006/relationships/notesSlide" Target="/ppt/notesSlides/notesSlide10.xml" Id="R0064ccc488c840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b447b7175c348d2" /><Relationship Type="http://schemas.openxmlformats.org/officeDocument/2006/relationships/image" Target="/ppt/media/image4.png" Id="Rb19a53411fcc4a05" /><Relationship Type="http://schemas.openxmlformats.org/officeDocument/2006/relationships/notesSlide" Target="/ppt/notesSlides/notesSlide11.xml" Id="Ra256c0c37d6a4f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a46b990d234191" /><Relationship Type="http://schemas.openxmlformats.org/officeDocument/2006/relationships/image" Target="/ppt/media/image4.png" Id="Rc7846e83aec745f4" /><Relationship Type="http://schemas.openxmlformats.org/officeDocument/2006/relationships/notesSlide" Target="/ppt/notesSlides/notesSlide12.xml" Id="R74f85b6c9a134e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a0f667a716469a" /><Relationship Type="http://schemas.openxmlformats.org/officeDocument/2006/relationships/image" Target="/ppt/media/image4.png" Id="R8f00cc7d066c4b8d" /><Relationship Type="http://schemas.openxmlformats.org/officeDocument/2006/relationships/notesSlide" Target="/ppt/notesSlides/notesSlide13.xml" Id="R88bf1342fac240ff" /></Relationships>
</file>

<file path=ppt/slides/slide1.xml><?xml version="1.0" encoding="utf-8"?>
<p:sld xmlns:p="http://schemas.openxmlformats.org/presentationml/2006/main">
  <p:cSld>
    <p:bg>
      <p:bgPr>
        <a:solidFill xmlns:a="http://schemas.openxmlformats.org/drawingml/2006/main">
          <a:srgbClr val="1F3D2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47D402F-664B-479C-AE2A-F190DEA97383}"/>
              </a:ext>
            </a:extLst>
          </p:cNvPr>
          <p:cNvSpPr>
            <a:spLocks xmlns:a="http://schemas.openxmlformats.org/drawingml/2006/main" noGrp="1"/>
          </p:cNvSpPr>
          <p:nvPr/>
        </p:nvSpPr>
        <p:spPr>
          <a:xfrm xmlns:a="http://schemas.openxmlformats.org/drawingml/2006/main">
            <a:off x="0" y="502920"/>
            <a:ext cx="12191695"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400" b="1">
                <a:solidFill>
                  <a:srgbClr val="FAF8F4"/>
                </a:solidFill>
                <a:latin typeface="Cambria"/>
                <a:ea typeface="Cambria"/>
                <a:cs typeface="Cambria"/>
              </a:rPr>
              <a:t>Pōneke Pulse</a:t>
            </a:r>
            <a:endParaRPr sz="5400"/>
          </a:p>
        </p:txBody>
      </p:sp>
      <p:pic>
        <p:nvPicPr>
          <p:cNvPr id="9" name="Image 0"/>
          <p:cNvPicPr>
            <a:picLocks xmlns:a="http://schemas.openxmlformats.org/drawingml/2006/main" noChangeAspect="1"/>
          </p:cNvPicPr>
          <p:nvPr/>
        </p:nvPicPr>
        <p:blipFill>
          <a:blip xmlns:r="http://schemas.openxmlformats.org/officeDocument/2006/relationships" xmlns:a="http://schemas.openxmlformats.org/drawingml/2006/main" r:embed="R567a7ca998834f29"/>
          <a:stretch xmlns:a="http://schemas.openxmlformats.org/drawingml/2006/main">
            <a:fillRect l="0" t="0" r="0" b="0"/>
          </a:stretch>
        </p:blipFill>
        <p:spPr>
          <a:xfrm xmlns:a="http://schemas.openxmlformats.org/drawingml/2006/main">
            <a:off x="365760" y="1965960"/>
            <a:ext cx="11457432" cy="1828800"/>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74B8B7E1-E7F8-4D28-B458-A3AC9DB278B9}"/>
              </a:ext>
            </a:extLst>
          </p:cNvPr>
          <p:cNvSpPr>
            <a:spLocks xmlns:a="http://schemas.openxmlformats.org/drawingml/2006/main" noGrp="1"/>
          </p:cNvSpPr>
          <p:nvPr/>
        </p:nvSpPr>
        <p:spPr>
          <a:xfrm xmlns:a="http://schemas.openxmlformats.org/drawingml/2006/main">
            <a:off x="7498080" y="18288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100" i="1">
                <a:solidFill>
                  <a:srgbClr val="E88BA0"/>
                </a:solidFill>
                <a:latin typeface="Calibri"/>
                <a:ea typeface="Calibri"/>
                <a:cs typeface="Calibri"/>
              </a:rPr>
              <a:t>The day the city went quiet →</a:t>
            </a:r>
            <a:endParaRPr sz="1100"/>
          </a:p>
        </p:txBody>
      </p:sp>
      <p:sp>
        <p:nvSpPr>
          <p:cNvPr id="5" name="Text 2">
            <a:extLst xmlns:a="http://schemas.openxmlformats.org/drawingml/2006/main">
              <a:ext uri="{FF2B5EF4-FFF2-40B4-BE49-F238E27FC236}">
                <a16:creationId xmlns:a16="http://schemas.microsoft.com/office/drawing/2014/main" id="{12144283-9829-45D2-8BA9-C460CD08D141}"/>
              </a:ext>
            </a:extLst>
          </p:cNvPr>
          <p:cNvSpPr>
            <a:spLocks xmlns:a="http://schemas.openxmlformats.org/drawingml/2006/main" noGrp="1"/>
          </p:cNvSpPr>
          <p:nvPr/>
        </p:nvSpPr>
        <p:spPr>
          <a:xfrm xmlns:a="http://schemas.openxmlformats.org/drawingml/2006/main">
            <a:off x="1097280" y="4069080"/>
            <a:ext cx="99943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200" i="1">
                <a:solidFill>
                  <a:srgbClr val="D9E7DF"/>
                </a:solidFill>
                <a:latin typeface="Cambria"/>
                <a:ea typeface="Cambria"/>
                <a:cs typeface="Cambria"/>
              </a:rPr>
              <a:t>Wellington has a heartbeat — and 128 cameras are enough to see it beat.</a:t>
            </a:r>
            <a:endParaRPr sz="2200"/>
          </a:p>
        </p:txBody>
      </p:sp>
      <p:sp>
        <p:nvSpPr>
          <p:cNvPr id="6" name="Text 3">
            <a:extLst xmlns:a="http://schemas.openxmlformats.org/drawingml/2006/main">
              <a:ext uri="{FF2B5EF4-FFF2-40B4-BE49-F238E27FC236}">
                <a16:creationId xmlns:a16="http://schemas.microsoft.com/office/drawing/2014/main" id="{F31BC962-17D5-4BD4-A367-645DD0416B15}"/>
              </a:ext>
            </a:extLst>
          </p:cNvPr>
          <p:cNvSpPr>
            <a:spLocks xmlns:a="http://schemas.openxmlformats.org/drawingml/2006/main" noGrp="1"/>
          </p:cNvSpPr>
          <p:nvPr/>
        </p:nvSpPr>
        <p:spPr>
          <a:xfrm xmlns:a="http://schemas.openxmlformats.org/drawingml/2006/main">
            <a:off x="0" y="6172200"/>
            <a:ext cx="12191695"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a:solidFill>
                  <a:srgbClr val="9FB0AA"/>
                </a:solidFill>
                <a:latin typeface="Calibri"/>
                <a:ea typeface="Calibri"/>
                <a:cs typeface="Calibri"/>
              </a:rPr>
              <a:t>TEAM 8   ·   PROBLEM 05 — DETECT UNUSUAL CHANGES IN MOVEMENT   ·   IMPACT LAB WELLINGTON</a:t>
            </a:r>
            <a:endParaRPr sz="1200"/>
          </a:p>
        </p:txBody>
      </p:sp>
    </p:spTree>
    <p:extLst>
      <p:ext uri="{BB962C8B-B14F-4D97-AF65-F5344CB8AC3E}">
        <p14:creationId xmlns:p14="http://schemas.microsoft.com/office/powerpoint/2010/main" val="164103236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B74359F-B737-5C15-A790-2569EC7BD863}"/>
              </a:ext>
            </a:extLst>
          </p:cNvPr>
          <p:cNvSpPr>
            <a:spLocks xmlns:a="http://schemas.openxmlformats.org/drawingml/2006/main" noGrp="1"/>
          </p:cNvSpPr>
          <p:nvPr/>
        </p:nvSpPr>
        <p:spPr>
          <a:xfrm xmlns:a="http://schemas.openxmlformats.org/drawingml/2006/main">
            <a:off x="640080" y="548640"/>
            <a:ext cx="78638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300" b="1">
                <a:solidFill>
                  <a:srgbClr val="1A1815"/>
                </a:solidFill>
                <a:latin typeface="Cambria"/>
                <a:ea typeface="Cambria"/>
                <a:cs typeface="Cambria"/>
              </a:rPr>
              <a:t>Duty controllers lack data to make decisions</a:t>
            </a:r>
            <a:endParaRPr sz="3300"/>
          </a:p>
        </p:txBody>
      </p:sp>
      <p:sp>
        <p:nvSpPr>
          <p:cNvPr id="3" name="Text 1">
            <a:extLst xmlns:a="http://schemas.openxmlformats.org/drawingml/2006/main">
              <a:ext uri="{FF2B5EF4-FFF2-40B4-BE49-F238E27FC236}">
                <a16:creationId xmlns:a16="http://schemas.microsoft.com/office/drawing/2014/main" id="{0F85EDC4-566E-E51C-D63E-213929651170}"/>
              </a:ext>
            </a:extLst>
          </p:cNvPr>
          <p:cNvSpPr>
            <a:spLocks xmlns:a="http://schemas.openxmlformats.org/drawingml/2006/main" noGrp="1"/>
          </p:cNvSpPr>
          <p:nvPr/>
        </p:nvSpPr>
        <p:spPr>
          <a:xfrm xmlns:a="http://schemas.openxmlformats.org/drawingml/2006/main">
            <a:off x="640080" y="1508760"/>
            <a:ext cx="548640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ct val="115000"/>
              </a:lnSpc>
              <a:buNone/>
            </a:pPr>
            <a:r>
              <a:rPr sz="1700">
                <a:solidFill>
                  <a:srgbClr val="4A453D"/>
                </a:solidFill>
                <a:latin typeface="Calibri"/>
                <a:ea typeface="Calibri"/>
                <a:cs typeface="Calibri"/>
              </a:rPr>
              <a:t>Handovers are verbal and ad hoc</a:t>
            </a:r>
          </a:p>
          <a:p xmlns:a="http://schemas.openxmlformats.org/drawingml/2006/main">
            <a:pPr marL="0" indent="0" algn="l">
              <a:lnSpc>
                <a:spcPct val="115000"/>
              </a:lnSpc>
              <a:buNone/>
            </a:pPr>
            <a:r>
              <a:rPr sz="1700">
                <a:solidFill>
                  <a:srgbClr val="4A453D"/>
                </a:solidFill>
                <a:latin typeface="Calibri"/>
                <a:ea typeface="Calibri"/>
                <a:cs typeface="Calibri"/>
              </a:rPr>
              <a:t>Information passed on is what they think is important.</a:t>
            </a:r>
          </a:p>
          <a:p xmlns:a="http://schemas.openxmlformats.org/drawingml/2006/main">
            <a:pPr marL="0" indent="0" algn="l">
              <a:lnSpc>
                <a:spcPct val="115000"/>
              </a:lnSpc>
              <a:buNone/>
            </a:pPr>
            <a:r>
              <a:rPr sz="1700">
                <a:solidFill>
                  <a:srgbClr val="4A453D"/>
                </a:solidFill>
                <a:latin typeface="Calibri"/>
                <a:ea typeface="Calibri"/>
                <a:cs typeface="Calibri"/>
              </a:rPr>
              <a:t>There is no view of what normal people movement and distribution looks like</a:t>
            </a:r>
          </a:p>
          <a:p xmlns:a="http://schemas.openxmlformats.org/drawingml/2006/main">
            <a:pPr marL="0" indent="0" algn="l">
              <a:lnSpc>
                <a:spcPct val="115000"/>
              </a:lnSpc>
              <a:buNone/>
            </a:pPr>
            <a:r>
              <a:rPr sz="1700">
                <a:solidFill>
                  <a:srgbClr val="4A453D"/>
                </a:solidFill>
                <a:latin typeface="Calibri"/>
                <a:ea typeface="Calibri"/>
                <a:cs typeface="Calibri"/>
              </a:rPr>
              <a:t>Controllers lack empirical data to inform decisions</a:t>
            </a:r>
            <a:endParaRPr sz="1700"/>
          </a:p>
        </p:txBody>
      </p:sp>
      <p:sp>
        <p:nvSpPr>
          <p:cNvPr id="4" name="Shape 2">
            <a:extLst xmlns:a="http://schemas.openxmlformats.org/drawingml/2006/main">
              <a:ext uri="{FF2B5EF4-FFF2-40B4-BE49-F238E27FC236}">
                <a16:creationId xmlns:a16="http://schemas.microsoft.com/office/drawing/2014/main" id="{D2813975-42D6-F440-F201-0EBDA3CE1DBA}"/>
              </a:ext>
            </a:extLst>
          </p:cNvPr>
          <p:cNvSpPr>
            <a:spLocks xmlns:a="http://schemas.openxmlformats.org/drawingml/2006/main" noGrp="1"/>
          </p:cNvSpPr>
          <p:nvPr/>
        </p:nvSpPr>
        <p:spPr>
          <a:xfrm xmlns:a="http://schemas.openxmlformats.org/drawingml/2006/main">
            <a:off x="640080" y="3429000"/>
            <a:ext cx="5486400" cy="1280160"/>
          </a:xfrm>
          <a:prstGeom xmlns:a="http://schemas.openxmlformats.org/drawingml/2006/main" prst="roundRect">
            <a:avLst>
              <a:gd name="adj" fmla="val 6429"/>
            </a:avLst>
          </a:prstGeom>
          <a:solidFill xmlns:a="http://schemas.openxmlformats.org/drawingml/2006/main">
            <a:srgbClr val="E9E4D9"/>
          </a:solidFill>
          <a:ln xmlns:a="http://schemas.openxmlformats.org/drawingml/2006/main" w="12700">
            <a:solidFill>
              <a:srgbClr val="CEC8BD"/>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A7D6EA7F-C368-509F-FF55-C263F1772876}"/>
              </a:ext>
            </a:extLst>
          </p:cNvPr>
          <p:cNvSpPr>
            <a:spLocks xmlns:a="http://schemas.openxmlformats.org/drawingml/2006/main" noGrp="1"/>
          </p:cNvSpPr>
          <p:nvPr/>
        </p:nvSpPr>
        <p:spPr>
          <a:xfrm xmlns:a="http://schemas.openxmlformats.org/drawingml/2006/main">
            <a:off x="640080" y="3429000"/>
            <a:ext cx="100584" cy="1280160"/>
          </a:xfrm>
          <a:prstGeom xmlns:a="http://schemas.openxmlformats.org/drawingml/2006/main" prst="rect">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3DC87B0-E41C-73A6-C8C8-1ABD5E65BD6C}"/>
              </a:ext>
            </a:extLst>
          </p:cNvPr>
          <p:cNvSpPr>
            <a:spLocks xmlns:a="http://schemas.openxmlformats.org/drawingml/2006/main" noGrp="1"/>
          </p:cNvSpPr>
          <p:nvPr/>
        </p:nvSpPr>
        <p:spPr>
          <a:xfrm xmlns:a="http://schemas.openxmlformats.org/drawingml/2006/main">
            <a:off x="868680" y="3611880"/>
            <a:ext cx="5120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1F3D2F"/>
                </a:solidFill>
                <a:latin typeface="Calibri"/>
                <a:ea typeface="Calibri"/>
                <a:cs typeface="Calibri"/>
              </a:rPr>
              <a:t>DESIRED OUTCOME</a:t>
            </a:r>
            <a:endParaRPr sz="1150"/>
          </a:p>
        </p:txBody>
      </p:sp>
      <p:sp>
        <p:nvSpPr>
          <p:cNvPr id="7" name="Text 5">
            <a:extLst xmlns:a="http://schemas.openxmlformats.org/drawingml/2006/main">
              <a:ext uri="{FF2B5EF4-FFF2-40B4-BE49-F238E27FC236}">
                <a16:creationId xmlns:a16="http://schemas.microsoft.com/office/drawing/2014/main" id="{4AC62267-D3E5-7697-0346-E6AAF6FE7CD0}"/>
              </a:ext>
            </a:extLst>
          </p:cNvPr>
          <p:cNvSpPr>
            <a:spLocks xmlns:a="http://schemas.openxmlformats.org/drawingml/2006/main" noGrp="1"/>
          </p:cNvSpPr>
          <p:nvPr/>
        </p:nvSpPr>
        <p:spPr>
          <a:xfrm xmlns:a="http://schemas.openxmlformats.org/drawingml/2006/main">
            <a:off x="868680" y="3886200"/>
            <a:ext cx="50749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50" i="1">
                <a:solidFill>
                  <a:srgbClr val="1A1815"/>
                </a:solidFill>
                <a:latin typeface="Cambria"/>
                <a:ea typeface="Cambria"/>
                <a:cs typeface="Cambria"/>
              </a:rPr>
              <a:t>WCC receives another early indication of where an event may affect people, rather than relying on individual reports.</a:t>
            </a:r>
            <a:endParaRPr sz="1650"/>
          </a:p>
        </p:txBody>
      </p:sp>
      <p:sp>
        <p:nvSpPr>
          <p:cNvPr id="8" name="Shape 6">
            <a:extLst xmlns:a="http://schemas.openxmlformats.org/drawingml/2006/main">
              <a:ext uri="{FF2B5EF4-FFF2-40B4-BE49-F238E27FC236}">
                <a16:creationId xmlns:a16="http://schemas.microsoft.com/office/drawing/2014/main" id="{FD7586E8-C119-18CC-4D41-D6CC068E7D32}"/>
              </a:ext>
            </a:extLst>
          </p:cNvPr>
          <p:cNvSpPr>
            <a:spLocks xmlns:a="http://schemas.openxmlformats.org/drawingml/2006/main" noGrp="1"/>
          </p:cNvSpPr>
          <p:nvPr/>
        </p:nvSpPr>
        <p:spPr>
          <a:xfrm xmlns:a="http://schemas.openxmlformats.org/drawingml/2006/main">
            <a:off x="6675120" y="1508760"/>
            <a:ext cx="484632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CEC8BD"/>
            </a:solidFill>
            <a:prstDash val="solid"/>
          </a:ln>
          <a:effectLst xmlns:a="http://schemas.openxmlformats.org/drawingml/2006/main">
            <a:outerShdw blurRad="76200" dist="25400" dir="5400000" algn="bl" rotWithShape="0">
              <a:srgbClr val="BFB8AC">
                <a:alpha val="35000"/>
              </a:srgbClr>
            </a:outerShdw>
          </a:effectLst>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7C1589AB-2EC8-495A-A874-D2EEB4164BE7}"/>
              </a:ext>
            </a:extLst>
          </p:cNvPr>
          <p:cNvSpPr>
            <a:spLocks xmlns:a="http://schemas.openxmlformats.org/drawingml/2006/main" noGrp="1"/>
          </p:cNvSpPr>
          <p:nvPr/>
        </p:nvSpPr>
        <p:spPr>
          <a:xfrm xmlns:a="http://schemas.openxmlformats.org/drawingml/2006/main">
            <a:off x="6949440" y="1664208"/>
            <a:ext cx="42976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6B655C"/>
                </a:solidFill>
                <a:latin typeface="Cambria"/>
                <a:ea typeface="Cambria"/>
                <a:cs typeface="Cambria"/>
              </a:rPr>
              <a:t>Individual reports</a:t>
            </a:r>
            <a:endParaRPr sz="1800"/>
          </a:p>
        </p:txBody>
      </p:sp>
      <p:sp>
        <p:nvSpPr>
          <p:cNvPr id="10" name="Text 8">
            <a:extLst xmlns:a="http://schemas.openxmlformats.org/drawingml/2006/main">
              <a:ext uri="{FF2B5EF4-FFF2-40B4-BE49-F238E27FC236}">
                <a16:creationId xmlns:a16="http://schemas.microsoft.com/office/drawing/2014/main" id="{AB7EBE86-C4C8-61A9-6A03-3436D86717CE}"/>
              </a:ext>
            </a:extLst>
          </p:cNvPr>
          <p:cNvSpPr>
            <a:spLocks xmlns:a="http://schemas.openxmlformats.org/drawingml/2006/main" noGrp="1"/>
          </p:cNvSpPr>
          <p:nvPr/>
        </p:nvSpPr>
        <p:spPr>
          <a:xfrm xmlns:a="http://schemas.openxmlformats.org/drawingml/2006/main">
            <a:off x="6949440" y="2331720"/>
            <a:ext cx="42976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a:solidFill>
                  <a:srgbClr val="4A453D"/>
                </a:solidFill>
                <a:latin typeface="Calibri"/>
                <a:ea typeface="Calibri"/>
                <a:cs typeface="Calibri"/>
              </a:rPr>
              <a:t>Slow · patchy · one place at a time</a:t>
            </a:r>
            <a:endParaRPr sz="1450"/>
          </a:p>
        </p:txBody>
      </p:sp>
      <p:sp>
        <p:nvSpPr>
          <p:cNvPr id="11" name="Shape 9">
            <a:extLst xmlns:a="http://schemas.openxmlformats.org/drawingml/2006/main">
              <a:ext uri="{FF2B5EF4-FFF2-40B4-BE49-F238E27FC236}">
                <a16:creationId xmlns:a16="http://schemas.microsoft.com/office/drawing/2014/main" id="{83D1EC7A-7AC5-CCBA-FE46-A12CFDB9CD06}"/>
              </a:ext>
            </a:extLst>
          </p:cNvPr>
          <p:cNvSpPr>
            <a:spLocks xmlns:a="http://schemas.openxmlformats.org/drawingml/2006/main" noGrp="1"/>
          </p:cNvSpPr>
          <p:nvPr/>
        </p:nvSpPr>
        <p:spPr>
          <a:xfrm xmlns:a="http://schemas.openxmlformats.org/drawingml/2006/main">
            <a:off x="6675120" y="3291840"/>
            <a:ext cx="4846320" cy="1417320"/>
          </a:xfrm>
          <a:prstGeom xmlns:a="http://schemas.openxmlformats.org/drawingml/2006/main" prst="roundRect">
            <a:avLst>
              <a:gd name="adj" fmla="val 5806"/>
            </a:avLst>
          </a:prstGeom>
          <a:solidFill xmlns:a="http://schemas.openxmlformats.org/drawingml/2006/main">
            <a:srgbClr val="1F3D2F"/>
          </a:solidFill>
          <a:effectLst xmlns:a="http://schemas.openxmlformats.org/drawingml/2006/main">
            <a:outerShdw blurRad="76200" dist="25400" dir="5400000" algn="bl" rotWithShape="0">
              <a:srgbClr val="8FA79A">
                <a:alpha val="30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F75B986-6C26-7868-1070-6C03927E5628}"/>
              </a:ext>
            </a:extLst>
          </p:cNvPr>
          <p:cNvSpPr>
            <a:spLocks xmlns:a="http://schemas.openxmlformats.org/drawingml/2006/main" noGrp="1"/>
          </p:cNvSpPr>
          <p:nvPr/>
        </p:nvSpPr>
        <p:spPr>
          <a:xfrm xmlns:a="http://schemas.openxmlformats.org/drawingml/2006/main">
            <a:off x="6949440" y="3447288"/>
            <a:ext cx="42976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FAF8F4"/>
                </a:solidFill>
                <a:latin typeface="Cambria"/>
                <a:ea typeface="Cambria"/>
                <a:cs typeface="Cambria"/>
              </a:rPr>
              <a:t>Movement data</a:t>
            </a:r>
            <a:endParaRPr sz="1800"/>
          </a:p>
        </p:txBody>
      </p:sp>
      <p:sp>
        <p:nvSpPr>
          <p:cNvPr id="13" name="Text 11">
            <a:extLst xmlns:a="http://schemas.openxmlformats.org/drawingml/2006/main">
              <a:ext uri="{FF2B5EF4-FFF2-40B4-BE49-F238E27FC236}">
                <a16:creationId xmlns:a16="http://schemas.microsoft.com/office/drawing/2014/main" id="{D6EB10F3-A23D-FCC8-090B-ECA873CCC63A}"/>
              </a:ext>
            </a:extLst>
          </p:cNvPr>
          <p:cNvSpPr>
            <a:spLocks xmlns:a="http://schemas.openxmlformats.org/drawingml/2006/main" noGrp="1"/>
          </p:cNvSpPr>
          <p:nvPr/>
        </p:nvSpPr>
        <p:spPr>
          <a:xfrm xmlns:a="http://schemas.openxmlformats.org/drawingml/2006/main">
            <a:off x="6949440" y="4114800"/>
            <a:ext cx="42976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a:solidFill>
                  <a:srgbClr val="CFE0D6"/>
                </a:solidFill>
                <a:latin typeface="Calibri"/>
                <a:ea typeface="Calibri"/>
                <a:cs typeface="Calibri"/>
              </a:rPr>
              <a:t>Citywide · every hour · every mode</a:t>
            </a:r>
            <a:endParaRPr sz="1450"/>
          </a:p>
        </p:txBody>
      </p:sp>
      <p:sp>
        <p:nvSpPr>
          <p:cNvPr id="14" name="Text 12">
            <a:extLst xmlns:a="http://schemas.openxmlformats.org/drawingml/2006/main">
              <a:ext uri="{FF2B5EF4-FFF2-40B4-BE49-F238E27FC236}">
                <a16:creationId xmlns:a16="http://schemas.microsoft.com/office/drawing/2014/main" id="{EC7DDD3E-51BA-4AA4-97F0-3C7D0C1EB938}"/>
              </a:ext>
            </a:extLst>
          </p:cNvPr>
          <p:cNvSpPr>
            <a:spLocks xmlns:a="http://schemas.openxmlformats.org/drawingml/2006/main" noGrp="1"/>
          </p:cNvSpPr>
          <p:nvPr/>
        </p:nvSpPr>
        <p:spPr>
          <a:xfrm xmlns:a="http://schemas.openxmlformats.org/drawingml/2006/main">
            <a:off x="6675120" y="4983480"/>
            <a:ext cx="48463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i="1">
                <a:solidFill>
                  <a:srgbClr val="6B655C"/>
                </a:solidFill>
                <a:latin typeface="Calibri"/>
                <a:ea typeface="Calibri"/>
                <a:cs typeface="Calibri"/>
              </a:rPr>
              <a:t>An always-on baseline that notices the change on its own.</a:t>
            </a:r>
            <a:endParaRPr sz="1300"/>
          </a:p>
        </p:txBody>
      </p:sp>
    </p:spTree>
    <p:extLst>
      <p:ext uri="{BB962C8B-B14F-4D97-AF65-F5344CB8AC3E}">
        <p14:creationId xmlns:p14="http://schemas.microsoft.com/office/powerpoint/2010/main" val="142798332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1" name="Picture 14"/>
          <p:cNvPicPr>
            <a:picLocks xmlns:a="http://schemas.openxmlformats.org/drawingml/2006/main" noChangeAspect="1"/>
          </p:cNvPicPr>
          <p:nvPr/>
        </p:nvPicPr>
        <p:blipFill>
          <a:blip xmlns:r="http://schemas.openxmlformats.org/officeDocument/2006/relationships" xmlns:a="http://schemas.openxmlformats.org/drawingml/2006/main" r:embed="R0be3ad1bd6f94af7"/>
          <a:stretch xmlns:a="http://schemas.openxmlformats.org/drawingml/2006/main">
            <a:fillRect l="0" t="0" r="0" b="0"/>
          </a:stretch>
        </p:blipFill>
        <p:spPr>
          <a:xfrm xmlns:a="http://schemas.openxmlformats.org/drawingml/2006/main">
            <a:off x="1690370" y="1626860"/>
            <a:ext cx="3111500" cy="3111500"/>
          </a:xfrm>
          <a:prstGeom xmlns:a="http://schemas.openxmlformats.org/drawingml/2006/main" prst="rect">
            <a:avLst/>
          </a:prstGeom>
        </p:spPr>
      </p:pic>
      <p:sp>
        <p:nvSpPr>
          <p:cNvPr id="16" name="TextBox 15">
            <a:extLst xmlns:a="http://schemas.openxmlformats.org/drawingml/2006/main">
              <a:ext uri="{FF2B5EF4-FFF2-40B4-BE49-F238E27FC236}">
                <a16:creationId xmlns:a16="http://schemas.microsoft.com/office/drawing/2014/main" id="{FCC6D75D-3383-45C5-2DEF-8243B5076D4D}"/>
              </a:ext>
            </a:extLst>
          </p:cNvPr>
          <p:cNvSpPr>
            <a:spLocks xmlns:a="http://schemas.openxmlformats.org/drawingml/2006/main" noGrp="1"/>
          </p:cNvSpPr>
          <p:nvPr/>
        </p:nvSpPr>
        <p:spPr>
          <a:xfrm xmlns:a="http://schemas.openxmlformats.org/drawingml/2006/main">
            <a:off x="2514509" y="4707920"/>
            <a:ext cx="1463221" cy="5232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800"/>
              <a:t>README</a:t>
            </a:r>
          </a:p>
        </p:txBody>
      </p:sp>
      <p:pic>
        <p:nvPicPr>
          <p:cNvPr id="23" name="Picture 16"/>
          <p:cNvPicPr>
            <a:picLocks xmlns:a="http://schemas.openxmlformats.org/drawingml/2006/main" noChangeAspect="1"/>
          </p:cNvPicPr>
          <p:nvPr/>
        </p:nvPicPr>
        <p:blipFill>
          <a:blip xmlns:r="http://schemas.openxmlformats.org/officeDocument/2006/relationships" xmlns:a="http://schemas.openxmlformats.org/drawingml/2006/main" r:embed="R64c9b8927e264f63"/>
          <a:stretch xmlns:a="http://schemas.openxmlformats.org/drawingml/2006/main">
            <a:fillRect l="0" t="0" r="0" b="0"/>
          </a:stretch>
        </p:blipFill>
        <p:spPr>
          <a:xfrm xmlns:a="http://schemas.openxmlformats.org/drawingml/2006/main">
            <a:off x="7046259" y="1496646"/>
            <a:ext cx="3241714" cy="3241714"/>
          </a:xfrm>
          <a:prstGeom xmlns:a="http://schemas.openxmlformats.org/drawingml/2006/main" prst="rect">
            <a:avLst/>
          </a:prstGeom>
        </p:spPr>
      </p:pic>
      <p:sp>
        <p:nvSpPr>
          <p:cNvPr id="18" name="TextBox 17">
            <a:extLst xmlns:a="http://schemas.openxmlformats.org/drawingml/2006/main">
              <a:ext uri="{FF2B5EF4-FFF2-40B4-BE49-F238E27FC236}">
                <a16:creationId xmlns:a16="http://schemas.microsoft.com/office/drawing/2014/main" id="{FA86B411-C8F5-CC16-A1CD-D78A2A218ECF}"/>
              </a:ext>
            </a:extLst>
          </p:cNvPr>
          <p:cNvSpPr>
            <a:spLocks xmlns:a="http://schemas.openxmlformats.org/drawingml/2006/main" noGrp="1"/>
          </p:cNvSpPr>
          <p:nvPr/>
        </p:nvSpPr>
        <p:spPr>
          <a:xfrm xmlns:a="http://schemas.openxmlformats.org/drawingml/2006/main">
            <a:off x="7935505" y="4591379"/>
            <a:ext cx="1489510" cy="5232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800"/>
              <a:t>LIVE SITE</a:t>
            </a:r>
          </a:p>
        </p:txBody>
      </p:sp>
    </p:spTree>
    <p:extLst>
      <p:ext uri="{BB962C8B-B14F-4D97-AF65-F5344CB8AC3E}">
        <p14:creationId xmlns:p14="http://schemas.microsoft.com/office/powerpoint/2010/main" val="39147308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D7D7FDCD-90CE-3DBF-13C3-DA25048123AA}"/>
              </a:ext>
            </a:extLst>
          </p:cNvPr>
          <p:cNvSpPr>
            <a:spLocks xmlns:a="http://schemas.openxmlformats.org/drawingml/2006/main" noGrp="1"/>
          </p:cNvSpPr>
          <p:nvPr/>
        </p:nvSpPr>
        <p:spPr>
          <a:xfrm xmlns:a="http://schemas.openxmlformats.org/drawingml/2006/main">
            <a:off x="325120" y="-16108"/>
            <a:ext cx="6096000"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300"/>
              </a:spcAft>
              <a:buNone/>
            </a:pPr>
            <a:r>
              <a:rPr sz="1800">
                <a:solidFill>
                  <a:srgbClr val="C9D3E2"/>
                </a:solidFill>
                <a:latin typeface="Calibri"/>
                <a:ea typeface="Calibri"/>
                <a:cs typeface="Calibri"/>
              </a:rPr>
              <a:t>________________________________________________________________________________________</a:t>
            </a:r>
            <a:endParaRPr sz="1600">
              <a:solidFill>
                <a:srgbClr val="334155"/>
              </a:solidFill>
              <a:latin typeface="Calibri"/>
              <a:ea typeface="Calibri"/>
              <a:cs typeface="Calibri"/>
            </a:endParaRPr>
          </a:p>
        </p:txBody>
      </p:sp>
      <p:sp>
        <p:nvSpPr>
          <p:cNvPr id="8" name="TextBox 7">
            <a:extLst xmlns:a="http://schemas.openxmlformats.org/drawingml/2006/main">
              <a:ext uri="{FF2B5EF4-FFF2-40B4-BE49-F238E27FC236}">
                <a16:creationId xmlns:a16="http://schemas.microsoft.com/office/drawing/2014/main" id="{0C0856A5-0ED3-73FF-18F6-3A0BF2031F55}"/>
              </a:ext>
            </a:extLst>
          </p:cNvPr>
          <p:cNvSpPr>
            <a:spLocks xmlns:a="http://schemas.openxmlformats.org/drawingml/2006/main" noGrp="1"/>
          </p:cNvSpPr>
          <p:nvPr/>
        </p:nvSpPr>
        <p:spPr>
          <a:xfrm xmlns:a="http://schemas.openxmlformats.org/drawingml/2006/main">
            <a:off x="54362" y="-16108"/>
            <a:ext cx="10115549" cy="113877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3200" b="1">
                <a:solidFill>
                  <a:srgbClr val="24314B"/>
                </a:solidFill>
                <a:latin typeface="Calibri"/>
                <a:ea typeface="Calibri"/>
                <a:cs typeface="Calibri"/>
              </a:rPr>
              <a:t>AI Opportunity Canvas</a:t>
            </a:r>
            <a:endParaRPr sz="1100">
              <a:solidFill>
                <a:srgbClr val="334155"/>
              </a:solidFill>
              <a:latin typeface="Calibri"/>
              <a:ea typeface="Calibri"/>
              <a:cs typeface="Calibri"/>
            </a:endParaRPr>
          </a:p>
          <a:p xmlns:a="http://schemas.openxmlformats.org/drawingml/2006/main">
            <a:pPr>
              <a:spcAft>
                <a:spcPts val="600"/>
              </a:spcAft>
              <a:buNone/>
            </a:pPr>
            <a:r>
              <a:rPr sz="1200" b="1">
                <a:solidFill>
                  <a:srgbClr val="24314B"/>
                </a:solidFill>
                <a:latin typeface="Calibri"/>
                <a:ea typeface="Calibri"/>
                <a:cs typeface="Calibri"/>
              </a:rPr>
              <a:t>Your idea:  </a:t>
            </a:r>
            <a:r>
              <a:rPr sz="1200">
                <a:solidFill>
                  <a:srgbClr val="C9D3E2"/>
                </a:solidFill>
                <a:latin typeface="Calibri"/>
                <a:ea typeface="Calibri"/>
                <a:cs typeface="Calibri"/>
              </a:rPr>
              <a:t>__</a:t>
            </a:r>
            <a:r>
              <a:rPr sz="1800">
                <a:solidFill>
                  <a:srgbClr val="000000"/>
                </a:solidFill>
                <a:latin typeface="Calibri"/>
                <a:ea typeface="Calibri"/>
                <a:cs typeface="Calibri"/>
              </a:rPr>
              <a:t>Detect unusual changes in movement around the city that could indicate disruption, unsafe conditions evacuations or loss of access</a:t>
            </a:r>
            <a:endParaRPr sz="1100">
              <a:solidFill>
                <a:srgbClr val="334155"/>
              </a:solidFill>
              <a:latin typeface="Calibri"/>
              <a:ea typeface="Calibri"/>
              <a:cs typeface="Calibri"/>
            </a:endParaRPr>
          </a:p>
        </p:txBody>
      </p:sp>
      <p:graphicFrame>
        <p:nvGraphicFramePr>
          <p:cNvPr id="12" name="Table 8"/>
          <p:cNvGraphicFramePr/>
          <p:nvPr/>
        </p:nvGraphicFramePr>
        <p:xfrm>
          <a:off xmlns:a="http://schemas.openxmlformats.org/drawingml/2006/main" x="143332" y="1205938"/>
          <a:ext xmlns:a="http://schemas.openxmlformats.org/drawingml/2006/main" cx="11327178" cy="5123979"/>
        </p:xfrm>
        <a:graphic xmlns:a="http://schemas.openxmlformats.org/drawingml/2006/main">
          <a:graphicData uri="http://schemas.openxmlformats.org/drawingml/2006/table">
            <a:tbl>
              <a:tblPr firstRow="1" firstCol="1" bandRow="1">
                <a:tableStyleId>{5C22544A-7EE6-4342-B048-85BDC9FD1C3A}</a:tableStyleId>
              </a:tblPr>
              <a:tblGrid>
                <a:gridCol w="2830507"/>
                <a:gridCol w="2831978"/>
                <a:gridCol w="2831978"/>
                <a:gridCol w="2832715"/>
              </a:tblGrid>
              <a:tr h="392451">
                <a:tc>
                  <a:txBody>
                    <a:bodyPr/>
                    <a:lstStyle/>
                    <a:p>
                      <a:pPr>
                        <a:spcAft>
                          <a:spcPts val="50"/>
                        </a:spcAft>
                        <a:buNone/>
                      </a:pPr>
                      <a:r>
                        <a:rPr sz="600" cap="all"/>
                        <a:t>The who</a:t>
                      </a:r>
                      <a:endParaRPr sz="800"/>
                    </a:p>
                    <a:p>
                      <a:pPr>
                        <a:spcAft>
                          <a:spcPts val="50"/>
                        </a:spcAft>
                        <a:buNone/>
                      </a:pPr>
                      <a:r>
                        <a:rPr sz="900"/>
                        <a:t>Human Lens</a:t>
                      </a:r>
                      <a:endParaRPr sz="800">
                        <a:solidFill>
                          <a:srgbClr val="334155"/>
                        </a:solidFill>
                        <a:latin typeface="Calibri"/>
                        <a:ea typeface="Calibri"/>
                        <a:cs typeface="Calibri"/>
                      </a:endParaRPr>
                    </a:p>
                  </a:txBody>
                  <a:tcPr marL="5867" marR="5867" marT="0" marB="0" anchor="ctr"/>
                </a:tc>
                <a:tc>
                  <a:txBody>
                    <a:bodyPr/>
                    <a:lstStyle/>
                    <a:p>
                      <a:pPr>
                        <a:spcAft>
                          <a:spcPts val="50"/>
                        </a:spcAft>
                        <a:buNone/>
                      </a:pPr>
                      <a:r>
                        <a:rPr sz="600" cap="all"/>
                        <a:t>The why</a:t>
                      </a:r>
                      <a:endParaRPr sz="800"/>
                    </a:p>
                    <a:p>
                      <a:pPr>
                        <a:spcAft>
                          <a:spcPts val="50"/>
                        </a:spcAft>
                        <a:buNone/>
                      </a:pPr>
                      <a:r>
                        <a:rPr sz="900"/>
                        <a:t>Business Lens</a:t>
                      </a:r>
                      <a:endParaRPr sz="800">
                        <a:solidFill>
                          <a:srgbClr val="334155"/>
                        </a:solidFill>
                        <a:latin typeface="Calibri"/>
                        <a:ea typeface="Calibri"/>
                        <a:cs typeface="Calibri"/>
                      </a:endParaRPr>
                    </a:p>
                  </a:txBody>
                  <a:tcPr marL="5867" marR="5867" marT="0" marB="0" anchor="ctr"/>
                </a:tc>
                <a:tc>
                  <a:txBody>
                    <a:bodyPr/>
                    <a:lstStyle/>
                    <a:p>
                      <a:pPr>
                        <a:spcAft>
                          <a:spcPts val="50"/>
                        </a:spcAft>
                        <a:buNone/>
                      </a:pPr>
                      <a:r>
                        <a:rPr sz="600" cap="all"/>
                        <a:t>The what</a:t>
                      </a:r>
                      <a:endParaRPr sz="800"/>
                    </a:p>
                    <a:p>
                      <a:pPr>
                        <a:buNone/>
                      </a:pPr>
                      <a:r>
                        <a:rPr sz="900"/>
                        <a:t>Solution Lens</a:t>
                      </a:r>
                      <a:endParaRPr sz="800">
                        <a:solidFill>
                          <a:srgbClr val="334155"/>
                        </a:solidFill>
                        <a:latin typeface="Calibri"/>
                        <a:ea typeface="Calibri"/>
                        <a:cs typeface="Calibri"/>
                      </a:endParaRPr>
                    </a:p>
                  </a:txBody>
                  <a:tcPr marL="76277" marR="76277" marT="41072" marB="41072" anchor="ctr"/>
                </a:tc>
                <a:tc>
                  <a:txBody>
                    <a:bodyPr/>
                    <a:lstStyle/>
                    <a:p>
                      <a:pPr>
                        <a:spcAft>
                          <a:spcPts val="50"/>
                        </a:spcAft>
                        <a:buNone/>
                      </a:pPr>
                      <a:r>
                        <a:rPr sz="600" cap="all"/>
                        <a:t>The how</a:t>
                      </a:r>
                      <a:endParaRPr sz="800"/>
                    </a:p>
                    <a:p>
                      <a:pPr>
                        <a:buNone/>
                      </a:pPr>
                      <a:r>
                        <a:rPr sz="900"/>
                        <a:t>Feasibility Lens</a:t>
                      </a:r>
                      <a:endParaRPr sz="800">
                        <a:solidFill>
                          <a:srgbClr val="334155"/>
                        </a:solidFill>
                        <a:latin typeface="Calibri"/>
                        <a:ea typeface="Calibri"/>
                        <a:cs typeface="Calibri"/>
                      </a:endParaRPr>
                    </a:p>
                  </a:txBody>
                  <a:tcPr marL="76277" marR="76277" marT="41072" marB="41072" anchor="ctr"/>
                </a:tc>
              </a:tr>
              <a:tr h="2105972">
                <a:tc>
                  <a:txBody>
                    <a:bodyPr/>
                    <a:lstStyle/>
                    <a:p>
                      <a:pPr>
                        <a:spcAft>
                          <a:spcPts val="100"/>
                        </a:spcAft>
                        <a:buNone/>
                      </a:pPr>
                      <a:r>
                        <a:rPr sz="900"/>
                        <a:t>Customer / User</a:t>
                      </a:r>
                      <a:endParaRPr sz="800"/>
                    </a:p>
                    <a:p>
                      <a:pPr>
                        <a:spcAft>
                          <a:spcPts val="100"/>
                        </a:spcAft>
                        <a:buNone/>
                      </a:pPr>
                      <a:r>
                        <a:rPr sz="1100"/>
                        <a:t>Duty controller,</a:t>
                      </a:r>
                      <a:endParaRPr sz="800"/>
                    </a:p>
                    <a:p>
                      <a:pPr>
                        <a:spcAft>
                          <a:spcPts val="100"/>
                        </a:spcAft>
                        <a:buNone/>
                      </a:pPr>
                      <a:r>
                        <a:rPr sz="1100"/>
                        <a:t>EM team</a:t>
                      </a:r>
                      <a:endParaRPr sz="800">
                        <a:solidFill>
                          <a:srgbClr val="334155"/>
                        </a:solidFill>
                        <a:latin typeface="Calibri"/>
                        <a:ea typeface="Calibri"/>
                        <a:cs typeface="Calibri"/>
                      </a:endParaRPr>
                    </a:p>
                  </a:txBody>
                  <a:tcPr marL="5867" marR="5867" marT="0" marB="0"/>
                </a:tc>
                <a:tc>
                  <a:txBody>
                    <a:bodyPr/>
                    <a:lstStyle/>
                    <a:p>
                      <a:pPr>
                        <a:spcAft>
                          <a:spcPts val="100"/>
                        </a:spcAft>
                        <a:buNone/>
                      </a:pPr>
                      <a:r>
                        <a:rPr sz="900"/>
                        <a:t>Business Domain</a:t>
                      </a:r>
                      <a:endParaRPr sz="800"/>
                    </a:p>
                    <a:p>
                      <a:pPr>
                        <a:spcAft>
                          <a:spcPts val="100"/>
                        </a:spcAft>
                        <a:buNone/>
                      </a:pPr>
                      <a:r>
                        <a:rPr sz="1100"/>
                        <a:t>Emergency Management</a:t>
                      </a:r>
                      <a:endParaRPr sz="800"/>
                    </a:p>
                    <a:p>
                      <a:pPr>
                        <a:spcAft>
                          <a:spcPts val="100"/>
                        </a:spcAft>
                        <a:buNone/>
                      </a:pPr>
                      <a:r>
                        <a:rPr sz="1300"/>
                        <a:t> </a:t>
                      </a:r>
                      <a:endParaRPr sz="800">
                        <a:solidFill>
                          <a:srgbClr val="334155"/>
                        </a:solidFill>
                        <a:latin typeface="Calibri"/>
                        <a:ea typeface="Calibri"/>
                        <a:cs typeface="Calibri"/>
                      </a:endParaRPr>
                    </a:p>
                  </a:txBody>
                  <a:tcPr marL="5867" marR="5867" marT="0" marB="0"/>
                </a:tc>
                <a:tc>
                  <a:txBody>
                    <a:bodyPr/>
                    <a:lstStyle/>
                    <a:p>
                      <a:pPr>
                        <a:spcAft>
                          <a:spcPts val="100"/>
                        </a:spcAft>
                        <a:buNone/>
                      </a:pPr>
                      <a:r>
                        <a:rPr sz="900"/>
                        <a:t>AI Idea / Solution</a:t>
                      </a:r>
                      <a:endParaRPr sz="800"/>
                    </a:p>
                    <a:p>
                      <a:pPr>
                        <a:spcAft>
                          <a:spcPts val="100"/>
                        </a:spcAft>
                        <a:buNone/>
                      </a:pPr>
                      <a:r>
                        <a:rPr sz="1100"/>
                        <a:t>Our tool predicts baseline traffic, measures actual traffic and deviation from baseline and presents events that may cause deviations and provides data to estimate the risk impact based on population change and risk zones e.g.(Tsunami, flood zones)</a:t>
                      </a:r>
                      <a:endParaRPr sz="800"/>
                    </a:p>
                    <a:p>
                      <a:pPr>
                        <a:buNone/>
                      </a:pPr>
                      <a:r>
                        <a:rPr sz="1300"/>
                        <a:t> </a:t>
                      </a:r>
                      <a:endParaRPr sz="800">
                        <a:solidFill>
                          <a:srgbClr val="334155"/>
                        </a:solidFill>
                        <a:latin typeface="Calibri"/>
                        <a:ea typeface="Calibri"/>
                        <a:cs typeface="Calibri"/>
                      </a:endParaRPr>
                    </a:p>
                  </a:txBody>
                  <a:tcPr marL="76277" marR="76277" marT="41072" marB="41072"/>
                </a:tc>
                <a:tc>
                  <a:txBody>
                    <a:bodyPr/>
                    <a:lstStyle/>
                    <a:p>
                      <a:pPr>
                        <a:spcAft>
                          <a:spcPts val="100"/>
                        </a:spcAft>
                        <a:buNone/>
                      </a:pPr>
                      <a:r>
                        <a:rPr sz="900"/>
                        <a:t>Data Feasibility</a:t>
                      </a:r>
                      <a:endParaRPr sz="800"/>
                    </a:p>
                    <a:p>
                      <a:pPr>
                        <a:spcAft>
                          <a:spcPts val="100"/>
                        </a:spcAft>
                        <a:buNone/>
                      </a:pPr>
                      <a:r>
                        <a:rPr sz="1100"/>
                        <a:t>What data is required? How ready is it for availability, quality, access and sensitivity?</a:t>
                      </a:r>
                      <a:endParaRPr sz="800"/>
                    </a:p>
                    <a:p>
                      <a:pPr>
                        <a:spcAft>
                          <a:spcPts val="100"/>
                        </a:spcAft>
                        <a:buNone/>
                      </a:pPr>
                      <a:r>
                        <a:rPr sz="1100"/>
                        <a:t>Computer vision data</a:t>
                      </a:r>
                      <a:endParaRPr sz="800"/>
                    </a:p>
                    <a:p>
                      <a:pPr>
                        <a:spcAft>
                          <a:spcPts val="100"/>
                        </a:spcAft>
                        <a:buNone/>
                      </a:pPr>
                      <a:r>
                        <a:rPr sz="1100"/>
                        <a:t> </a:t>
                      </a:r>
                      <a:endParaRPr sz="800"/>
                    </a:p>
                    <a:p>
                      <a:pPr>
                        <a:spcAft>
                          <a:spcPts val="200"/>
                        </a:spcAft>
                        <a:buNone/>
                      </a:pPr>
                      <a:r>
                        <a:rPr sz="1300"/>
                        <a:t> </a:t>
                      </a:r>
                      <a:endParaRPr sz="800"/>
                    </a:p>
                    <a:p>
                      <a:pPr>
                        <a:buNone/>
                      </a:pPr>
                      <a:r>
                        <a:rPr sz="1300"/>
                        <a:t> </a:t>
                      </a:r>
                      <a:endParaRPr sz="800">
                        <a:solidFill>
                          <a:srgbClr val="334155"/>
                        </a:solidFill>
                        <a:latin typeface="Calibri"/>
                        <a:ea typeface="Calibri"/>
                        <a:cs typeface="Calibri"/>
                      </a:endParaRPr>
                    </a:p>
                  </a:txBody>
                  <a:tcPr marL="76277" marR="76277" marT="41072" marB="41072"/>
                </a:tc>
              </a:tr>
              <a:tr h="1312778">
                <a:tc>
                  <a:txBody>
                    <a:bodyPr/>
                    <a:lstStyle/>
                    <a:p>
                      <a:pPr>
                        <a:spcAft>
                          <a:spcPts val="100"/>
                        </a:spcAft>
                        <a:buNone/>
                      </a:pPr>
                      <a:r>
                        <a:rPr sz="900"/>
                        <a:t>Customer Problem</a:t>
                      </a:r>
                      <a:endParaRPr sz="800"/>
                    </a:p>
                    <a:p>
                      <a:pPr>
                        <a:spcAft>
                          <a:spcPts val="200"/>
                        </a:spcAft>
                        <a:buNone/>
                      </a:pPr>
                      <a:r>
                        <a:rPr sz="1100"/>
                        <a:t>We don’t have visibility of  data or a model to predict population movement so can’t accurately estimate risk impact</a:t>
                      </a:r>
                      <a:endParaRPr sz="800"/>
                    </a:p>
                    <a:p>
                      <a:pPr>
                        <a:spcAft>
                          <a:spcPts val="100"/>
                        </a:spcAft>
                        <a:buNone/>
                      </a:pPr>
                      <a:r>
                        <a:rPr sz="900"/>
                        <a:t> </a:t>
                      </a:r>
                      <a:endParaRPr sz="800">
                        <a:solidFill>
                          <a:srgbClr val="334155"/>
                        </a:solidFill>
                        <a:latin typeface="Calibri"/>
                        <a:ea typeface="Calibri"/>
                        <a:cs typeface="Calibri"/>
                      </a:endParaRPr>
                    </a:p>
                  </a:txBody>
                  <a:tcPr marL="5867" marR="5867" marT="0" marB="0"/>
                </a:tc>
                <a:tc>
                  <a:txBody>
                    <a:bodyPr/>
                    <a:lstStyle/>
                    <a:p>
                      <a:pPr>
                        <a:spcAft>
                          <a:spcPts val="100"/>
                        </a:spcAft>
                        <a:buNone/>
                      </a:pPr>
                      <a:r>
                        <a:rPr sz="900"/>
                        <a:t>Business Goal / KPI / OKR</a:t>
                      </a:r>
                      <a:endParaRPr sz="800"/>
                    </a:p>
                    <a:p>
                      <a:pPr>
                        <a:spcAft>
                          <a:spcPts val="200"/>
                        </a:spcAft>
                        <a:buNone/>
                      </a:pPr>
                      <a:r>
                        <a:rPr sz="1100"/>
                        <a:t>Improve risk estimation for planning, response and retrospectives</a:t>
                      </a:r>
                      <a:endParaRPr sz="800"/>
                    </a:p>
                    <a:p>
                      <a:pPr>
                        <a:spcAft>
                          <a:spcPts val="100"/>
                        </a:spcAft>
                        <a:buNone/>
                      </a:pPr>
                      <a:r>
                        <a:rPr sz="900"/>
                        <a:t> </a:t>
                      </a:r>
                      <a:endParaRPr sz="800">
                        <a:solidFill>
                          <a:srgbClr val="334155"/>
                        </a:solidFill>
                        <a:latin typeface="Calibri"/>
                        <a:ea typeface="Calibri"/>
                        <a:cs typeface="Calibri"/>
                      </a:endParaRPr>
                    </a:p>
                  </a:txBody>
                  <a:tcPr marL="5867" marR="5867" marT="0" marB="0"/>
                </a:tc>
                <a:tc>
                  <a:txBody>
                    <a:bodyPr/>
                    <a:lstStyle/>
                    <a:p>
                      <a:pPr>
                        <a:spcAft>
                          <a:spcPts val="100"/>
                        </a:spcAft>
                        <a:buNone/>
                      </a:pPr>
                      <a:r>
                        <a:rPr sz="900"/>
                        <a:t>Status Quo / Workaround</a:t>
                      </a:r>
                      <a:endParaRPr sz="800"/>
                    </a:p>
                    <a:p>
                      <a:pPr>
                        <a:buNone/>
                      </a:pPr>
                      <a:r>
                        <a:rPr sz="1100"/>
                        <a:t>Individuals try and make sense of disparate data sets and think what is important to hand over</a:t>
                      </a:r>
                      <a:endParaRPr sz="800">
                        <a:solidFill>
                          <a:srgbClr val="334155"/>
                        </a:solidFill>
                        <a:latin typeface="Calibri"/>
                        <a:ea typeface="Calibri"/>
                        <a:cs typeface="Calibri"/>
                      </a:endParaRPr>
                    </a:p>
                  </a:txBody>
                  <a:tcPr marL="76277" marR="76277" marT="41072" marB="41072"/>
                </a:tc>
                <a:tc>
                  <a:txBody>
                    <a:bodyPr/>
                    <a:lstStyle/>
                    <a:p>
                      <a:pPr>
                        <a:spcAft>
                          <a:spcPts val="100"/>
                        </a:spcAft>
                        <a:buNone/>
                      </a:pPr>
                      <a:r>
                        <a:rPr sz="900"/>
                        <a:t>Technical Feasibility</a:t>
                      </a:r>
                      <a:endParaRPr sz="800"/>
                    </a:p>
                    <a:p>
                      <a:pPr>
                        <a:spcAft>
                          <a:spcPts val="200"/>
                        </a:spcAft>
                        <a:buNone/>
                      </a:pPr>
                      <a:r>
                        <a:rPr sz="1100"/>
                        <a:t>Set up to run as a static bundle. One map layer and access to existing data sources. We have turned point source data into edge information</a:t>
                      </a:r>
                      <a:endParaRPr sz="800"/>
                    </a:p>
                    <a:p>
                      <a:pPr>
                        <a:buNone/>
                      </a:pPr>
                      <a:r>
                        <a:rPr sz="800"/>
                        <a:t> </a:t>
                      </a:r>
                      <a:endParaRPr sz="800">
                        <a:solidFill>
                          <a:srgbClr val="334155"/>
                        </a:solidFill>
                        <a:latin typeface="Calibri"/>
                        <a:ea typeface="Calibri"/>
                        <a:cs typeface="Calibri"/>
                      </a:endParaRPr>
                    </a:p>
                  </a:txBody>
                  <a:tcPr marL="76277" marR="76277" marT="41072" marB="41072"/>
                </a:tc>
              </a:tr>
              <a:tr h="1312778">
                <a:tc>
                  <a:txBody>
                    <a:bodyPr/>
                    <a:lstStyle/>
                    <a:p>
                      <a:pPr>
                        <a:spcAft>
                          <a:spcPts val="100"/>
                        </a:spcAft>
                        <a:buNone/>
                      </a:pPr>
                      <a:r>
                        <a:rPr sz="900"/>
                        <a:t>Desired Outcome</a:t>
                      </a:r>
                      <a:endParaRPr sz="800"/>
                    </a:p>
                    <a:p>
                      <a:pPr>
                        <a:spcAft>
                          <a:spcPts val="200"/>
                        </a:spcAft>
                        <a:buNone/>
                      </a:pPr>
                      <a:r>
                        <a:rPr sz="1100"/>
                        <a:t>An accurate real-time view of people movement – predicted, actual and anomalies</a:t>
                      </a:r>
                      <a:endParaRPr sz="800"/>
                    </a:p>
                    <a:p>
                      <a:pPr>
                        <a:spcAft>
                          <a:spcPts val="100"/>
                        </a:spcAft>
                        <a:buNone/>
                      </a:pPr>
                      <a:r>
                        <a:rPr sz="900"/>
                        <a:t> </a:t>
                      </a:r>
                      <a:endParaRPr sz="800">
                        <a:solidFill>
                          <a:srgbClr val="334155"/>
                        </a:solidFill>
                        <a:latin typeface="Calibri"/>
                        <a:ea typeface="Calibri"/>
                        <a:cs typeface="Calibri"/>
                      </a:endParaRPr>
                    </a:p>
                  </a:txBody>
                  <a:tcPr marL="5867" marR="5867" marT="0" marB="0"/>
                </a:tc>
                <a:tc>
                  <a:txBody>
                    <a:bodyPr/>
                    <a:lstStyle/>
                    <a:p>
                      <a:pPr>
                        <a:spcAft>
                          <a:spcPts val="100"/>
                        </a:spcAft>
                        <a:buNone/>
                      </a:pPr>
                      <a:r>
                        <a:rPr sz="900"/>
                        <a:t>Problem / Gap / Need</a:t>
                      </a:r>
                      <a:endParaRPr sz="800"/>
                    </a:p>
                    <a:p>
                      <a:pPr>
                        <a:spcAft>
                          <a:spcPts val="200"/>
                        </a:spcAft>
                        <a:buNone/>
                      </a:pPr>
                      <a:r>
                        <a:rPr sz="1100"/>
                        <a:t>Managers don’t know what to expect, no real-time people movement data to make evidence based decisions</a:t>
                      </a:r>
                      <a:endParaRPr sz="800"/>
                    </a:p>
                    <a:p>
                      <a:pPr>
                        <a:spcAft>
                          <a:spcPts val="100"/>
                        </a:spcAft>
                        <a:buNone/>
                      </a:pPr>
                      <a:r>
                        <a:rPr sz="900"/>
                        <a:t> </a:t>
                      </a:r>
                      <a:endParaRPr sz="800">
                        <a:solidFill>
                          <a:srgbClr val="334155"/>
                        </a:solidFill>
                        <a:latin typeface="Calibri"/>
                        <a:ea typeface="Calibri"/>
                        <a:cs typeface="Calibri"/>
                      </a:endParaRPr>
                    </a:p>
                  </a:txBody>
                  <a:tcPr marL="5867" marR="5867" marT="0" marB="0"/>
                </a:tc>
                <a:tc>
                  <a:txBody>
                    <a:bodyPr/>
                    <a:lstStyle/>
                    <a:p>
                      <a:pPr>
                        <a:spcAft>
                          <a:spcPts val="100"/>
                        </a:spcAft>
                        <a:buNone/>
                      </a:pPr>
                      <a:r>
                        <a:rPr sz="900"/>
                        <a:t>First Test / Prototype</a:t>
                      </a:r>
                      <a:endParaRPr sz="800"/>
                    </a:p>
                    <a:p>
                      <a:pPr>
                        <a:spcAft>
                          <a:spcPts val="200"/>
                        </a:spcAft>
                        <a:buNone/>
                      </a:pPr>
                      <a:r>
                        <a:rPr sz="1100"/>
                        <a:t>Demonstrates real-time people movement data, highlights anomalies and provides data for risk assessment</a:t>
                      </a:r>
                      <a:endParaRPr sz="800">
                        <a:solidFill>
                          <a:srgbClr val="334155"/>
                        </a:solidFill>
                        <a:latin typeface="Calibri"/>
                        <a:ea typeface="Calibri"/>
                        <a:cs typeface="Calibri"/>
                      </a:endParaRPr>
                    </a:p>
                  </a:txBody>
                  <a:tcPr marL="76277" marR="76277" marT="41072" marB="41072"/>
                </a:tc>
                <a:tc>
                  <a:txBody>
                    <a:bodyPr/>
                    <a:lstStyle/>
                    <a:p>
                      <a:pPr>
                        <a:spcAft>
                          <a:spcPts val="100"/>
                        </a:spcAft>
                        <a:buNone/>
                      </a:pPr>
                      <a:r>
                        <a:rPr sz="900"/>
                        <a:t>Legal, Compliance &amp; Trust Risk</a:t>
                      </a:r>
                      <a:endParaRPr sz="800"/>
                    </a:p>
                    <a:p>
                      <a:pPr>
                        <a:spcAft>
                          <a:spcPts val="200"/>
                        </a:spcAft>
                        <a:buNone/>
                      </a:pPr>
                      <a:r>
                        <a:rPr sz="1100"/>
                        <a:t>Publicly available information. No private information, no bias identified.</a:t>
                      </a:r>
                      <a:endParaRPr sz="800">
                        <a:solidFill>
                          <a:srgbClr val="334155"/>
                        </a:solidFill>
                        <a:latin typeface="Calibri"/>
                        <a:ea typeface="Calibri"/>
                        <a:cs typeface="Calibri"/>
                      </a:endParaRPr>
                    </a:p>
                  </a:txBody>
                  <a:tcPr marL="76277" marR="76277" marT="41072" marB="41072"/>
                </a:tc>
              </a:tr>
            </a:tbl>
          </a:graphicData>
        </a:graphic>
      </p:graphicFrame>
    </p:spTree>
    <p:extLst>
      <p:ext uri="{BB962C8B-B14F-4D97-AF65-F5344CB8AC3E}">
        <p14:creationId xmlns:p14="http://schemas.microsoft.com/office/powerpoint/2010/main" val="331594809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graphicFrame>
        <p:nvGraphicFramePr>
          <p:cNvPr id="6" name="Table 1"/>
          <p:cNvGraphicFramePr/>
          <p:nvPr/>
        </p:nvGraphicFramePr>
        <p:xfrm>
          <a:off xmlns:a="http://schemas.openxmlformats.org/drawingml/2006/main" x="436880" y="1737360"/>
          <a:ext xmlns:a="http://schemas.openxmlformats.org/drawingml/2006/main" cx="11165838" cy="3749040"/>
        </p:xfrm>
        <a:graphic xmlns:a="http://schemas.openxmlformats.org/drawingml/2006/main">
          <a:graphicData uri="http://schemas.openxmlformats.org/drawingml/2006/table">
            <a:tbl>
              <a:tblPr firstRow="1" firstCol="1" bandRow="1">
                <a:tableStyleId>{5C22544A-7EE6-4342-B048-85BDC9FD1C3A}</a:tableStyleId>
              </a:tblPr>
              <a:tblGrid>
                <a:gridCol w="1885386"/>
                <a:gridCol w="6669918"/>
                <a:gridCol w="1305267"/>
                <a:gridCol w="1305267"/>
              </a:tblGrid>
              <a:tr h="749808">
                <a:tc>
                  <a:txBody>
                    <a:bodyPr/>
                    <a:lstStyle/>
                    <a:p>
                      <a:pPr>
                        <a:buNone/>
                      </a:pPr>
                      <a:r>
                        <a:rPr sz="2000"/>
                        <a:t>Metric</a:t>
                      </a:r>
                      <a:endParaRPr sz="2000">
                        <a:solidFill>
                          <a:srgbClr val="334155"/>
                        </a:solidFill>
                        <a:latin typeface="Calibri"/>
                        <a:ea typeface="Calibri"/>
                        <a:cs typeface="Calibri"/>
                      </a:endParaRPr>
                    </a:p>
                  </a:txBody>
                  <a:tcPr marL="82550" marR="82550" marT="44450" marB="44450"/>
                </a:tc>
                <a:tc>
                  <a:txBody>
                    <a:bodyPr/>
                    <a:lstStyle/>
                    <a:p>
                      <a:pPr>
                        <a:buNone/>
                      </a:pPr>
                      <a:r>
                        <a:rPr sz="2000"/>
                        <a:t>Guidance</a:t>
                      </a:r>
                      <a:endParaRPr sz="2000">
                        <a:solidFill>
                          <a:srgbClr val="334155"/>
                        </a:solidFill>
                        <a:latin typeface="Calibri"/>
                        <a:ea typeface="Calibri"/>
                        <a:cs typeface="Calibri"/>
                      </a:endParaRPr>
                    </a:p>
                  </a:txBody>
                  <a:tcPr marL="82550" marR="82550" marT="44450" marB="44450"/>
                </a:tc>
                <a:tc>
                  <a:txBody>
                    <a:bodyPr/>
                    <a:lstStyle/>
                    <a:p>
                      <a:pPr algn="ctr">
                        <a:buNone/>
                      </a:pPr>
                      <a:r>
                        <a:rPr sz="2000"/>
                        <a:t>Scale</a:t>
                      </a:r>
                      <a:endParaRPr sz="2000">
                        <a:solidFill>
                          <a:srgbClr val="334155"/>
                        </a:solidFill>
                        <a:latin typeface="Calibri"/>
                        <a:ea typeface="Calibri"/>
                        <a:cs typeface="Calibri"/>
                      </a:endParaRPr>
                    </a:p>
                  </a:txBody>
                  <a:tcPr marL="82550" marR="82550" marT="44450" marB="44450"/>
                </a:tc>
                <a:tc>
                  <a:txBody>
                    <a:bodyPr/>
                    <a:lstStyle/>
                    <a:p>
                      <a:pPr algn="ctr">
                        <a:buNone/>
                      </a:pPr>
                      <a:r>
                        <a:rPr sz="2000"/>
                        <a:t>Score</a:t>
                      </a:r>
                      <a:endParaRPr sz="2000">
                        <a:solidFill>
                          <a:srgbClr val="334155"/>
                        </a:solidFill>
                        <a:latin typeface="Calibri"/>
                        <a:ea typeface="Calibri"/>
                        <a:cs typeface="Calibri"/>
                      </a:endParaRPr>
                    </a:p>
                  </a:txBody>
                  <a:tcPr marL="82550" marR="82550" marT="44450" marB="44450"/>
                </a:tc>
              </a:tr>
              <a:tr h="749808">
                <a:tc>
                  <a:txBody>
                    <a:bodyPr/>
                    <a:lstStyle/>
                    <a:p>
                      <a:pPr>
                        <a:buNone/>
                      </a:pPr>
                      <a:r>
                        <a:rPr sz="2000"/>
                        <a:t>Impact</a:t>
                      </a:r>
                      <a:endParaRPr sz="2000">
                        <a:solidFill>
                          <a:srgbClr val="334155"/>
                        </a:solidFill>
                        <a:latin typeface="Calibri"/>
                        <a:ea typeface="Calibri"/>
                        <a:cs typeface="Calibri"/>
                      </a:endParaRPr>
                    </a:p>
                  </a:txBody>
                  <a:tcPr marL="82550" marR="82550" marT="44450" marB="44450"/>
                </a:tc>
                <a:tc>
                  <a:txBody>
                    <a:bodyPr/>
                    <a:lstStyle/>
                    <a:p>
                      <a:pPr>
                        <a:buNone/>
                      </a:pPr>
                      <a:r>
                        <a:rPr sz="2000"/>
                        <a:t>How valuable would this be if it works?  1 = nice to have, 10 = game changer.</a:t>
                      </a:r>
                      <a:endParaRPr sz="2000">
                        <a:solidFill>
                          <a:srgbClr val="334155"/>
                        </a:solidFill>
                        <a:latin typeface="Calibri"/>
                        <a:ea typeface="Calibri"/>
                        <a:cs typeface="Calibri"/>
                      </a:endParaRPr>
                    </a:p>
                  </a:txBody>
                  <a:tcPr marL="82550" marR="82550" marT="44450" marB="44450"/>
                </a:tc>
                <a:tc>
                  <a:txBody>
                    <a:bodyPr/>
                    <a:lstStyle/>
                    <a:p>
                      <a:pPr algn="ctr">
                        <a:buNone/>
                      </a:pPr>
                      <a:r>
                        <a:rPr sz="2000"/>
                        <a:t>1 – 10</a:t>
                      </a:r>
                      <a:endParaRPr sz="2000">
                        <a:solidFill>
                          <a:srgbClr val="334155"/>
                        </a:solidFill>
                        <a:latin typeface="Calibri"/>
                        <a:ea typeface="Calibri"/>
                        <a:cs typeface="Calibri"/>
                      </a:endParaRPr>
                    </a:p>
                  </a:txBody>
                  <a:tcPr marL="82550" marR="82550" marT="44450" marB="44450"/>
                </a:tc>
                <a:tc>
                  <a:txBody>
                    <a:bodyPr/>
                    <a:lstStyle/>
                    <a:p>
                      <a:pPr algn="ctr">
                        <a:buNone/>
                      </a:pPr>
                      <a:r>
                        <a:rPr sz="2000"/>
                        <a:t>10</a:t>
                      </a:r>
                      <a:endParaRPr sz="2000">
                        <a:solidFill>
                          <a:srgbClr val="334155"/>
                        </a:solidFill>
                        <a:latin typeface="Calibri"/>
                        <a:ea typeface="Calibri"/>
                        <a:cs typeface="Calibri"/>
                      </a:endParaRPr>
                    </a:p>
                  </a:txBody>
                  <a:tcPr marL="82550" marR="82550" marT="44450" marB="44450"/>
                </a:tc>
              </a:tr>
              <a:tr h="749808">
                <a:tc>
                  <a:txBody>
                    <a:bodyPr/>
                    <a:lstStyle/>
                    <a:p>
                      <a:pPr>
                        <a:buNone/>
                      </a:pPr>
                      <a:r>
                        <a:rPr sz="2000"/>
                        <a:t>Confidence</a:t>
                      </a:r>
                      <a:endParaRPr sz="2000">
                        <a:solidFill>
                          <a:srgbClr val="334155"/>
                        </a:solidFill>
                        <a:latin typeface="Calibri"/>
                        <a:ea typeface="Calibri"/>
                        <a:cs typeface="Calibri"/>
                      </a:endParaRPr>
                    </a:p>
                  </a:txBody>
                  <a:tcPr marL="82550" marR="82550" marT="44450" marB="44450"/>
                </a:tc>
                <a:tc>
                  <a:txBody>
                    <a:bodyPr/>
                    <a:lstStyle/>
                    <a:p>
                      <a:pPr>
                        <a:buNone/>
                      </a:pPr>
                      <a:r>
                        <a:rPr sz="2000"/>
                        <a:t>How sure are we that this can work?  1 = not sure, 10 = very confident.</a:t>
                      </a:r>
                      <a:endParaRPr sz="2000">
                        <a:solidFill>
                          <a:srgbClr val="334155"/>
                        </a:solidFill>
                        <a:latin typeface="Calibri"/>
                        <a:ea typeface="Calibri"/>
                        <a:cs typeface="Calibri"/>
                      </a:endParaRPr>
                    </a:p>
                  </a:txBody>
                  <a:tcPr marL="82550" marR="82550" marT="44450" marB="44450"/>
                </a:tc>
                <a:tc>
                  <a:txBody>
                    <a:bodyPr/>
                    <a:lstStyle/>
                    <a:p>
                      <a:pPr algn="ctr">
                        <a:buNone/>
                      </a:pPr>
                      <a:r>
                        <a:rPr sz="2000"/>
                        <a:t>1 – 10</a:t>
                      </a:r>
                      <a:endParaRPr sz="2000">
                        <a:solidFill>
                          <a:srgbClr val="334155"/>
                        </a:solidFill>
                        <a:latin typeface="Calibri"/>
                        <a:ea typeface="Calibri"/>
                        <a:cs typeface="Calibri"/>
                      </a:endParaRPr>
                    </a:p>
                  </a:txBody>
                  <a:tcPr marL="82550" marR="82550" marT="44450" marB="44450"/>
                </a:tc>
                <a:tc>
                  <a:txBody>
                    <a:bodyPr/>
                    <a:lstStyle/>
                    <a:p>
                      <a:pPr algn="ctr">
                        <a:buNone/>
                      </a:pPr>
                      <a:r>
                        <a:rPr sz="2000"/>
                        <a:t>10</a:t>
                      </a:r>
                      <a:endParaRPr sz="2000">
                        <a:solidFill>
                          <a:srgbClr val="334155"/>
                        </a:solidFill>
                        <a:latin typeface="Calibri"/>
                        <a:ea typeface="Calibri"/>
                        <a:cs typeface="Calibri"/>
                      </a:endParaRPr>
                    </a:p>
                  </a:txBody>
                  <a:tcPr marL="82550" marR="82550" marT="44450" marB="44450"/>
                </a:tc>
              </a:tr>
              <a:tr h="749808">
                <a:tc>
                  <a:txBody>
                    <a:bodyPr/>
                    <a:lstStyle/>
                    <a:p>
                      <a:pPr>
                        <a:buNone/>
                      </a:pPr>
                      <a:r>
                        <a:rPr sz="2000"/>
                        <a:t>Effort / Ease</a:t>
                      </a:r>
                      <a:endParaRPr sz="2000">
                        <a:solidFill>
                          <a:srgbClr val="334155"/>
                        </a:solidFill>
                        <a:latin typeface="Calibri"/>
                        <a:ea typeface="Calibri"/>
                        <a:cs typeface="Calibri"/>
                      </a:endParaRPr>
                    </a:p>
                  </a:txBody>
                  <a:tcPr marL="82550" marR="82550" marT="44450" marB="44450"/>
                </a:tc>
                <a:tc>
                  <a:txBody>
                    <a:bodyPr/>
                    <a:lstStyle/>
                    <a:p>
                      <a:pPr>
                        <a:buNone/>
                      </a:pPr>
                      <a:r>
                        <a:rPr sz="2000"/>
                        <a:t>How easy is it to test or deliver?  1 = hard, 10 = easy.</a:t>
                      </a:r>
                      <a:endParaRPr sz="2000">
                        <a:solidFill>
                          <a:srgbClr val="334155"/>
                        </a:solidFill>
                        <a:latin typeface="Calibri"/>
                        <a:ea typeface="Calibri"/>
                        <a:cs typeface="Calibri"/>
                      </a:endParaRPr>
                    </a:p>
                  </a:txBody>
                  <a:tcPr marL="82550" marR="82550" marT="44450" marB="44450"/>
                </a:tc>
                <a:tc>
                  <a:txBody>
                    <a:bodyPr/>
                    <a:lstStyle/>
                    <a:p>
                      <a:pPr algn="ctr">
                        <a:buNone/>
                      </a:pPr>
                      <a:r>
                        <a:rPr sz="2000"/>
                        <a:t>1 – 10</a:t>
                      </a:r>
                      <a:endParaRPr sz="2000">
                        <a:solidFill>
                          <a:srgbClr val="334155"/>
                        </a:solidFill>
                        <a:latin typeface="Calibri"/>
                        <a:ea typeface="Calibri"/>
                        <a:cs typeface="Calibri"/>
                      </a:endParaRPr>
                    </a:p>
                  </a:txBody>
                  <a:tcPr marL="82550" marR="82550" marT="44450" marB="44450"/>
                </a:tc>
                <a:tc>
                  <a:txBody>
                    <a:bodyPr/>
                    <a:lstStyle/>
                    <a:p>
                      <a:pPr algn="ctr">
                        <a:buNone/>
                      </a:pPr>
                      <a:r>
                        <a:rPr sz="2000"/>
                        <a:t>9.5</a:t>
                      </a:r>
                      <a:endParaRPr sz="2000">
                        <a:solidFill>
                          <a:srgbClr val="334155"/>
                        </a:solidFill>
                        <a:latin typeface="Calibri"/>
                        <a:ea typeface="Calibri"/>
                        <a:cs typeface="Calibri"/>
                      </a:endParaRPr>
                    </a:p>
                  </a:txBody>
                  <a:tcPr marL="82550" marR="82550" marT="44450" marB="44450"/>
                </a:tc>
              </a:tr>
              <a:tr h="749808">
                <a:tc>
                  <a:txBody>
                    <a:bodyPr/>
                    <a:lstStyle/>
                    <a:p>
                      <a:pPr>
                        <a:buNone/>
                      </a:pPr>
                      <a:r>
                        <a:rPr sz="2000"/>
                        <a:t>Overall score</a:t>
                      </a:r>
                      <a:endParaRPr sz="2000">
                        <a:solidFill>
                          <a:srgbClr val="334155"/>
                        </a:solidFill>
                        <a:latin typeface="Calibri"/>
                        <a:ea typeface="Calibri"/>
                        <a:cs typeface="Calibri"/>
                      </a:endParaRPr>
                    </a:p>
                  </a:txBody>
                  <a:tcPr marL="82550" marR="82550" marT="44450" marB="44450"/>
                </a:tc>
                <a:tc>
                  <a:txBody>
                    <a:bodyPr/>
                    <a:lstStyle/>
                    <a:p>
                      <a:pPr>
                        <a:buNone/>
                      </a:pPr>
                      <a:r>
                        <a:rPr sz="2000"/>
                        <a:t>Impact × Confidence × Ease</a:t>
                      </a:r>
                      <a:endParaRPr sz="2000">
                        <a:solidFill>
                          <a:srgbClr val="334155"/>
                        </a:solidFill>
                        <a:latin typeface="Calibri"/>
                        <a:ea typeface="Calibri"/>
                        <a:cs typeface="Calibri"/>
                      </a:endParaRPr>
                    </a:p>
                  </a:txBody>
                  <a:tcPr marL="82550" marR="82550" marT="44450" marB="44450"/>
                </a:tc>
                <a:tc>
                  <a:txBody>
                    <a:bodyPr/>
                    <a:lstStyle/>
                    <a:p>
                      <a:pPr algn="ctr">
                        <a:buNone/>
                      </a:pPr>
                      <a:r>
                        <a:rPr sz="2000"/>
                        <a:t>950/ 1000</a:t>
                      </a:r>
                      <a:endParaRPr sz="2000">
                        <a:solidFill>
                          <a:srgbClr val="334155"/>
                        </a:solidFill>
                        <a:latin typeface="Calibri"/>
                        <a:ea typeface="Calibri"/>
                        <a:cs typeface="Calibri"/>
                      </a:endParaRPr>
                    </a:p>
                  </a:txBody>
                  <a:tcPr marL="82550" marR="82550" marT="44450" marB="44450"/>
                </a:tc>
                <a:tc>
                  <a:txBody>
                    <a:bodyPr/>
                    <a:lstStyle/>
                    <a:p>
                      <a:pPr algn="ctr">
                        <a:buNone/>
                      </a:pPr>
                      <a:r>
                        <a:rPr sz="2000"/>
                        <a:t> </a:t>
                      </a:r>
                      <a:endParaRPr sz="2000">
                        <a:solidFill>
                          <a:srgbClr val="334155"/>
                        </a:solidFill>
                        <a:latin typeface="Calibri"/>
                        <a:ea typeface="Calibri"/>
                        <a:cs typeface="Calibri"/>
                      </a:endParaRPr>
                    </a:p>
                  </a:txBody>
                  <a:tcPr marL="82550" marR="82550" marT="44450" marB="44450"/>
                </a:tc>
              </a:tr>
            </a:tbl>
          </a:graphicData>
        </a:graphic>
      </p:graphicFrame>
      <p:sp>
        <p:nvSpPr>
          <p:cNvPr id="4" name="TextBox 3">
            <a:extLst xmlns:a="http://schemas.openxmlformats.org/drawingml/2006/main">
              <a:ext uri="{FF2B5EF4-FFF2-40B4-BE49-F238E27FC236}">
                <a16:creationId xmlns:a16="http://schemas.microsoft.com/office/drawing/2014/main" id="{91FD27D7-9C58-F593-4A27-E3662855F478}"/>
              </a:ext>
            </a:extLst>
          </p:cNvPr>
          <p:cNvSpPr>
            <a:spLocks xmlns:a="http://schemas.openxmlformats.org/drawingml/2006/main" noGrp="1"/>
          </p:cNvSpPr>
          <p:nvPr/>
        </p:nvSpPr>
        <p:spPr>
          <a:xfrm xmlns:a="http://schemas.openxmlformats.org/drawingml/2006/main">
            <a:off x="772633" y="362615"/>
            <a:ext cx="6096000" cy="96180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800"/>
              </a:spcBef>
              <a:spcAft>
                <a:spcPts val="300"/>
              </a:spcAft>
              <a:buNone/>
            </a:pPr>
            <a:r>
              <a:rPr sz="3600" b="1">
                <a:solidFill>
                  <a:srgbClr val="24314B"/>
                </a:solidFill>
                <a:latin typeface="Calibri"/>
                <a:ea typeface="Calibri"/>
                <a:cs typeface="Calibri"/>
              </a:rPr>
              <a:t>ICE Prioritisation</a:t>
            </a:r>
            <a:endParaRPr sz="2000">
              <a:solidFill>
                <a:srgbClr val="334155"/>
              </a:solidFill>
              <a:latin typeface="Calibri"/>
              <a:ea typeface="Calibri"/>
              <a:cs typeface="Calibri"/>
            </a:endParaRPr>
          </a:p>
          <a:p xmlns:a="http://schemas.openxmlformats.org/drawingml/2006/main">
            <a:pPr>
              <a:spcAft>
                <a:spcPts val="400"/>
              </a:spcAft>
              <a:buNone/>
            </a:pPr>
            <a:r>
              <a:rPr sz="1800" i="1">
                <a:solidFill>
                  <a:srgbClr val="6B7787"/>
                </a:solidFill>
                <a:latin typeface="Calibri"/>
                <a:ea typeface="Calibri"/>
                <a:cs typeface="Calibri"/>
              </a:rPr>
              <a:t>Score each item from 1 to 10.</a:t>
            </a:r>
            <a:endParaRPr sz="2000">
              <a:solidFill>
                <a:srgbClr val="334155"/>
              </a:solidFill>
              <a:latin typeface="Calibri"/>
              <a:ea typeface="Calibri"/>
              <a:cs typeface="Calibri"/>
            </a:endParaRPr>
          </a:p>
        </p:txBody>
      </p:sp>
    </p:spTree>
    <p:extLst>
      <p:ext uri="{BB962C8B-B14F-4D97-AF65-F5344CB8AC3E}">
        <p14:creationId xmlns:p14="http://schemas.microsoft.com/office/powerpoint/2010/main" val="1292298375"/>
      </p:ext>
    </p:extLst>
  </p:cSld>
</p:sld>
</file>

<file path=ppt/slides/slide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F251C08-3F9B-46E1-8A0A-F569B6BADCF8}"/>
              </a:ext>
            </a:extLst>
          </p:cNvPr>
          <p:cNvSpPr>
            <a:spLocks xmlns:a="http://schemas.openxmlformats.org/drawingml/2006/main" noGrp="1"/>
          </p:cNvSpPr>
          <p:nvPr/>
        </p:nvSpPr>
        <p:spPr>
          <a:xfrm xmlns:a="http://schemas.openxmlformats.org/drawingml/2006/main">
            <a:off x="640080" y="502920"/>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A1815"/>
                </a:solidFill>
                <a:latin typeface="Cambria"/>
                <a:ea typeface="Cambria"/>
                <a:cs typeface="Cambria"/>
              </a:rPr>
              <a:t>Forecast the normal. Measure the actual. Score the gap.</a:t>
            </a:r>
            <a:endParaRPr sz="3100"/>
          </a:p>
        </p:txBody>
      </p:sp>
      <p:sp>
        <p:nvSpPr>
          <p:cNvPr id="3" name="Shape 1">
            <a:extLst xmlns:a="http://schemas.openxmlformats.org/drawingml/2006/main">
              <a:ext uri="{FF2B5EF4-FFF2-40B4-BE49-F238E27FC236}">
                <a16:creationId xmlns:a16="http://schemas.microsoft.com/office/drawing/2014/main" id="{192B3C1B-DD17-4590-9029-6B9A80CEDFF9}"/>
              </a:ext>
            </a:extLst>
          </p:cNvPr>
          <p:cNvSpPr>
            <a:spLocks xmlns:a="http://schemas.openxmlformats.org/drawingml/2006/main" noGrp="1"/>
          </p:cNvSpPr>
          <p:nvPr/>
        </p:nvSpPr>
        <p:spPr>
          <a:xfrm xmlns:a="http://schemas.openxmlformats.org/drawingml/2006/main">
            <a:off x="640080" y="1417320"/>
            <a:ext cx="3246120" cy="2148840"/>
          </a:xfrm>
          <a:prstGeom xmlns:a="http://schemas.openxmlformats.org/drawingml/2006/main" prst="roundRect">
            <a:avLst>
              <a:gd name="adj" fmla="val 3830"/>
            </a:avLst>
          </a:prstGeom>
          <a:solidFill xmlns:a="http://schemas.openxmlformats.org/drawingml/2006/main">
            <a:srgbClr val="FFFFFF"/>
          </a:solidFill>
          <a:ln xmlns:a="http://schemas.openxmlformats.org/drawingml/2006/main" w="12700">
            <a:solidFill>
              <a:srgbClr val="CEC8BD"/>
            </a:solidFill>
            <a:prstDash val="solid"/>
          </a:ln>
          <a:effectLst xmlns:a="http://schemas.openxmlformats.org/drawingml/2006/main">
            <a:outerShdw blurRad="76200" dist="25400" dir="5400000" algn="bl" rotWithShape="0">
              <a:srgbClr val="BFB8AC">
                <a:alpha val="30000"/>
              </a:srgbClr>
            </a:outerShdw>
          </a:effectLst>
        </p:spPr>
        <p:txBody>
          <a:bodyPr xmlns:a="http://schemas.openxmlformats.org/drawingml/2006/main"/>
          <a:lstStyle xmlns:a="http://schemas.openxmlformats.org/drawingml/2006/main"/>
          <a:p xmlns:a="http://schemas.openxmlformats.org/drawingml/2006/main">
            <a:endParaRPr/>
          </a:p>
        </p:txBody>
      </p:sp>
      <p:sp>
        <p:nvSpPr>
          <p:cNvPr id="4" name="Shape 2">
            <a:extLst xmlns:a="http://schemas.openxmlformats.org/drawingml/2006/main">
              <a:ext uri="{FF2B5EF4-FFF2-40B4-BE49-F238E27FC236}">
                <a16:creationId xmlns:a16="http://schemas.microsoft.com/office/drawing/2014/main" id="{194714A8-2572-47F6-BF15-BB5BB729AC59}"/>
              </a:ext>
            </a:extLst>
          </p:cNvPr>
          <p:cNvSpPr>
            <a:spLocks xmlns:a="http://schemas.openxmlformats.org/drawingml/2006/main" noGrp="1"/>
          </p:cNvSpPr>
          <p:nvPr/>
        </p:nvSpPr>
        <p:spPr>
          <a:xfrm xmlns:a="http://schemas.openxmlformats.org/drawingml/2006/main">
            <a:off x="896112" y="1664208"/>
            <a:ext cx="548640" cy="548640"/>
          </a:xfrm>
          <a:prstGeom xmlns:a="http://schemas.openxmlformats.org/drawingml/2006/main" prst="ellipse">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49D46DD4-F5E6-49C8-BD00-ED8809CA6C10}"/>
              </a:ext>
            </a:extLst>
          </p:cNvPr>
          <p:cNvSpPr>
            <a:spLocks xmlns:a="http://schemas.openxmlformats.org/drawingml/2006/main" noGrp="1"/>
          </p:cNvSpPr>
          <p:nvPr/>
        </p:nvSpPr>
        <p:spPr>
          <a:xfrm xmlns:a="http://schemas.openxmlformats.org/drawingml/2006/main">
            <a:off x="896112" y="1664208"/>
            <a:ext cx="5486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200" b="1">
                <a:solidFill>
                  <a:srgbClr val="FAF8F4"/>
                </a:solidFill>
                <a:latin typeface="Cambria"/>
                <a:ea typeface="Cambria"/>
                <a:cs typeface="Cambria"/>
              </a:rPr>
              <a:t>1</a:t>
            </a:r>
            <a:endParaRPr sz="2200"/>
          </a:p>
        </p:txBody>
      </p:sp>
      <p:sp>
        <p:nvSpPr>
          <p:cNvPr id="6" name="Text 4">
            <a:extLst xmlns:a="http://schemas.openxmlformats.org/drawingml/2006/main">
              <a:ext uri="{FF2B5EF4-FFF2-40B4-BE49-F238E27FC236}">
                <a16:creationId xmlns:a16="http://schemas.microsoft.com/office/drawing/2014/main" id="{C1126362-6D76-41F9-A84A-D6DA42A2AE04}"/>
              </a:ext>
            </a:extLst>
          </p:cNvPr>
          <p:cNvSpPr>
            <a:spLocks xmlns:a="http://schemas.openxmlformats.org/drawingml/2006/main" noGrp="1"/>
          </p:cNvSpPr>
          <p:nvPr/>
        </p:nvSpPr>
        <p:spPr>
          <a:xfrm xmlns:a="http://schemas.openxmlformats.org/drawingml/2006/main">
            <a:off x="1554480" y="1737360"/>
            <a:ext cx="219456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1F3D2F"/>
                </a:solidFill>
                <a:latin typeface="Cambria"/>
                <a:ea typeface="Cambria"/>
                <a:cs typeface="Cambria"/>
              </a:rPr>
              <a:t>BASELINE</a:t>
            </a:r>
            <a:endParaRPr sz="1800"/>
          </a:p>
        </p:txBody>
      </p:sp>
      <p:sp>
        <p:nvSpPr>
          <p:cNvPr id="7" name="Text 5">
            <a:extLst xmlns:a="http://schemas.openxmlformats.org/drawingml/2006/main">
              <a:ext uri="{FF2B5EF4-FFF2-40B4-BE49-F238E27FC236}">
                <a16:creationId xmlns:a16="http://schemas.microsoft.com/office/drawing/2014/main" id="{FD51FC79-A57A-43BE-9A9D-2B81FB965277}"/>
              </a:ext>
            </a:extLst>
          </p:cNvPr>
          <p:cNvSpPr>
            <a:spLocks xmlns:a="http://schemas.openxmlformats.org/drawingml/2006/main" noGrp="1"/>
          </p:cNvSpPr>
          <p:nvPr/>
        </p:nvSpPr>
        <p:spPr>
          <a:xfrm xmlns:a="http://schemas.openxmlformats.org/drawingml/2006/main">
            <a:off x="914400" y="2423160"/>
            <a:ext cx="269748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2000"/>
              </a:lnSpc>
              <a:buNone/>
            </a:pPr>
            <a:r>
              <a:rPr sz="1400">
                <a:solidFill>
                  <a:srgbClr val="4A453D"/>
                </a:solidFill>
                <a:latin typeface="Calibri"/>
                <a:ea typeface="Calibri"/>
                <a:cs typeface="Calibri"/>
              </a:rPr>
              <a:t>What a normal day looks like, by mode — modelled as an 84-day same-weekday median (up to 12 recent occurrences).</a:t>
            </a:r>
            <a:endParaRPr sz="1400"/>
          </a:p>
        </p:txBody>
      </p:sp>
      <p:sp>
        <p:nvSpPr>
          <p:cNvPr id="8" name="Text 6">
            <a:extLst xmlns:a="http://schemas.openxmlformats.org/drawingml/2006/main">
              <a:ext uri="{FF2B5EF4-FFF2-40B4-BE49-F238E27FC236}">
                <a16:creationId xmlns:a16="http://schemas.microsoft.com/office/drawing/2014/main" id="{0ED48F9C-6FC1-4F80-A9F3-69F49AA79D32}"/>
              </a:ext>
            </a:extLst>
          </p:cNvPr>
          <p:cNvSpPr>
            <a:spLocks xmlns:a="http://schemas.openxmlformats.org/drawingml/2006/main" noGrp="1"/>
          </p:cNvSpPr>
          <p:nvPr/>
        </p:nvSpPr>
        <p:spPr>
          <a:xfrm xmlns:a="http://schemas.openxmlformats.org/drawingml/2006/main">
            <a:off x="3867912" y="2103120"/>
            <a:ext cx="356616"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400" b="1">
                <a:solidFill>
                  <a:srgbClr val="6B655C"/>
                </a:solidFill>
                <a:latin typeface="Calibri"/>
                <a:ea typeface="Calibri"/>
                <a:cs typeface="Calibri"/>
              </a:rPr>
              <a:t>→</a:t>
            </a:r>
            <a:endParaRPr sz="2400"/>
          </a:p>
        </p:txBody>
      </p:sp>
      <p:sp>
        <p:nvSpPr>
          <p:cNvPr id="9" name="Shape 7">
            <a:extLst xmlns:a="http://schemas.openxmlformats.org/drawingml/2006/main">
              <a:ext uri="{FF2B5EF4-FFF2-40B4-BE49-F238E27FC236}">
                <a16:creationId xmlns:a16="http://schemas.microsoft.com/office/drawing/2014/main" id="{86E122B4-9B51-4359-BF21-915FEF5B3D5D}"/>
              </a:ext>
            </a:extLst>
          </p:cNvPr>
          <p:cNvSpPr>
            <a:spLocks xmlns:a="http://schemas.openxmlformats.org/drawingml/2006/main" noGrp="1"/>
          </p:cNvSpPr>
          <p:nvPr/>
        </p:nvSpPr>
        <p:spPr>
          <a:xfrm xmlns:a="http://schemas.openxmlformats.org/drawingml/2006/main">
            <a:off x="4206240" y="1417320"/>
            <a:ext cx="3246120" cy="2148840"/>
          </a:xfrm>
          <a:prstGeom xmlns:a="http://schemas.openxmlformats.org/drawingml/2006/main" prst="roundRect">
            <a:avLst>
              <a:gd name="adj" fmla="val 3830"/>
            </a:avLst>
          </a:prstGeom>
          <a:solidFill xmlns:a="http://schemas.openxmlformats.org/drawingml/2006/main">
            <a:srgbClr val="FFFFFF"/>
          </a:solidFill>
          <a:ln xmlns:a="http://schemas.openxmlformats.org/drawingml/2006/main" w="12700">
            <a:solidFill>
              <a:srgbClr val="CEC8BD"/>
            </a:solidFill>
            <a:prstDash val="solid"/>
          </a:ln>
          <a:effectLst xmlns:a="http://schemas.openxmlformats.org/drawingml/2006/main">
            <a:outerShdw blurRad="76200" dist="25400" dir="5400000" algn="bl" rotWithShape="0">
              <a:srgbClr val="BFB8AC">
                <a:alpha val="30000"/>
              </a:srgbClr>
            </a:outerShdw>
          </a:effectLst>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62E088C0-77F1-47E3-9B79-62ECF6E7004E}"/>
              </a:ext>
            </a:extLst>
          </p:cNvPr>
          <p:cNvSpPr>
            <a:spLocks xmlns:a="http://schemas.openxmlformats.org/drawingml/2006/main" noGrp="1"/>
          </p:cNvSpPr>
          <p:nvPr/>
        </p:nvSpPr>
        <p:spPr>
          <a:xfrm xmlns:a="http://schemas.openxmlformats.org/drawingml/2006/main">
            <a:off x="4462272" y="1664208"/>
            <a:ext cx="548640" cy="548640"/>
          </a:xfrm>
          <a:prstGeom xmlns:a="http://schemas.openxmlformats.org/drawingml/2006/main" prst="ellipse">
            <a:avLst/>
          </a:prstGeom>
          <a:solidFill xmlns:a="http://schemas.openxmlformats.org/drawingml/2006/main">
            <a:srgbClr val="2B4A6E"/>
          </a:solidFill>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FEA25523-50F1-4E5B-9759-0D279F994578}"/>
              </a:ext>
            </a:extLst>
          </p:cNvPr>
          <p:cNvSpPr>
            <a:spLocks xmlns:a="http://schemas.openxmlformats.org/drawingml/2006/main" noGrp="1"/>
          </p:cNvSpPr>
          <p:nvPr/>
        </p:nvSpPr>
        <p:spPr>
          <a:xfrm xmlns:a="http://schemas.openxmlformats.org/drawingml/2006/main">
            <a:off x="4462272" y="1664208"/>
            <a:ext cx="5486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200" b="1">
                <a:solidFill>
                  <a:srgbClr val="FAF8F4"/>
                </a:solidFill>
                <a:latin typeface="Cambria"/>
                <a:ea typeface="Cambria"/>
                <a:cs typeface="Cambria"/>
              </a:rPr>
              <a:t>2</a:t>
            </a:r>
            <a:endParaRPr sz="2200"/>
          </a:p>
        </p:txBody>
      </p:sp>
      <p:sp>
        <p:nvSpPr>
          <p:cNvPr id="12" name="Text 10">
            <a:extLst xmlns:a="http://schemas.openxmlformats.org/drawingml/2006/main">
              <a:ext uri="{FF2B5EF4-FFF2-40B4-BE49-F238E27FC236}">
                <a16:creationId xmlns:a16="http://schemas.microsoft.com/office/drawing/2014/main" id="{3B5E59EF-0CDA-4A75-BF7B-4513261B0C08}"/>
              </a:ext>
            </a:extLst>
          </p:cNvPr>
          <p:cNvSpPr>
            <a:spLocks xmlns:a="http://schemas.openxmlformats.org/drawingml/2006/main" noGrp="1"/>
          </p:cNvSpPr>
          <p:nvPr/>
        </p:nvSpPr>
        <p:spPr>
          <a:xfrm xmlns:a="http://schemas.openxmlformats.org/drawingml/2006/main">
            <a:off x="5120640" y="1737360"/>
            <a:ext cx="219456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2B4A6E"/>
                </a:solidFill>
                <a:latin typeface="Cambria"/>
                <a:ea typeface="Cambria"/>
                <a:cs typeface="Cambria"/>
              </a:rPr>
              <a:t>ACTUAL</a:t>
            </a:r>
            <a:endParaRPr sz="1800"/>
          </a:p>
        </p:txBody>
      </p:sp>
      <p:sp>
        <p:nvSpPr>
          <p:cNvPr id="13" name="Text 11">
            <a:extLst xmlns:a="http://schemas.openxmlformats.org/drawingml/2006/main">
              <a:ext uri="{FF2B5EF4-FFF2-40B4-BE49-F238E27FC236}">
                <a16:creationId xmlns:a16="http://schemas.microsoft.com/office/drawing/2014/main" id="{30590A49-127C-4F2C-94A5-B130ECF4D5ED}"/>
              </a:ext>
            </a:extLst>
          </p:cNvPr>
          <p:cNvSpPr>
            <a:spLocks xmlns:a="http://schemas.openxmlformats.org/drawingml/2006/main" noGrp="1"/>
          </p:cNvSpPr>
          <p:nvPr/>
        </p:nvSpPr>
        <p:spPr>
          <a:xfrm xmlns:a="http://schemas.openxmlformats.org/drawingml/2006/main">
            <a:off x="4480560" y="2423160"/>
            <a:ext cx="269748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2000"/>
              </a:lnSpc>
              <a:buNone/>
            </a:pPr>
            <a:r>
              <a:rPr sz="1400">
                <a:solidFill>
                  <a:srgbClr val="4A453D"/>
                </a:solidFill>
                <a:latin typeface="Calibri"/>
                <a:ea typeface="Calibri"/>
                <a:cs typeface="Calibri"/>
              </a:rPr>
              <a:t>What happened today, per mode, per edge — measured against that expected rhythm.</a:t>
            </a:r>
            <a:endParaRPr sz="1400"/>
          </a:p>
        </p:txBody>
      </p:sp>
      <p:sp>
        <p:nvSpPr>
          <p:cNvPr id="14" name="Text 12">
            <a:extLst xmlns:a="http://schemas.openxmlformats.org/drawingml/2006/main">
              <a:ext uri="{FF2B5EF4-FFF2-40B4-BE49-F238E27FC236}">
                <a16:creationId xmlns:a16="http://schemas.microsoft.com/office/drawing/2014/main" id="{902A7EEE-9DA9-47A3-90DA-57306F16E1B6}"/>
              </a:ext>
            </a:extLst>
          </p:cNvPr>
          <p:cNvSpPr>
            <a:spLocks xmlns:a="http://schemas.openxmlformats.org/drawingml/2006/main" noGrp="1"/>
          </p:cNvSpPr>
          <p:nvPr/>
        </p:nvSpPr>
        <p:spPr>
          <a:xfrm xmlns:a="http://schemas.openxmlformats.org/drawingml/2006/main">
            <a:off x="7434072" y="2103120"/>
            <a:ext cx="356616"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400" b="1">
                <a:solidFill>
                  <a:srgbClr val="6B655C"/>
                </a:solidFill>
                <a:latin typeface="Calibri"/>
                <a:ea typeface="Calibri"/>
                <a:cs typeface="Calibri"/>
              </a:rPr>
              <a:t>→</a:t>
            </a:r>
            <a:endParaRPr sz="2400"/>
          </a:p>
        </p:txBody>
      </p:sp>
      <p:sp>
        <p:nvSpPr>
          <p:cNvPr id="15" name="Shape 13">
            <a:extLst xmlns:a="http://schemas.openxmlformats.org/drawingml/2006/main">
              <a:ext uri="{FF2B5EF4-FFF2-40B4-BE49-F238E27FC236}">
                <a16:creationId xmlns:a16="http://schemas.microsoft.com/office/drawing/2014/main" id="{FB25AB12-7AC2-407F-93D6-F78FA9AAA78D}"/>
              </a:ext>
            </a:extLst>
          </p:cNvPr>
          <p:cNvSpPr>
            <a:spLocks xmlns:a="http://schemas.openxmlformats.org/drawingml/2006/main" noGrp="1"/>
          </p:cNvSpPr>
          <p:nvPr/>
        </p:nvSpPr>
        <p:spPr>
          <a:xfrm xmlns:a="http://schemas.openxmlformats.org/drawingml/2006/main">
            <a:off x="7772400" y="1417320"/>
            <a:ext cx="3246120" cy="2148840"/>
          </a:xfrm>
          <a:prstGeom xmlns:a="http://schemas.openxmlformats.org/drawingml/2006/main" prst="roundRect">
            <a:avLst>
              <a:gd name="adj" fmla="val 3830"/>
            </a:avLst>
          </a:prstGeom>
          <a:solidFill xmlns:a="http://schemas.openxmlformats.org/drawingml/2006/main">
            <a:srgbClr val="FFFFFF"/>
          </a:solidFill>
          <a:ln xmlns:a="http://schemas.openxmlformats.org/drawingml/2006/main" w="12700">
            <a:solidFill>
              <a:srgbClr val="CEC8BD"/>
            </a:solidFill>
            <a:prstDash val="solid"/>
          </a:ln>
          <a:effectLst xmlns:a="http://schemas.openxmlformats.org/drawingml/2006/main">
            <a:outerShdw blurRad="76200" dist="25400" dir="5400000" algn="bl" rotWithShape="0">
              <a:srgbClr val="BFB8AC">
                <a:alpha val="30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5D3ADB45-295A-4DDF-B253-EBBD290776C6}"/>
              </a:ext>
            </a:extLst>
          </p:cNvPr>
          <p:cNvSpPr>
            <a:spLocks xmlns:a="http://schemas.openxmlformats.org/drawingml/2006/main" noGrp="1"/>
          </p:cNvSpPr>
          <p:nvPr/>
        </p:nvSpPr>
        <p:spPr>
          <a:xfrm xmlns:a="http://schemas.openxmlformats.org/drawingml/2006/main">
            <a:off x="8028432" y="1664208"/>
            <a:ext cx="548640" cy="548640"/>
          </a:xfrm>
          <a:prstGeom xmlns:a="http://schemas.openxmlformats.org/drawingml/2006/main" prst="ellipse">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DDC19801-6B67-42E7-80C4-C6F5CF883D2B}"/>
              </a:ext>
            </a:extLst>
          </p:cNvPr>
          <p:cNvSpPr>
            <a:spLocks xmlns:a="http://schemas.openxmlformats.org/drawingml/2006/main" noGrp="1"/>
          </p:cNvSpPr>
          <p:nvPr/>
        </p:nvSpPr>
        <p:spPr>
          <a:xfrm xmlns:a="http://schemas.openxmlformats.org/drawingml/2006/main">
            <a:off x="8028432" y="1664208"/>
            <a:ext cx="5486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200" b="1">
                <a:solidFill>
                  <a:srgbClr val="FAF8F4"/>
                </a:solidFill>
                <a:latin typeface="Cambria"/>
                <a:ea typeface="Cambria"/>
                <a:cs typeface="Cambria"/>
              </a:rPr>
              <a:t>3</a:t>
            </a:r>
            <a:endParaRPr sz="2200"/>
          </a:p>
        </p:txBody>
      </p:sp>
      <p:sp>
        <p:nvSpPr>
          <p:cNvPr id="18" name="Text 16">
            <a:extLst xmlns:a="http://schemas.openxmlformats.org/drawingml/2006/main">
              <a:ext uri="{FF2B5EF4-FFF2-40B4-BE49-F238E27FC236}">
                <a16:creationId xmlns:a16="http://schemas.microsoft.com/office/drawing/2014/main" id="{3583EB58-6EF6-4A3C-9B7C-EE043B9324DC}"/>
              </a:ext>
            </a:extLst>
          </p:cNvPr>
          <p:cNvSpPr>
            <a:spLocks xmlns:a="http://schemas.openxmlformats.org/drawingml/2006/main" noGrp="1"/>
          </p:cNvSpPr>
          <p:nvPr/>
        </p:nvSpPr>
        <p:spPr>
          <a:xfrm xmlns:a="http://schemas.openxmlformats.org/drawingml/2006/main">
            <a:off x="8686800" y="1737360"/>
            <a:ext cx="219456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8B2635"/>
                </a:solidFill>
                <a:latin typeface="Cambria"/>
                <a:ea typeface="Cambria"/>
                <a:cs typeface="Cambria"/>
              </a:rPr>
              <a:t>RISK</a:t>
            </a:r>
            <a:endParaRPr sz="1800"/>
          </a:p>
        </p:txBody>
      </p:sp>
      <p:sp>
        <p:nvSpPr>
          <p:cNvPr id="19" name="Text 17">
            <a:extLst xmlns:a="http://schemas.openxmlformats.org/drawingml/2006/main">
              <a:ext uri="{FF2B5EF4-FFF2-40B4-BE49-F238E27FC236}">
                <a16:creationId xmlns:a16="http://schemas.microsoft.com/office/drawing/2014/main" id="{82A28753-3994-4D0D-9974-F9C0E1937C7B}"/>
              </a:ext>
            </a:extLst>
          </p:cNvPr>
          <p:cNvSpPr>
            <a:spLocks xmlns:a="http://schemas.openxmlformats.org/drawingml/2006/main" noGrp="1"/>
          </p:cNvSpPr>
          <p:nvPr/>
        </p:nvSpPr>
        <p:spPr>
          <a:xfrm xmlns:a="http://schemas.openxmlformats.org/drawingml/2006/main">
            <a:off x="8046720" y="2423160"/>
            <a:ext cx="269748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2000"/>
              </a:lnSpc>
              <a:buNone/>
            </a:pPr>
            <a:r>
              <a:rPr sz="1400">
                <a:solidFill>
                  <a:srgbClr val="4A453D"/>
                </a:solidFill>
                <a:latin typeface="Calibri"/>
                <a:ea typeface="Calibri"/>
                <a:cs typeface="Calibri"/>
              </a:rPr>
              <a:t>The size of the gap × where it sits × how many people the area holds.</a:t>
            </a:r>
            <a:endParaRPr sz="1400"/>
          </a:p>
        </p:txBody>
      </p:sp>
      <p:sp>
        <p:nvSpPr>
          <p:cNvPr id="20" name="Shape 18">
            <a:extLst xmlns:a="http://schemas.openxmlformats.org/drawingml/2006/main">
              <a:ext uri="{FF2B5EF4-FFF2-40B4-BE49-F238E27FC236}">
                <a16:creationId xmlns:a16="http://schemas.microsoft.com/office/drawing/2014/main" id="{0A684316-D8EF-4F76-BDFF-C21B331AB9CB}"/>
              </a:ext>
            </a:extLst>
          </p:cNvPr>
          <p:cNvSpPr>
            <a:spLocks xmlns:a="http://schemas.openxmlformats.org/drawingml/2006/main" noGrp="1"/>
          </p:cNvSpPr>
          <p:nvPr/>
        </p:nvSpPr>
        <p:spPr>
          <a:xfrm xmlns:a="http://schemas.openxmlformats.org/drawingml/2006/main">
            <a:off x="640080" y="3886200"/>
            <a:ext cx="10908792" cy="868680"/>
          </a:xfrm>
          <a:prstGeom xmlns:a="http://schemas.openxmlformats.org/drawingml/2006/main" prst="roundRect">
            <a:avLst>
              <a:gd name="adj" fmla="val 9474"/>
            </a:avLst>
          </a:prstGeom>
          <a:solidFill xmlns:a="http://schemas.openxmlformats.org/drawingml/2006/main">
            <a:srgbClr val="E9E4D9"/>
          </a:solidFill>
          <a:ln xmlns:a="http://schemas.openxmlformats.org/drawingml/2006/main" w="12700">
            <a:solidFill>
              <a:srgbClr val="CEC8BD"/>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5C953A7E-34C7-49B4-BD7A-73D9DA2646FD}"/>
              </a:ext>
            </a:extLst>
          </p:cNvPr>
          <p:cNvSpPr>
            <a:spLocks xmlns:a="http://schemas.openxmlformats.org/drawingml/2006/main" noGrp="1"/>
          </p:cNvSpPr>
          <p:nvPr/>
        </p:nvSpPr>
        <p:spPr>
          <a:xfrm xmlns:a="http://schemas.openxmlformats.org/drawingml/2006/main">
            <a:off x="868680" y="4023360"/>
            <a:ext cx="4572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A67C1A"/>
                </a:solidFill>
                <a:latin typeface="Calibri"/>
                <a:ea typeface="Calibri"/>
                <a:cs typeface="Calibri"/>
              </a:rPr>
              <a:t>EVENTS RESHAPE WHAT TO EXPECT</a:t>
            </a:r>
            <a:endParaRPr sz="1150"/>
          </a:p>
        </p:txBody>
      </p:sp>
      <p:sp>
        <p:nvSpPr>
          <p:cNvPr id="22" name="Text 20">
            <a:extLst xmlns:a="http://schemas.openxmlformats.org/drawingml/2006/main">
              <a:ext uri="{FF2B5EF4-FFF2-40B4-BE49-F238E27FC236}">
                <a16:creationId xmlns:a16="http://schemas.microsoft.com/office/drawing/2014/main" id="{F53267FB-BDB9-49C9-805F-8949009B986D}"/>
              </a:ext>
            </a:extLst>
          </p:cNvPr>
          <p:cNvSpPr>
            <a:spLocks xmlns:a="http://schemas.openxmlformats.org/drawingml/2006/main" noGrp="1"/>
          </p:cNvSpPr>
          <p:nvPr/>
        </p:nvSpPr>
        <p:spPr>
          <a:xfrm xmlns:a="http://schemas.openxmlformats.org/drawingml/2006/main">
            <a:off x="868680" y="4279392"/>
            <a:ext cx="104241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a:solidFill>
                  <a:srgbClr val="4A453D"/>
                </a:solidFill>
                <a:latin typeface="Calibri"/>
                <a:ea typeface="Calibri"/>
                <a:cs typeface="Calibri"/>
              </a:rPr>
              <a:t>Cruise ships in port · a test at the stadium · MetService warnings · Civil Defence alerts — hand-entered or fed in, they lift or suppress the baseline before we judge the day.</a:t>
            </a:r>
            <a:endParaRPr sz="1350"/>
          </a:p>
        </p:txBody>
      </p:sp>
      <p:sp>
        <p:nvSpPr>
          <p:cNvPr id="23" name="Text 21">
            <a:extLst xmlns:a="http://schemas.openxmlformats.org/drawingml/2006/main">
              <a:ext uri="{FF2B5EF4-FFF2-40B4-BE49-F238E27FC236}">
                <a16:creationId xmlns:a16="http://schemas.microsoft.com/office/drawing/2014/main" id="{3BDF81F0-92BE-4591-A48F-791639123655}"/>
              </a:ext>
            </a:extLst>
          </p:cNvPr>
          <p:cNvSpPr>
            <a:spLocks xmlns:a="http://schemas.openxmlformats.org/drawingml/2006/main" noGrp="1"/>
          </p:cNvSpPr>
          <p:nvPr/>
        </p:nvSpPr>
        <p:spPr>
          <a:xfrm xmlns:a="http://schemas.openxmlformats.org/drawingml/2006/main">
            <a:off x="640080" y="5074920"/>
            <a:ext cx="10972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6B655C"/>
                </a:solidFill>
                <a:latin typeface="Calibri"/>
                <a:ea typeface="Calibri"/>
                <a:cs typeface="Calibri"/>
              </a:rPr>
              <a:t>100% = baseline (expected).   Below 100% = fewer people than a normal day.   Above = more.</a:t>
            </a:r>
            <a:endParaRPr sz="1400"/>
          </a:p>
        </p:txBody>
      </p:sp>
      <p:sp>
        <p:nvSpPr>
          <p:cNvPr id="24" name="Text 22">
            <a:extLst xmlns:a="http://schemas.openxmlformats.org/drawingml/2006/main">
              <a:ext uri="{FF2B5EF4-FFF2-40B4-BE49-F238E27FC236}">
                <a16:creationId xmlns:a16="http://schemas.microsoft.com/office/drawing/2014/main" id="{64D5173C-A3E8-413E-BF23-DDB937B1B867}"/>
              </a:ext>
            </a:extLst>
          </p:cNvPr>
          <p:cNvSpPr>
            <a:spLocks xmlns:a="http://schemas.openxmlformats.org/drawingml/2006/main" noGrp="1"/>
          </p:cNvSpPr>
          <p:nvPr/>
        </p:nvSpPr>
        <p:spPr>
          <a:xfrm xmlns:a="http://schemas.openxmlformats.org/drawingml/2006/main">
            <a:off x="640080" y="5989320"/>
            <a:ext cx="10972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F3D2F"/>
                </a:solidFill>
                <a:latin typeface="Cambria"/>
                <a:ea typeface="Cambria"/>
                <a:cs typeface="Cambria"/>
              </a:rPr>
              <a:t>Modular Population Forecast &amp; Risk Estimation — one platform, extensible with more feeds and derived risks.</a:t>
            </a:r>
            <a:endParaRPr sz="1500"/>
          </a:p>
        </p:txBody>
      </p:sp>
    </p:spTree>
    <p:extLst>
      <p:ext uri="{BB962C8B-B14F-4D97-AF65-F5344CB8AC3E}">
        <p14:creationId xmlns:p14="http://schemas.microsoft.com/office/powerpoint/2010/main" val="665659349"/>
      </p:ext>
    </p:extLst>
  </p:cSld>
</p:sld>
</file>

<file path=ppt/slides/slide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D702BB-5E3F-41FA-8149-8ADF9E6E7F9B}"/>
              </a:ext>
            </a:extLst>
          </p:cNvPr>
          <p:cNvSpPr>
            <a:spLocks xmlns:a="http://schemas.openxmlformats.org/drawingml/2006/main" noGrp="1"/>
          </p:cNvSpPr>
          <p:nvPr/>
        </p:nvSpPr>
        <p:spPr>
          <a:xfrm xmlns:a="http://schemas.openxmlformats.org/drawingml/2006/main">
            <a:off x="640080" y="502920"/>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A1815"/>
                </a:solidFill>
                <a:latin typeface="Cambria"/>
                <a:ea typeface="Cambria"/>
                <a:cs typeface="Cambria"/>
              </a:rPr>
              <a:t>The trick: sensors become edge weights, not dots</a:t>
            </a:r>
            <a:endParaRPr sz="3100"/>
          </a:p>
        </p:txBody>
      </p:sp>
      <p:sp>
        <p:nvSpPr>
          <p:cNvPr id="3" name="Text 1">
            <a:extLst xmlns:a="http://schemas.openxmlformats.org/drawingml/2006/main">
              <a:ext uri="{FF2B5EF4-FFF2-40B4-BE49-F238E27FC236}">
                <a16:creationId xmlns:a16="http://schemas.microsoft.com/office/drawing/2014/main" id="{E375458F-B697-46C8-8085-B53567A1A42B}"/>
              </a:ext>
            </a:extLst>
          </p:cNvPr>
          <p:cNvSpPr>
            <a:spLocks xmlns:a="http://schemas.openxmlformats.org/drawingml/2006/main" noGrp="1"/>
          </p:cNvSpPr>
          <p:nvPr/>
        </p:nvSpPr>
        <p:spPr>
          <a:xfrm xmlns:a="http://schemas.openxmlformats.org/drawingml/2006/main">
            <a:off x="640080" y="1188720"/>
            <a:ext cx="108813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a:solidFill>
                  <a:srgbClr val="4A453D"/>
                </a:solidFill>
                <a:latin typeface="Calibri"/>
                <a:ea typeface="Calibri"/>
                <a:cs typeface="Calibri"/>
              </a:rPr>
              <a:t>A single camera counts one spot. We spread its count along the road or path it watches — so coverage becomes a network, not a scatter of points.</a:t>
            </a:r>
            <a:endParaRPr sz="1600"/>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2410fd962b554b0b"/>
          <a:stretch xmlns:a="http://schemas.openxmlformats.org/drawingml/2006/main">
            <a:fillRect l="0" t="0" r="0" b="0"/>
          </a:stretch>
        </p:blipFill>
        <p:spPr>
          <a:xfrm xmlns:a="http://schemas.openxmlformats.org/drawingml/2006/main">
            <a:off x="1234440" y="1783080"/>
            <a:ext cx="9692640" cy="329184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0B7731B6-F121-4236-B49E-7226D96FC9F6}"/>
              </a:ext>
            </a:extLst>
          </p:cNvPr>
          <p:cNvSpPr>
            <a:spLocks xmlns:a="http://schemas.openxmlformats.org/drawingml/2006/main" noGrp="1"/>
          </p:cNvSpPr>
          <p:nvPr/>
        </p:nvSpPr>
        <p:spPr>
          <a:xfrm xmlns:a="http://schemas.openxmlformats.org/drawingml/2006/main">
            <a:off x="1234440" y="5212080"/>
            <a:ext cx="31089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200" b="1">
                <a:solidFill>
                  <a:srgbClr val="1F3D2F"/>
                </a:solidFill>
                <a:latin typeface="Cambria"/>
                <a:ea typeface="Cambria"/>
                <a:cs typeface="Cambria"/>
              </a:rPr>
              <a:t>398</a:t>
            </a:r>
            <a:endParaRPr sz="3200"/>
          </a:p>
        </p:txBody>
      </p:sp>
      <p:sp>
        <p:nvSpPr>
          <p:cNvPr id="6" name="Text 3">
            <a:extLst xmlns:a="http://schemas.openxmlformats.org/drawingml/2006/main">
              <a:ext uri="{FF2B5EF4-FFF2-40B4-BE49-F238E27FC236}">
                <a16:creationId xmlns:a16="http://schemas.microsoft.com/office/drawing/2014/main" id="{69AAD675-A41C-4612-B4C1-AD1913860D66}"/>
              </a:ext>
            </a:extLst>
          </p:cNvPr>
          <p:cNvSpPr>
            <a:spLocks xmlns:a="http://schemas.openxmlformats.org/drawingml/2006/main" noGrp="1"/>
          </p:cNvSpPr>
          <p:nvPr/>
        </p:nvSpPr>
        <p:spPr>
          <a:xfrm xmlns:a="http://schemas.openxmlformats.org/drawingml/2006/main">
            <a:off x="1234440" y="5779008"/>
            <a:ext cx="3108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a:solidFill>
                  <a:srgbClr val="6B655C"/>
                </a:solidFill>
                <a:latin typeface="Calibri"/>
                <a:ea typeface="Calibri"/>
                <a:cs typeface="Calibri"/>
              </a:rPr>
              <a:t>countlines (raw point counters)</a:t>
            </a:r>
            <a:endParaRPr sz="1250"/>
          </a:p>
        </p:txBody>
      </p:sp>
      <p:sp>
        <p:nvSpPr>
          <p:cNvPr id="7" name="Text 4">
            <a:extLst xmlns:a="http://schemas.openxmlformats.org/drawingml/2006/main">
              <a:ext uri="{FF2B5EF4-FFF2-40B4-BE49-F238E27FC236}">
                <a16:creationId xmlns:a16="http://schemas.microsoft.com/office/drawing/2014/main" id="{71E5091C-D63D-4E4F-AA0D-6BE0380CBBC3}"/>
              </a:ext>
            </a:extLst>
          </p:cNvPr>
          <p:cNvSpPr>
            <a:spLocks xmlns:a="http://schemas.openxmlformats.org/drawingml/2006/main" noGrp="1"/>
          </p:cNvSpPr>
          <p:nvPr/>
        </p:nvSpPr>
        <p:spPr>
          <a:xfrm xmlns:a="http://schemas.openxmlformats.org/drawingml/2006/main">
            <a:off x="4526280" y="5212080"/>
            <a:ext cx="31089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200" b="1">
                <a:solidFill>
                  <a:srgbClr val="1F3D2F"/>
                </a:solidFill>
                <a:latin typeface="Cambria"/>
                <a:ea typeface="Cambria"/>
                <a:cs typeface="Cambria"/>
              </a:rPr>
              <a:t>128</a:t>
            </a:r>
            <a:endParaRPr sz="3200"/>
          </a:p>
        </p:txBody>
      </p:sp>
      <p:sp>
        <p:nvSpPr>
          <p:cNvPr id="8" name="Text 5">
            <a:extLst xmlns:a="http://schemas.openxmlformats.org/drawingml/2006/main">
              <a:ext uri="{FF2B5EF4-FFF2-40B4-BE49-F238E27FC236}">
                <a16:creationId xmlns:a16="http://schemas.microsoft.com/office/drawing/2014/main" id="{4C1FAA64-0BC3-477E-9BF3-3F2BB5C6F33A}"/>
              </a:ext>
            </a:extLst>
          </p:cNvPr>
          <p:cNvSpPr>
            <a:spLocks xmlns:a="http://schemas.openxmlformats.org/drawingml/2006/main" noGrp="1"/>
          </p:cNvSpPr>
          <p:nvPr/>
        </p:nvSpPr>
        <p:spPr>
          <a:xfrm xmlns:a="http://schemas.openxmlformats.org/drawingml/2006/main">
            <a:off x="4526280" y="5779008"/>
            <a:ext cx="3108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a:solidFill>
                  <a:srgbClr val="6B655C"/>
                </a:solidFill>
                <a:latin typeface="Calibri"/>
                <a:ea typeface="Calibri"/>
                <a:cs typeface="Calibri"/>
              </a:rPr>
              <a:t>camera sites (grouped by viewpoint)</a:t>
            </a:r>
            <a:endParaRPr sz="1250"/>
          </a:p>
        </p:txBody>
      </p:sp>
      <p:sp>
        <p:nvSpPr>
          <p:cNvPr id="9" name="Text 6">
            <a:extLst xmlns:a="http://schemas.openxmlformats.org/drawingml/2006/main">
              <a:ext uri="{FF2B5EF4-FFF2-40B4-BE49-F238E27FC236}">
                <a16:creationId xmlns:a16="http://schemas.microsoft.com/office/drawing/2014/main" id="{304F78CD-7BED-4A0A-A190-085C4E31A6B9}"/>
              </a:ext>
            </a:extLst>
          </p:cNvPr>
          <p:cNvSpPr>
            <a:spLocks xmlns:a="http://schemas.openxmlformats.org/drawingml/2006/main" noGrp="1"/>
          </p:cNvSpPr>
          <p:nvPr/>
        </p:nvSpPr>
        <p:spPr>
          <a:xfrm xmlns:a="http://schemas.openxmlformats.org/drawingml/2006/main">
            <a:off x="7818120" y="5212080"/>
            <a:ext cx="31089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200" b="1">
                <a:solidFill>
                  <a:srgbClr val="1F3D2F"/>
                </a:solidFill>
                <a:latin typeface="Cambria"/>
                <a:ea typeface="Cambria"/>
                <a:cs typeface="Cambria"/>
              </a:rPr>
              <a:t>147</a:t>
            </a:r>
            <a:endParaRPr sz="3200"/>
          </a:p>
        </p:txBody>
      </p:sp>
      <p:sp>
        <p:nvSpPr>
          <p:cNvPr id="10" name="Text 7">
            <a:extLst xmlns:a="http://schemas.openxmlformats.org/drawingml/2006/main">
              <a:ext uri="{FF2B5EF4-FFF2-40B4-BE49-F238E27FC236}">
                <a16:creationId xmlns:a16="http://schemas.microsoft.com/office/drawing/2014/main" id="{8EF40CED-5562-4D1F-8D58-B533B78E6A12}"/>
              </a:ext>
            </a:extLst>
          </p:cNvPr>
          <p:cNvSpPr>
            <a:spLocks xmlns:a="http://schemas.openxmlformats.org/drawingml/2006/main" noGrp="1"/>
          </p:cNvSpPr>
          <p:nvPr/>
        </p:nvSpPr>
        <p:spPr>
          <a:xfrm xmlns:a="http://schemas.openxmlformats.org/drawingml/2006/main">
            <a:off x="7818120" y="5779008"/>
            <a:ext cx="3108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a:solidFill>
                  <a:srgbClr val="6B655C"/>
                </a:solidFill>
                <a:latin typeface="Calibri"/>
                <a:ea typeface="Calibri"/>
                <a:cs typeface="Calibri"/>
              </a:rPr>
              <a:t>edges carry a value · 94 judged</a:t>
            </a:r>
            <a:endParaRPr sz="1250"/>
          </a:p>
        </p:txBody>
      </p:sp>
      <p:sp>
        <p:nvSpPr>
          <p:cNvPr id="11" name="Text 8">
            <a:extLst xmlns:a="http://schemas.openxmlformats.org/drawingml/2006/main">
              <a:ext uri="{FF2B5EF4-FFF2-40B4-BE49-F238E27FC236}">
                <a16:creationId xmlns:a16="http://schemas.microsoft.com/office/drawing/2014/main" id="{7D06B926-AAF4-48C0-B0A1-AD3BB3F51D83}"/>
              </a:ext>
            </a:extLst>
          </p:cNvPr>
          <p:cNvSpPr>
            <a:spLocks xmlns:a="http://schemas.openxmlformats.org/drawingml/2006/main" noGrp="1"/>
          </p:cNvSpPr>
          <p:nvPr/>
        </p:nvSpPr>
        <p:spPr>
          <a:xfrm xmlns:a="http://schemas.openxmlformats.org/drawingml/2006/main">
            <a:off x="640080" y="6355080"/>
            <a:ext cx="10972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i="1">
                <a:solidFill>
                  <a:srgbClr val="8B2635"/>
                </a:solidFill>
                <a:latin typeface="Cambria"/>
                <a:ea typeface="Cambria"/>
                <a:cs typeface="Cambria"/>
              </a:rPr>
              <a:t>A closure between two cameras still shows up.</a:t>
            </a:r>
            <a:endParaRPr sz="1400"/>
          </a:p>
        </p:txBody>
      </p:sp>
    </p:spTree>
    <p:extLst>
      <p:ext uri="{BB962C8B-B14F-4D97-AF65-F5344CB8AC3E}">
        <p14:creationId xmlns:p14="http://schemas.microsoft.com/office/powerpoint/2010/main" val="762166741"/>
      </p:ext>
    </p:extLst>
  </p:cSld>
</p:sld>
</file>

<file path=ppt/slides/slide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5BC80F-CB53-41C7-93E9-9EB5290AAB79}"/>
              </a:ext>
            </a:extLst>
          </p:cNvPr>
          <p:cNvSpPr>
            <a:spLocks xmlns:a="http://schemas.openxmlformats.org/drawingml/2006/main" noGrp="1"/>
          </p:cNvSpPr>
          <p:nvPr/>
        </p:nvSpPr>
        <p:spPr>
          <a:xfrm xmlns:a="http://schemas.openxmlformats.org/drawingml/2006/main">
            <a:off x="640080" y="502920"/>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A1815"/>
                </a:solidFill>
                <a:latin typeface="Cambria"/>
                <a:ea typeface="Cambria"/>
                <a:cs typeface="Cambria"/>
              </a:rPr>
              <a:t>The ratio between modes is the diagnosis</a:t>
            </a:r>
            <a:endParaRPr sz="3100"/>
          </a:p>
        </p:txBody>
      </p:sp>
      <p:sp>
        <p:nvSpPr>
          <p:cNvPr id="3" name="Text 1">
            <a:extLst xmlns:a="http://schemas.openxmlformats.org/drawingml/2006/main">
              <a:ext uri="{FF2B5EF4-FFF2-40B4-BE49-F238E27FC236}">
                <a16:creationId xmlns:a16="http://schemas.microsoft.com/office/drawing/2014/main" id="{729BD14C-7441-44A4-B51B-938FF93094BA}"/>
              </a:ext>
            </a:extLst>
          </p:cNvPr>
          <p:cNvSpPr>
            <a:spLocks xmlns:a="http://schemas.openxmlformats.org/drawingml/2006/main" noGrp="1"/>
          </p:cNvSpPr>
          <p:nvPr/>
        </p:nvSpPr>
        <p:spPr>
          <a:xfrm xmlns:a="http://schemas.openxmlformats.org/drawingml/2006/main">
            <a:off x="640080" y="1188720"/>
            <a:ext cx="108813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a:solidFill>
                  <a:srgbClr val="4A453D"/>
                </a:solidFill>
                <a:latin typeface="Calibri"/>
                <a:ea typeface="Calibri"/>
                <a:cs typeface="Calibri"/>
              </a:rPr>
              <a:t>We never type a site by how big the drop is — only by which mode fell. That is what turns a number into a cause worth investigating.</a:t>
            </a:r>
            <a:endParaRPr sz="1600"/>
          </a:p>
        </p:txBody>
      </p:sp>
      <p:sp>
        <p:nvSpPr>
          <p:cNvPr id="4" name="Shape 2">
            <a:extLst xmlns:a="http://schemas.openxmlformats.org/drawingml/2006/main">
              <a:ext uri="{FF2B5EF4-FFF2-40B4-BE49-F238E27FC236}">
                <a16:creationId xmlns:a16="http://schemas.microsoft.com/office/drawing/2014/main" id="{A598B0B7-70A3-427D-9248-853E1803CD71}"/>
              </a:ext>
            </a:extLst>
          </p:cNvPr>
          <p:cNvSpPr>
            <a:spLocks xmlns:a="http://schemas.openxmlformats.org/drawingml/2006/main" noGrp="1"/>
          </p:cNvSpPr>
          <p:nvPr/>
        </p:nvSpPr>
        <p:spPr>
          <a:xfrm xmlns:a="http://schemas.openxmlformats.org/drawingml/2006/main">
            <a:off x="640080" y="1874520"/>
            <a:ext cx="544068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CEC8BD"/>
            </a:solidFill>
            <a:prstDash val="solid"/>
          </a:ln>
          <a:effectLst xmlns:a="http://schemas.openxmlformats.org/drawingml/2006/main">
            <a:outerShdw blurRad="63500" dist="25400" dir="5400000" algn="bl" rotWithShape="0">
              <a:srgbClr val="BFB8AC">
                <a:alpha val="28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7463CCA9-DAF5-4C98-AC75-C8961965C099}"/>
              </a:ext>
            </a:extLst>
          </p:cNvPr>
          <p:cNvSpPr>
            <a:spLocks xmlns:a="http://schemas.openxmlformats.org/drawingml/2006/main" noGrp="1"/>
          </p:cNvSpPr>
          <p:nvPr/>
        </p:nvSpPr>
        <p:spPr>
          <a:xfrm xmlns:a="http://schemas.openxmlformats.org/drawingml/2006/main">
            <a:off x="896112" y="2167128"/>
            <a:ext cx="822960" cy="822960"/>
          </a:xfrm>
          <a:prstGeom xmlns:a="http://schemas.openxmlformats.org/drawingml/2006/main" prst="ellipse">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FC9AD71-4371-4C91-BFF8-7DB5D354666B}"/>
              </a:ext>
            </a:extLst>
          </p:cNvPr>
          <p:cNvSpPr>
            <a:spLocks xmlns:a="http://schemas.openxmlformats.org/drawingml/2006/main" noGrp="1"/>
          </p:cNvSpPr>
          <p:nvPr/>
        </p:nvSpPr>
        <p:spPr>
          <a:xfrm xmlns:a="http://schemas.openxmlformats.org/drawingml/2006/main">
            <a:off x="896112" y="2167128"/>
            <a:ext cx="822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FAF8F4"/>
                </a:solidFill>
                <a:latin typeface="Calibri"/>
                <a:ea typeface="Calibri"/>
                <a:cs typeface="Calibri"/>
              </a:rPr>
              <a:t>↓</a:t>
            </a:r>
            <a:endParaRPr sz="2600"/>
          </a:p>
        </p:txBody>
      </p:sp>
      <p:sp>
        <p:nvSpPr>
          <p:cNvPr id="7" name="Text 5">
            <a:extLst xmlns:a="http://schemas.openxmlformats.org/drawingml/2006/main">
              <a:ext uri="{FF2B5EF4-FFF2-40B4-BE49-F238E27FC236}">
                <a16:creationId xmlns:a16="http://schemas.microsoft.com/office/drawing/2014/main" id="{B1F088CC-668F-4E97-92BF-89B8E0D55C12}"/>
              </a:ext>
            </a:extLst>
          </p:cNvPr>
          <p:cNvSpPr>
            <a:spLocks xmlns:a="http://schemas.openxmlformats.org/drawingml/2006/main" noGrp="1"/>
          </p:cNvSpPr>
          <p:nvPr/>
        </p:nvSpPr>
        <p:spPr>
          <a:xfrm xmlns:a="http://schemas.openxmlformats.org/drawingml/2006/main">
            <a:off x="1920240" y="2075688"/>
            <a:ext cx="3977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8B2635"/>
                </a:solidFill>
                <a:latin typeface="Cambria"/>
                <a:ea typeface="Cambria"/>
                <a:cs typeface="Cambria"/>
              </a:rPr>
              <a:t>EXPOSURE HAZARD</a:t>
            </a:r>
            <a:endParaRPr sz="1700"/>
          </a:p>
        </p:txBody>
      </p:sp>
      <p:sp>
        <p:nvSpPr>
          <p:cNvPr id="8" name="Text 6">
            <a:extLst xmlns:a="http://schemas.openxmlformats.org/drawingml/2006/main">
              <a:ext uri="{FF2B5EF4-FFF2-40B4-BE49-F238E27FC236}">
                <a16:creationId xmlns:a16="http://schemas.microsoft.com/office/drawing/2014/main" id="{0FE21959-C6E2-4190-986A-50F94AAC1202}"/>
              </a:ext>
            </a:extLst>
          </p:cNvPr>
          <p:cNvSpPr>
            <a:spLocks xmlns:a="http://schemas.openxmlformats.org/drawingml/2006/main" noGrp="1"/>
          </p:cNvSpPr>
          <p:nvPr/>
        </p:nvSpPr>
        <p:spPr>
          <a:xfrm xmlns:a="http://schemas.openxmlformats.org/drawingml/2006/main">
            <a:off x="1920240" y="2441448"/>
            <a:ext cx="397764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i="1">
                <a:solidFill>
                  <a:srgbClr val="6B655C"/>
                </a:solidFill>
                <a:latin typeface="Calibri"/>
                <a:ea typeface="Calibri"/>
                <a:cs typeface="Calibri"/>
              </a:rPr>
              <a:t>people collapse ≫ cars</a:t>
            </a:r>
            <a:endParaRPr sz="1250"/>
          </a:p>
        </p:txBody>
      </p:sp>
      <p:sp>
        <p:nvSpPr>
          <p:cNvPr id="9" name="Text 7">
            <a:extLst xmlns:a="http://schemas.openxmlformats.org/drawingml/2006/main">
              <a:ext uri="{FF2B5EF4-FFF2-40B4-BE49-F238E27FC236}">
                <a16:creationId xmlns:a16="http://schemas.microsoft.com/office/drawing/2014/main" id="{FA99C00E-3B67-42A4-9BFD-1BDAACD9A8B2}"/>
              </a:ext>
            </a:extLst>
          </p:cNvPr>
          <p:cNvSpPr>
            <a:spLocks xmlns:a="http://schemas.openxmlformats.org/drawingml/2006/main" noGrp="1"/>
          </p:cNvSpPr>
          <p:nvPr/>
        </p:nvSpPr>
        <p:spPr>
          <a:xfrm xmlns:a="http://schemas.openxmlformats.org/drawingml/2006/main">
            <a:off x="1920240" y="2743200"/>
            <a:ext cx="39776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05000"/>
              </a:lnSpc>
              <a:buNone/>
            </a:pPr>
            <a:r>
              <a:rPr sz="1300">
                <a:solidFill>
                  <a:srgbClr val="4A453D"/>
                </a:solidFill>
                <a:latin typeface="Calibri"/>
                <a:ea typeface="Calibri"/>
                <a:cs typeface="Calibri"/>
              </a:rPr>
              <a:t>People stopped walking first — conditions on the street.</a:t>
            </a:r>
            <a:endParaRPr sz="1300"/>
          </a:p>
        </p:txBody>
      </p:sp>
      <p:sp>
        <p:nvSpPr>
          <p:cNvPr id="10" name="Shape 8">
            <a:extLst xmlns:a="http://schemas.openxmlformats.org/drawingml/2006/main">
              <a:ext uri="{FF2B5EF4-FFF2-40B4-BE49-F238E27FC236}">
                <a16:creationId xmlns:a16="http://schemas.microsoft.com/office/drawing/2014/main" id="{7F8CB39C-6A67-4ACE-A206-824CF341A592}"/>
              </a:ext>
            </a:extLst>
          </p:cNvPr>
          <p:cNvSpPr>
            <a:spLocks xmlns:a="http://schemas.openxmlformats.org/drawingml/2006/main" noGrp="1"/>
          </p:cNvSpPr>
          <p:nvPr/>
        </p:nvSpPr>
        <p:spPr>
          <a:xfrm xmlns:a="http://schemas.openxmlformats.org/drawingml/2006/main">
            <a:off x="6400800" y="1874520"/>
            <a:ext cx="544068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CEC8BD"/>
            </a:solidFill>
            <a:prstDash val="solid"/>
          </a:ln>
          <a:effectLst xmlns:a="http://schemas.openxmlformats.org/drawingml/2006/main">
            <a:outerShdw blurRad="63500" dist="25400" dir="5400000" algn="bl" rotWithShape="0">
              <a:srgbClr val="BFB8AC">
                <a:alpha val="28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06AD462-2063-44BF-AB04-F8DA04A0DECA}"/>
              </a:ext>
            </a:extLst>
          </p:cNvPr>
          <p:cNvSpPr>
            <a:spLocks xmlns:a="http://schemas.openxmlformats.org/drawingml/2006/main" noGrp="1"/>
          </p:cNvSpPr>
          <p:nvPr/>
        </p:nvSpPr>
        <p:spPr>
          <a:xfrm xmlns:a="http://schemas.openxmlformats.org/drawingml/2006/main">
            <a:off x="6656832" y="2167128"/>
            <a:ext cx="822960" cy="822960"/>
          </a:xfrm>
          <a:prstGeom xmlns:a="http://schemas.openxmlformats.org/drawingml/2006/main" prst="ellipse">
            <a:avLst/>
          </a:prstGeom>
          <a:solidFill xmlns:a="http://schemas.openxmlformats.org/drawingml/2006/main">
            <a:srgbClr val="A67C1A"/>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72669E0-3757-4EBA-BBA2-5C0D870CC434}"/>
              </a:ext>
            </a:extLst>
          </p:cNvPr>
          <p:cNvSpPr>
            <a:spLocks xmlns:a="http://schemas.openxmlformats.org/drawingml/2006/main" noGrp="1"/>
          </p:cNvSpPr>
          <p:nvPr/>
        </p:nvSpPr>
        <p:spPr>
          <a:xfrm xmlns:a="http://schemas.openxmlformats.org/drawingml/2006/main">
            <a:off x="6656832" y="2167128"/>
            <a:ext cx="822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000" b="1">
                <a:solidFill>
                  <a:srgbClr val="FAF8F4"/>
                </a:solidFill>
                <a:latin typeface="Calibri"/>
                <a:ea typeface="Calibri"/>
                <a:cs typeface="Calibri"/>
              </a:rPr>
              <a:t>↓</a:t>
            </a:r>
            <a:endParaRPr sz="2000"/>
          </a:p>
        </p:txBody>
      </p:sp>
      <p:sp>
        <p:nvSpPr>
          <p:cNvPr id="13" name="Text 11">
            <a:extLst xmlns:a="http://schemas.openxmlformats.org/drawingml/2006/main">
              <a:ext uri="{FF2B5EF4-FFF2-40B4-BE49-F238E27FC236}">
                <a16:creationId xmlns:a16="http://schemas.microsoft.com/office/drawing/2014/main" id="{F761659D-908B-4772-B5E9-1763CE1C82FC}"/>
              </a:ext>
            </a:extLst>
          </p:cNvPr>
          <p:cNvSpPr>
            <a:spLocks xmlns:a="http://schemas.openxmlformats.org/drawingml/2006/main" noGrp="1"/>
          </p:cNvSpPr>
          <p:nvPr/>
        </p:nvSpPr>
        <p:spPr>
          <a:xfrm xmlns:a="http://schemas.openxmlformats.org/drawingml/2006/main">
            <a:off x="7680960" y="2075688"/>
            <a:ext cx="3977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A67C1A"/>
                </a:solidFill>
                <a:latin typeface="Cambria"/>
                <a:ea typeface="Cambria"/>
                <a:cs typeface="Cambria"/>
              </a:rPr>
              <a:t>ROAD CLOSURE</a:t>
            </a:r>
            <a:endParaRPr sz="1700"/>
          </a:p>
        </p:txBody>
      </p:sp>
      <p:sp>
        <p:nvSpPr>
          <p:cNvPr id="14" name="Text 12">
            <a:extLst xmlns:a="http://schemas.openxmlformats.org/drawingml/2006/main">
              <a:ext uri="{FF2B5EF4-FFF2-40B4-BE49-F238E27FC236}">
                <a16:creationId xmlns:a16="http://schemas.microsoft.com/office/drawing/2014/main" id="{C1FB37D8-04B3-450C-B007-83ADE29B081C}"/>
              </a:ext>
            </a:extLst>
          </p:cNvPr>
          <p:cNvSpPr>
            <a:spLocks xmlns:a="http://schemas.openxmlformats.org/drawingml/2006/main" noGrp="1"/>
          </p:cNvSpPr>
          <p:nvPr/>
        </p:nvSpPr>
        <p:spPr>
          <a:xfrm xmlns:a="http://schemas.openxmlformats.org/drawingml/2006/main">
            <a:off x="7680960" y="2441448"/>
            <a:ext cx="397764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i="1">
                <a:solidFill>
                  <a:srgbClr val="6B655C"/>
                </a:solidFill>
                <a:latin typeface="Calibri"/>
                <a:ea typeface="Calibri"/>
                <a:cs typeface="Calibri"/>
              </a:rPr>
              <a:t>cars collapse ≫ people</a:t>
            </a:r>
            <a:endParaRPr sz="1250"/>
          </a:p>
        </p:txBody>
      </p:sp>
      <p:sp>
        <p:nvSpPr>
          <p:cNvPr id="15" name="Text 13">
            <a:extLst xmlns:a="http://schemas.openxmlformats.org/drawingml/2006/main">
              <a:ext uri="{FF2B5EF4-FFF2-40B4-BE49-F238E27FC236}">
                <a16:creationId xmlns:a16="http://schemas.microsoft.com/office/drawing/2014/main" id="{D60CB0DD-091E-401B-BE7B-FFB9A60DB22C}"/>
              </a:ext>
            </a:extLst>
          </p:cNvPr>
          <p:cNvSpPr>
            <a:spLocks xmlns:a="http://schemas.openxmlformats.org/drawingml/2006/main" noGrp="1"/>
          </p:cNvSpPr>
          <p:nvPr/>
        </p:nvSpPr>
        <p:spPr>
          <a:xfrm xmlns:a="http://schemas.openxmlformats.org/drawingml/2006/main">
            <a:off x="7680960" y="2743200"/>
            <a:ext cx="39776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05000"/>
              </a:lnSpc>
              <a:buNone/>
            </a:pPr>
            <a:r>
              <a:rPr sz="1300">
                <a:solidFill>
                  <a:srgbClr val="4A453D"/>
                </a:solidFill>
                <a:latin typeface="Calibri"/>
                <a:ea typeface="Calibri"/>
                <a:cs typeface="Calibri"/>
              </a:rPr>
              <a:t>Street still walkable; something is blocking traffic.</a:t>
            </a:r>
            <a:endParaRPr sz="1300"/>
          </a:p>
        </p:txBody>
      </p:sp>
      <p:sp>
        <p:nvSpPr>
          <p:cNvPr id="16" name="Shape 14">
            <a:extLst xmlns:a="http://schemas.openxmlformats.org/drawingml/2006/main">
              <a:ext uri="{FF2B5EF4-FFF2-40B4-BE49-F238E27FC236}">
                <a16:creationId xmlns:a16="http://schemas.microsoft.com/office/drawing/2014/main" id="{5AF13331-5A07-4E70-B039-A2A3EEE8FDDE}"/>
              </a:ext>
            </a:extLst>
          </p:cNvPr>
          <p:cNvSpPr>
            <a:spLocks xmlns:a="http://schemas.openxmlformats.org/drawingml/2006/main" noGrp="1"/>
          </p:cNvSpPr>
          <p:nvPr/>
        </p:nvSpPr>
        <p:spPr>
          <a:xfrm xmlns:a="http://schemas.openxmlformats.org/drawingml/2006/main">
            <a:off x="640080" y="3611880"/>
            <a:ext cx="544068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CEC8BD"/>
            </a:solidFill>
            <a:prstDash val="solid"/>
          </a:ln>
          <a:effectLst xmlns:a="http://schemas.openxmlformats.org/drawingml/2006/main">
            <a:outerShdw blurRad="63500" dist="25400" dir="5400000" algn="bl" rotWithShape="0">
              <a:srgbClr val="BFB8AC">
                <a:alpha val="28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5">
            <a:extLst xmlns:a="http://schemas.openxmlformats.org/drawingml/2006/main">
              <a:ext uri="{FF2B5EF4-FFF2-40B4-BE49-F238E27FC236}">
                <a16:creationId xmlns:a16="http://schemas.microsoft.com/office/drawing/2014/main" id="{70EC05C6-E673-4F3C-A6CA-2ED24A666AA2}"/>
              </a:ext>
            </a:extLst>
          </p:cNvPr>
          <p:cNvSpPr>
            <a:spLocks xmlns:a="http://schemas.openxmlformats.org/drawingml/2006/main" noGrp="1"/>
          </p:cNvSpPr>
          <p:nvPr/>
        </p:nvSpPr>
        <p:spPr>
          <a:xfrm xmlns:a="http://schemas.openxmlformats.org/drawingml/2006/main">
            <a:off x="896112" y="3904488"/>
            <a:ext cx="822960" cy="822960"/>
          </a:xfrm>
          <a:prstGeom xmlns:a="http://schemas.openxmlformats.org/drawingml/2006/main" prst="ellipse">
            <a:avLst/>
          </a:prstGeom>
          <a:solidFill xmlns:a="http://schemas.openxmlformats.org/drawingml/2006/main">
            <a:srgbClr val="684A8A"/>
          </a:solidFill>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E5B7A1C4-7BCB-4E15-AA04-A8B64D3CB89B}"/>
              </a:ext>
            </a:extLst>
          </p:cNvPr>
          <p:cNvSpPr>
            <a:spLocks xmlns:a="http://schemas.openxmlformats.org/drawingml/2006/main" noGrp="1"/>
          </p:cNvSpPr>
          <p:nvPr/>
        </p:nvSpPr>
        <p:spPr>
          <a:xfrm xmlns:a="http://schemas.openxmlformats.org/drawingml/2006/main">
            <a:off x="896112" y="3904488"/>
            <a:ext cx="822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000" b="1">
                <a:solidFill>
                  <a:srgbClr val="FAF8F4"/>
                </a:solidFill>
                <a:latin typeface="Calibri"/>
                <a:ea typeface="Calibri"/>
                <a:cs typeface="Calibri"/>
              </a:rPr>
              <a:t>↓↓</a:t>
            </a:r>
            <a:endParaRPr sz="2000"/>
          </a:p>
        </p:txBody>
      </p:sp>
      <p:sp>
        <p:nvSpPr>
          <p:cNvPr id="19" name="Text 17">
            <a:extLst xmlns:a="http://schemas.openxmlformats.org/drawingml/2006/main">
              <a:ext uri="{FF2B5EF4-FFF2-40B4-BE49-F238E27FC236}">
                <a16:creationId xmlns:a16="http://schemas.microsoft.com/office/drawing/2014/main" id="{24C218EF-D0F1-406F-9074-1F097F9D3AD5}"/>
              </a:ext>
            </a:extLst>
          </p:cNvPr>
          <p:cNvSpPr>
            <a:spLocks xmlns:a="http://schemas.openxmlformats.org/drawingml/2006/main" noGrp="1"/>
          </p:cNvSpPr>
          <p:nvPr/>
        </p:nvSpPr>
        <p:spPr>
          <a:xfrm xmlns:a="http://schemas.openxmlformats.org/drawingml/2006/main">
            <a:off x="1920240" y="3813048"/>
            <a:ext cx="3977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684A8A"/>
                </a:solidFill>
                <a:latin typeface="Cambria"/>
                <a:ea typeface="Cambria"/>
                <a:cs typeface="Cambria"/>
              </a:rPr>
              <a:t>LOSS OF ACCESS</a:t>
            </a:r>
            <a:endParaRPr sz="1700"/>
          </a:p>
        </p:txBody>
      </p:sp>
      <p:sp>
        <p:nvSpPr>
          <p:cNvPr id="20" name="Text 18">
            <a:extLst xmlns:a="http://schemas.openxmlformats.org/drawingml/2006/main">
              <a:ext uri="{FF2B5EF4-FFF2-40B4-BE49-F238E27FC236}">
                <a16:creationId xmlns:a16="http://schemas.microsoft.com/office/drawing/2014/main" id="{B094656B-B504-4E0A-B889-CB228448E203}"/>
              </a:ext>
            </a:extLst>
          </p:cNvPr>
          <p:cNvSpPr>
            <a:spLocks xmlns:a="http://schemas.openxmlformats.org/drawingml/2006/main" noGrp="1"/>
          </p:cNvSpPr>
          <p:nvPr/>
        </p:nvSpPr>
        <p:spPr>
          <a:xfrm xmlns:a="http://schemas.openxmlformats.org/drawingml/2006/main">
            <a:off x="1920240" y="4178808"/>
            <a:ext cx="397764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i="1">
                <a:solidFill>
                  <a:srgbClr val="6B655C"/>
                </a:solidFill>
                <a:latin typeface="Calibri"/>
                <a:ea typeface="Calibri"/>
                <a:cs typeface="Calibri"/>
              </a:rPr>
              <a:t>both collapse together</a:t>
            </a:r>
            <a:endParaRPr sz="1250"/>
          </a:p>
        </p:txBody>
      </p:sp>
      <p:sp>
        <p:nvSpPr>
          <p:cNvPr id="21" name="Text 19">
            <a:extLst xmlns:a="http://schemas.openxmlformats.org/drawingml/2006/main">
              <a:ext uri="{FF2B5EF4-FFF2-40B4-BE49-F238E27FC236}">
                <a16:creationId xmlns:a16="http://schemas.microsoft.com/office/drawing/2014/main" id="{E593F317-58C7-4EAD-83B5-454AD3EA3DCD}"/>
              </a:ext>
            </a:extLst>
          </p:cNvPr>
          <p:cNvSpPr>
            <a:spLocks xmlns:a="http://schemas.openxmlformats.org/drawingml/2006/main" noGrp="1"/>
          </p:cNvSpPr>
          <p:nvPr/>
        </p:nvSpPr>
        <p:spPr>
          <a:xfrm xmlns:a="http://schemas.openxmlformats.org/drawingml/2006/main">
            <a:off x="1920240" y="4480560"/>
            <a:ext cx="39776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05000"/>
              </a:lnSpc>
              <a:buNone/>
            </a:pPr>
            <a:r>
              <a:rPr sz="1300">
                <a:solidFill>
                  <a:srgbClr val="4A453D"/>
                </a:solidFill>
                <a:latin typeface="Calibri"/>
                <a:ea typeface="Calibri"/>
                <a:cs typeface="Calibri"/>
              </a:rPr>
              <a:t>The whole corridor emptied — nobody is moving through.</a:t>
            </a:r>
            <a:endParaRPr sz="1300"/>
          </a:p>
        </p:txBody>
      </p:sp>
      <p:sp>
        <p:nvSpPr>
          <p:cNvPr id="22" name="Shape 20">
            <a:extLst xmlns:a="http://schemas.openxmlformats.org/drawingml/2006/main">
              <a:ext uri="{FF2B5EF4-FFF2-40B4-BE49-F238E27FC236}">
                <a16:creationId xmlns:a16="http://schemas.microsoft.com/office/drawing/2014/main" id="{08D7DE2A-04E4-4680-B3EE-4DDE435F24D4}"/>
              </a:ext>
            </a:extLst>
          </p:cNvPr>
          <p:cNvSpPr>
            <a:spLocks xmlns:a="http://schemas.openxmlformats.org/drawingml/2006/main" noGrp="1"/>
          </p:cNvSpPr>
          <p:nvPr/>
        </p:nvSpPr>
        <p:spPr>
          <a:xfrm xmlns:a="http://schemas.openxmlformats.org/drawingml/2006/main">
            <a:off x="6400800" y="3611880"/>
            <a:ext cx="544068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CEC8BD"/>
            </a:solidFill>
            <a:prstDash val="solid"/>
          </a:ln>
          <a:effectLst xmlns:a="http://schemas.openxmlformats.org/drawingml/2006/main">
            <a:outerShdw blurRad="63500" dist="25400" dir="5400000" algn="bl" rotWithShape="0">
              <a:srgbClr val="BFB8AC">
                <a:alpha val="28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CF035D84-4CDB-4933-A0D3-AC61C1BA9845}"/>
              </a:ext>
            </a:extLst>
          </p:cNvPr>
          <p:cNvSpPr>
            <a:spLocks xmlns:a="http://schemas.openxmlformats.org/drawingml/2006/main" noGrp="1"/>
          </p:cNvSpPr>
          <p:nvPr/>
        </p:nvSpPr>
        <p:spPr>
          <a:xfrm xmlns:a="http://schemas.openxmlformats.org/drawingml/2006/main">
            <a:off x="6656832" y="3904488"/>
            <a:ext cx="822960" cy="822960"/>
          </a:xfrm>
          <a:prstGeom xmlns:a="http://schemas.openxmlformats.org/drawingml/2006/main" prst="ellipse">
            <a:avLst/>
          </a:prstGeom>
          <a:solidFill xmlns:a="http://schemas.openxmlformats.org/drawingml/2006/main">
            <a:srgbClr val="1F6E6A"/>
          </a:solidFill>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8375012B-EDE6-4B9C-9860-EC56518C06B3}"/>
              </a:ext>
            </a:extLst>
          </p:cNvPr>
          <p:cNvSpPr>
            <a:spLocks xmlns:a="http://schemas.openxmlformats.org/drawingml/2006/main" noGrp="1"/>
          </p:cNvSpPr>
          <p:nvPr/>
        </p:nvSpPr>
        <p:spPr>
          <a:xfrm xmlns:a="http://schemas.openxmlformats.org/drawingml/2006/main">
            <a:off x="6656832" y="3904488"/>
            <a:ext cx="822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000" b="1">
                <a:solidFill>
                  <a:srgbClr val="FAF8F4"/>
                </a:solidFill>
                <a:latin typeface="Calibri"/>
                <a:ea typeface="Calibri"/>
                <a:cs typeface="Calibri"/>
              </a:rPr>
              <a:t>↑↓</a:t>
            </a:r>
            <a:endParaRPr sz="2000"/>
          </a:p>
        </p:txBody>
      </p:sp>
      <p:sp>
        <p:nvSpPr>
          <p:cNvPr id="25" name="Text 23">
            <a:extLst xmlns:a="http://schemas.openxmlformats.org/drawingml/2006/main">
              <a:ext uri="{FF2B5EF4-FFF2-40B4-BE49-F238E27FC236}">
                <a16:creationId xmlns:a16="http://schemas.microsoft.com/office/drawing/2014/main" id="{6393E6EA-3353-4B9E-B6E1-3CAC0DD62155}"/>
              </a:ext>
            </a:extLst>
          </p:cNvPr>
          <p:cNvSpPr>
            <a:spLocks xmlns:a="http://schemas.openxmlformats.org/drawingml/2006/main" noGrp="1"/>
          </p:cNvSpPr>
          <p:nvPr/>
        </p:nvSpPr>
        <p:spPr>
          <a:xfrm xmlns:a="http://schemas.openxmlformats.org/drawingml/2006/main">
            <a:off x="7680960" y="3813048"/>
            <a:ext cx="3977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1F6E6A"/>
                </a:solidFill>
                <a:latin typeface="Cambria"/>
                <a:ea typeface="Cambria"/>
                <a:cs typeface="Cambria"/>
              </a:rPr>
              <a:t>OPEN TO PEOPLE</a:t>
            </a:r>
            <a:endParaRPr sz="1700"/>
          </a:p>
        </p:txBody>
      </p:sp>
      <p:sp>
        <p:nvSpPr>
          <p:cNvPr id="26" name="Text 24">
            <a:extLst xmlns:a="http://schemas.openxmlformats.org/drawingml/2006/main">
              <a:ext uri="{FF2B5EF4-FFF2-40B4-BE49-F238E27FC236}">
                <a16:creationId xmlns:a16="http://schemas.microsoft.com/office/drawing/2014/main" id="{E55BFE94-BD45-4279-8D1E-D549777AA2F9}"/>
              </a:ext>
            </a:extLst>
          </p:cNvPr>
          <p:cNvSpPr>
            <a:spLocks xmlns:a="http://schemas.openxmlformats.org/drawingml/2006/main" noGrp="1"/>
          </p:cNvSpPr>
          <p:nvPr/>
        </p:nvSpPr>
        <p:spPr>
          <a:xfrm xmlns:a="http://schemas.openxmlformats.org/drawingml/2006/main">
            <a:off x="7680960" y="4178808"/>
            <a:ext cx="397764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i="1">
                <a:solidFill>
                  <a:srgbClr val="6B655C"/>
                </a:solidFill>
                <a:latin typeface="Calibri"/>
                <a:ea typeface="Calibri"/>
                <a:cs typeface="Calibri"/>
              </a:rPr>
              <a:t>people up, cars down</a:t>
            </a:r>
            <a:endParaRPr sz="1250"/>
          </a:p>
        </p:txBody>
      </p:sp>
      <p:sp>
        <p:nvSpPr>
          <p:cNvPr id="27" name="Text 25">
            <a:extLst xmlns:a="http://schemas.openxmlformats.org/drawingml/2006/main">
              <a:ext uri="{FF2B5EF4-FFF2-40B4-BE49-F238E27FC236}">
                <a16:creationId xmlns:a16="http://schemas.microsoft.com/office/drawing/2014/main" id="{0070FAF3-C143-4B4F-9674-A86B1C36F17C}"/>
              </a:ext>
            </a:extLst>
          </p:cNvPr>
          <p:cNvSpPr>
            <a:spLocks xmlns:a="http://schemas.openxmlformats.org/drawingml/2006/main" noGrp="1"/>
          </p:cNvSpPr>
          <p:nvPr/>
        </p:nvSpPr>
        <p:spPr>
          <a:xfrm xmlns:a="http://schemas.openxmlformats.org/drawingml/2006/main">
            <a:off x="7680960" y="4480560"/>
            <a:ext cx="39776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05000"/>
              </a:lnSpc>
              <a:buNone/>
            </a:pPr>
            <a:r>
              <a:rPr sz="1300">
                <a:solidFill>
                  <a:srgbClr val="4A453D"/>
                </a:solidFill>
                <a:latin typeface="Calibri"/>
                <a:ea typeface="Calibri"/>
                <a:cs typeface="Calibri"/>
              </a:rPr>
              <a:t>Closed to traffic, opened to people — an event or march.</a:t>
            </a:r>
            <a:endParaRPr sz="1300"/>
          </a:p>
        </p:txBody>
      </p:sp>
      <p:sp>
        <p:nvSpPr>
          <p:cNvPr id="28" name="Text 26">
            <a:extLst xmlns:a="http://schemas.openxmlformats.org/drawingml/2006/main">
              <a:ext uri="{FF2B5EF4-FFF2-40B4-BE49-F238E27FC236}">
                <a16:creationId xmlns:a16="http://schemas.microsoft.com/office/drawing/2014/main" id="{C075DAEE-0578-41F3-BD85-8F5B035C994E}"/>
              </a:ext>
            </a:extLst>
          </p:cNvPr>
          <p:cNvSpPr>
            <a:spLocks xmlns:a="http://schemas.openxmlformats.org/drawingml/2006/main" noGrp="1"/>
          </p:cNvSpPr>
          <p:nvPr/>
        </p:nvSpPr>
        <p:spPr>
          <a:xfrm xmlns:a="http://schemas.openxmlformats.org/drawingml/2006/main">
            <a:off x="640080" y="5989320"/>
            <a:ext cx="10972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400" i="1">
                <a:solidFill>
                  <a:srgbClr val="6B655C"/>
                </a:solidFill>
                <a:latin typeface="Calibri"/>
                <a:ea typeface="Calibri"/>
                <a:cs typeface="Calibri"/>
              </a:rPr>
              <a:t>Not enough multi-mode coverage?  It returns “cannot type” — a counted, first-class verdict, never a guess.</a:t>
            </a:r>
            <a:endParaRPr sz="1400"/>
          </a:p>
        </p:txBody>
      </p:sp>
    </p:spTree>
    <p:extLst>
      <p:ext uri="{BB962C8B-B14F-4D97-AF65-F5344CB8AC3E}">
        <p14:creationId xmlns:p14="http://schemas.microsoft.com/office/powerpoint/2010/main" val="255602699"/>
      </p:ext>
    </p:extLst>
  </p:cSld>
</p:sld>
</file>

<file path=ppt/slides/slide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E2F0B0-EC27-4437-90B0-ECE3034EC122}"/>
              </a:ext>
            </a:extLst>
          </p:cNvPr>
          <p:cNvSpPr>
            <a:spLocks xmlns:a="http://schemas.openxmlformats.org/drawingml/2006/main" noGrp="1"/>
          </p:cNvSpPr>
          <p:nvPr/>
        </p:nvSpPr>
        <p:spPr>
          <a:xfrm xmlns:a="http://schemas.openxmlformats.org/drawingml/2006/main">
            <a:off x="640080" y="502920"/>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A1815"/>
                </a:solidFill>
                <a:latin typeface="Cambria"/>
                <a:ea typeface="Cambria"/>
                <a:cs typeface="Cambria"/>
              </a:rPr>
              <a:t>23 October 2025 — the day it fired</a:t>
            </a:r>
            <a:endParaRPr sz="3100"/>
          </a:p>
        </p:txBody>
      </p:sp>
      <p:sp>
        <p:nvSpPr>
          <p:cNvPr id="3" name="Text 1">
            <a:extLst xmlns:a="http://schemas.openxmlformats.org/drawingml/2006/main">
              <a:ext uri="{FF2B5EF4-FFF2-40B4-BE49-F238E27FC236}">
                <a16:creationId xmlns:a16="http://schemas.microsoft.com/office/drawing/2014/main" id="{5CEE3CC2-2CBF-48B5-8005-232EFCB56D64}"/>
              </a:ext>
            </a:extLst>
          </p:cNvPr>
          <p:cNvSpPr>
            <a:spLocks xmlns:a="http://schemas.openxmlformats.org/drawingml/2006/main" noGrp="1"/>
          </p:cNvSpPr>
          <p:nvPr/>
        </p:nvSpPr>
        <p:spPr>
          <a:xfrm xmlns:a="http://schemas.openxmlformats.org/drawingml/2006/main">
            <a:off x="548640" y="1554480"/>
            <a:ext cx="393192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600" b="1">
                <a:solidFill>
                  <a:srgbClr val="8B2635"/>
                </a:solidFill>
                <a:latin typeface="Cambria"/>
                <a:ea typeface="Cambria"/>
                <a:cs typeface="Cambria"/>
              </a:rPr>
              <a:t>−41%</a:t>
            </a:r>
            <a:endParaRPr sz="9600"/>
          </a:p>
        </p:txBody>
      </p:sp>
      <p:sp>
        <p:nvSpPr>
          <p:cNvPr id="4" name="Text 2">
            <a:extLst xmlns:a="http://schemas.openxmlformats.org/drawingml/2006/main">
              <a:ext uri="{FF2B5EF4-FFF2-40B4-BE49-F238E27FC236}">
                <a16:creationId xmlns:a16="http://schemas.microsoft.com/office/drawing/2014/main" id="{CD6BA63D-F08D-4E09-9FF4-DEB6E864D711}"/>
              </a:ext>
            </a:extLst>
          </p:cNvPr>
          <p:cNvSpPr>
            <a:spLocks xmlns:a="http://schemas.openxmlformats.org/drawingml/2006/main" noGrp="1"/>
          </p:cNvSpPr>
          <p:nvPr/>
        </p:nvSpPr>
        <p:spPr>
          <a:xfrm xmlns:a="http://schemas.openxmlformats.org/drawingml/2006/main">
            <a:off x="548640" y="2926080"/>
            <a:ext cx="39319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a:solidFill>
                  <a:srgbClr val="4A453D"/>
                </a:solidFill>
                <a:latin typeface="Calibri"/>
                <a:ea typeface="Calibri"/>
                <a:cs typeface="Calibri"/>
              </a:rPr>
              <a:t>citywide movement vs a normal Thursday</a:t>
            </a:r>
            <a:endParaRPr sz="1500"/>
          </a:p>
        </p:txBody>
      </p:sp>
      <p:sp>
        <p:nvSpPr>
          <p:cNvPr id="5" name="Shape 3">
            <a:extLst xmlns:a="http://schemas.openxmlformats.org/drawingml/2006/main">
              <a:ext uri="{FF2B5EF4-FFF2-40B4-BE49-F238E27FC236}">
                <a16:creationId xmlns:a16="http://schemas.microsoft.com/office/drawing/2014/main" id="{E9F4349F-5DA9-4B39-A3A8-13C5DB9B4E10}"/>
              </a:ext>
            </a:extLst>
          </p:cNvPr>
          <p:cNvSpPr>
            <a:spLocks xmlns:a="http://schemas.openxmlformats.org/drawingml/2006/main" noGrp="1"/>
          </p:cNvSpPr>
          <p:nvPr/>
        </p:nvSpPr>
        <p:spPr>
          <a:xfrm xmlns:a="http://schemas.openxmlformats.org/drawingml/2006/main">
            <a:off x="685800" y="3703320"/>
            <a:ext cx="3611880" cy="384048"/>
          </a:xfrm>
          <a:prstGeom xmlns:a="http://schemas.openxmlformats.org/drawingml/2006/main" prst="roundRect">
            <a:avLst>
              <a:gd name="adj" fmla="val 50000"/>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DBE8EDD-CB39-464C-A4CD-322D2C8DCD4D}"/>
              </a:ext>
            </a:extLst>
          </p:cNvPr>
          <p:cNvSpPr>
            <a:spLocks xmlns:a="http://schemas.openxmlformats.org/drawingml/2006/main" noGrp="1"/>
          </p:cNvSpPr>
          <p:nvPr/>
        </p:nvSpPr>
        <p:spPr>
          <a:xfrm xmlns:a="http://schemas.openxmlformats.org/drawingml/2006/main">
            <a:off x="685800" y="3703320"/>
            <a:ext cx="36118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b="1">
                <a:solidFill>
                  <a:srgbClr val="FFFFFF"/>
                </a:solidFill>
                <a:latin typeface="Calibri"/>
                <a:ea typeface="Calibri"/>
                <a:cs typeface="Calibri"/>
              </a:rPr>
              <a:t>MetService RED severe-wind warning</a:t>
            </a:r>
            <a:endParaRPr sz="1150"/>
          </a:p>
        </p:txBody>
      </p:sp>
      <p:sp>
        <p:nvSpPr>
          <p:cNvPr id="7" name="Shape 5">
            <a:extLst xmlns:a="http://schemas.openxmlformats.org/drawingml/2006/main">
              <a:ext uri="{FF2B5EF4-FFF2-40B4-BE49-F238E27FC236}">
                <a16:creationId xmlns:a16="http://schemas.microsoft.com/office/drawing/2014/main" id="{0AFF581B-6162-4890-853B-21B549E29407}"/>
              </a:ext>
            </a:extLst>
          </p:cNvPr>
          <p:cNvSpPr>
            <a:spLocks xmlns:a="http://schemas.openxmlformats.org/drawingml/2006/main" noGrp="1"/>
          </p:cNvSpPr>
          <p:nvPr/>
        </p:nvSpPr>
        <p:spPr>
          <a:xfrm xmlns:a="http://schemas.openxmlformats.org/drawingml/2006/main">
            <a:off x="685800" y="4206240"/>
            <a:ext cx="3611880" cy="384048"/>
          </a:xfrm>
          <a:prstGeom xmlns:a="http://schemas.openxmlformats.org/drawingml/2006/main" prst="roundRect">
            <a:avLst>
              <a:gd name="adj" fmla="val 50000"/>
            </a:avLst>
          </a:prstGeom>
          <a:solidFill xmlns:a="http://schemas.openxmlformats.org/drawingml/2006/main">
            <a:srgbClr val="5C1420"/>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BCC66BA2-0920-418B-AAF2-7C80C2D688C7}"/>
              </a:ext>
            </a:extLst>
          </p:cNvPr>
          <p:cNvSpPr>
            <a:spLocks xmlns:a="http://schemas.openxmlformats.org/drawingml/2006/main" noGrp="1"/>
          </p:cNvSpPr>
          <p:nvPr/>
        </p:nvSpPr>
        <p:spPr>
          <a:xfrm xmlns:a="http://schemas.openxmlformats.org/drawingml/2006/main">
            <a:off x="685800" y="4206240"/>
            <a:ext cx="36118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b="1">
                <a:solidFill>
                  <a:srgbClr val="FFFFFF"/>
                </a:solidFill>
                <a:latin typeface="Calibri"/>
                <a:ea typeface="Calibri"/>
                <a:cs typeface="Calibri"/>
              </a:rPr>
              <a:t>Gusts to 140 km/h at Mount Kaukau</a:t>
            </a:r>
            <a:endParaRPr sz="1150"/>
          </a:p>
        </p:txBody>
      </p:sp>
      <p:sp>
        <p:nvSpPr>
          <p:cNvPr id="9" name="Shape 7">
            <a:extLst xmlns:a="http://schemas.openxmlformats.org/drawingml/2006/main">
              <a:ext uri="{FF2B5EF4-FFF2-40B4-BE49-F238E27FC236}">
                <a16:creationId xmlns:a16="http://schemas.microsoft.com/office/drawing/2014/main" id="{19C59563-DE92-4AA4-AD61-72D7CF8D97B4}"/>
              </a:ext>
            </a:extLst>
          </p:cNvPr>
          <p:cNvSpPr>
            <a:spLocks xmlns:a="http://schemas.openxmlformats.org/drawingml/2006/main" noGrp="1"/>
          </p:cNvSpPr>
          <p:nvPr/>
        </p:nvSpPr>
        <p:spPr>
          <a:xfrm xmlns:a="http://schemas.openxmlformats.org/drawingml/2006/main">
            <a:off x="685800" y="4709160"/>
            <a:ext cx="3611880" cy="384048"/>
          </a:xfrm>
          <a:prstGeom xmlns:a="http://schemas.openxmlformats.org/drawingml/2006/main" prst="roundRect">
            <a:avLst>
              <a:gd name="adj" fmla="val 50000"/>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1F0F92F7-C44E-49BD-AA2A-8A1B61EC619D}"/>
              </a:ext>
            </a:extLst>
          </p:cNvPr>
          <p:cNvSpPr>
            <a:spLocks xmlns:a="http://schemas.openxmlformats.org/drawingml/2006/main" noGrp="1"/>
          </p:cNvSpPr>
          <p:nvPr/>
        </p:nvSpPr>
        <p:spPr>
          <a:xfrm xmlns:a="http://schemas.openxmlformats.org/drawingml/2006/main">
            <a:off x="685800" y="4709160"/>
            <a:ext cx="36118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b="1">
                <a:solidFill>
                  <a:srgbClr val="FFFFFF"/>
                </a:solidFill>
                <a:latin typeface="Calibri"/>
                <a:ea typeface="Calibri"/>
                <a:cs typeface="Calibri"/>
              </a:rPr>
              <a:t>Every Wellington train cancelled</a:t>
            </a:r>
            <a:endParaRPr sz="1150"/>
          </a:p>
        </p:txBody>
      </p:sp>
      <p:sp>
        <p:nvSpPr>
          <p:cNvPr id="11" name="Text 9">
            <a:extLst xmlns:a="http://schemas.openxmlformats.org/drawingml/2006/main">
              <a:ext uri="{FF2B5EF4-FFF2-40B4-BE49-F238E27FC236}">
                <a16:creationId xmlns:a16="http://schemas.microsoft.com/office/drawing/2014/main" id="{AFE8E96F-9F1A-4424-95C2-3AB1F17E4B32}"/>
              </a:ext>
            </a:extLst>
          </p:cNvPr>
          <p:cNvSpPr>
            <a:spLocks xmlns:a="http://schemas.openxmlformats.org/drawingml/2006/main" noGrp="1"/>
          </p:cNvSpPr>
          <p:nvPr/>
        </p:nvSpPr>
        <p:spPr>
          <a:xfrm xmlns:a="http://schemas.openxmlformats.org/drawingml/2006/main">
            <a:off x="685800" y="5349240"/>
            <a:ext cx="36576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200" i="1">
                <a:solidFill>
                  <a:srgbClr val="6B655C"/>
                </a:solidFill>
                <a:latin typeface="Calibri"/>
                <a:ea typeface="Calibri"/>
                <a:cs typeface="Calibri"/>
              </a:rPr>
              <a:t>Headline is the 11-Thursday robust baseline — a sceptic can redo it by hand.</a:t>
            </a:r>
            <a:endParaRPr sz="1200"/>
          </a:p>
        </p:txBody>
      </p:sp>
      <p:sp>
        <p:nvSpPr>
          <p:cNvPr id="12" name="Shape 10">
            <a:extLst xmlns:a="http://schemas.openxmlformats.org/drawingml/2006/main">
              <a:ext uri="{FF2B5EF4-FFF2-40B4-BE49-F238E27FC236}">
                <a16:creationId xmlns:a16="http://schemas.microsoft.com/office/drawing/2014/main" id="{1AAD1075-A438-4BD4-9710-44E352561928}"/>
              </a:ext>
            </a:extLst>
          </p:cNvPr>
          <p:cNvSpPr>
            <a:spLocks xmlns:a="http://schemas.openxmlformats.org/drawingml/2006/main" noGrp="1"/>
          </p:cNvSpPr>
          <p:nvPr/>
        </p:nvSpPr>
        <p:spPr>
          <a:xfrm xmlns:a="http://schemas.openxmlformats.org/drawingml/2006/main">
            <a:off x="4800600" y="1554480"/>
            <a:ext cx="6720840" cy="4480560"/>
          </a:xfrm>
          <a:prstGeom xmlns:a="http://schemas.openxmlformats.org/drawingml/2006/main" prst="roundRect">
            <a:avLst>
              <a:gd name="adj" fmla="val 1837"/>
            </a:avLst>
          </a:prstGeom>
          <a:solidFill xmlns:a="http://schemas.openxmlformats.org/drawingml/2006/main">
            <a:srgbClr val="FFFFFF"/>
          </a:solidFill>
          <a:ln xmlns:a="http://schemas.openxmlformats.org/drawingml/2006/main" w="12700">
            <a:solidFill>
              <a:srgbClr val="CEC8BD"/>
            </a:solidFill>
            <a:prstDash val="solid"/>
          </a:ln>
          <a:effectLst xmlns:a="http://schemas.openxmlformats.org/drawingml/2006/main">
            <a:outerShdw blurRad="76200" dist="25400" dir="5400000" algn="bl" rotWithShape="0">
              <a:srgbClr val="BFB8AC">
                <a:alpha val="30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6CCEE9B0-7ACC-47FE-8A32-D8C70DCCA09F}"/>
              </a:ext>
            </a:extLst>
          </p:cNvPr>
          <p:cNvSpPr>
            <a:spLocks xmlns:a="http://schemas.openxmlformats.org/drawingml/2006/main" noGrp="1"/>
          </p:cNvSpPr>
          <p:nvPr/>
        </p:nvSpPr>
        <p:spPr>
          <a:xfrm xmlns:a="http://schemas.openxmlformats.org/drawingml/2006/main">
            <a:off x="5120640" y="1783080"/>
            <a:ext cx="2926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1F3D2F"/>
                </a:solidFill>
                <a:latin typeface="Cambria"/>
                <a:ea typeface="Cambria"/>
                <a:cs typeface="Cambria"/>
              </a:rPr>
              <a:t>16 Oct · normal</a:t>
            </a:r>
            <a:endParaRPr sz="1500"/>
          </a:p>
        </p:txBody>
      </p:sp>
      <p:sp>
        <p:nvSpPr>
          <p:cNvPr id="14" name="Text 12">
            <a:extLst xmlns:a="http://schemas.openxmlformats.org/drawingml/2006/main">
              <a:ext uri="{FF2B5EF4-FFF2-40B4-BE49-F238E27FC236}">
                <a16:creationId xmlns:a16="http://schemas.microsoft.com/office/drawing/2014/main" id="{3265F720-29D7-44C2-B5E1-60FD245E29B6}"/>
              </a:ext>
            </a:extLst>
          </p:cNvPr>
          <p:cNvSpPr>
            <a:spLocks xmlns:a="http://schemas.openxmlformats.org/drawingml/2006/main" noGrp="1"/>
          </p:cNvSpPr>
          <p:nvPr/>
        </p:nvSpPr>
        <p:spPr>
          <a:xfrm xmlns:a="http://schemas.openxmlformats.org/drawingml/2006/main">
            <a:off x="8275320" y="1783080"/>
            <a:ext cx="2926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8B2635"/>
                </a:solidFill>
                <a:latin typeface="Cambria"/>
                <a:ea typeface="Cambria"/>
                <a:cs typeface="Cambria"/>
              </a:rPr>
              <a:t>23 Oct · storm</a:t>
            </a:r>
            <a:endParaRPr sz="1500"/>
          </a:p>
        </p:txBody>
      </p:sp>
      <p:sp>
        <p:nvSpPr>
          <p:cNvPr id="15" name="Shape 13">
            <a:extLst xmlns:a="http://schemas.openxmlformats.org/drawingml/2006/main">
              <a:ext uri="{FF2B5EF4-FFF2-40B4-BE49-F238E27FC236}">
                <a16:creationId xmlns:a16="http://schemas.microsoft.com/office/drawing/2014/main" id="{391AF698-1547-48CB-A590-4F127F895D1B}"/>
              </a:ext>
            </a:extLst>
          </p:cNvPr>
          <p:cNvSpPr>
            <a:spLocks xmlns:a="http://schemas.openxmlformats.org/drawingml/2006/main" noGrp="1"/>
          </p:cNvSpPr>
          <p:nvPr/>
        </p:nvSpPr>
        <p:spPr>
          <a:xfrm xmlns:a="http://schemas.openxmlformats.org/drawingml/2006/main">
            <a:off x="8161020" y="2240280"/>
            <a:ext cx="0" cy="3291840"/>
          </a:xfrm>
          <a:prstGeom xmlns:a="http://schemas.openxmlformats.org/drawingml/2006/main" prst="line">
            <a:avLst/>
          </a:prstGeom>
          <a:noFill xmlns:a="http://schemas.openxmlformats.org/drawingml/2006/main"/>
          <a:ln xmlns:a="http://schemas.openxmlformats.org/drawingml/2006/main" w="12700">
            <a:solidFill>
              <a:srgbClr val="CEC8BD"/>
            </a:solidFill>
            <a:prstDash val="dash"/>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EFE826A4-B2BE-42FA-8008-8DFFDCD9AF17}"/>
              </a:ext>
            </a:extLst>
          </p:cNvPr>
          <p:cNvSpPr>
            <a:spLocks xmlns:a="http://schemas.openxmlformats.org/drawingml/2006/main" noGrp="1"/>
          </p:cNvSpPr>
          <p:nvPr/>
        </p:nvSpPr>
        <p:spPr>
          <a:xfrm xmlns:a="http://schemas.openxmlformats.org/drawingml/2006/main">
            <a:off x="5440680" y="2606040"/>
            <a:ext cx="384048" cy="2286000"/>
          </a:xfrm>
          <a:prstGeom xmlns:a="http://schemas.openxmlformats.org/drawingml/2006/main" prst="rect">
            <a:avLst/>
          </a:prstGeom>
          <a:solidFill xmlns:a="http://schemas.openxmlformats.org/drawingml/2006/main">
            <a:srgbClr val="CEC8BD">
              <a:alpha val="45000"/>
            </a:srgbClr>
          </a:solidFill>
          <a:ln xmlns:a="http://schemas.openxmlformats.org/drawingml/2006/main" w="9525">
            <a:solidFill>
              <a:srgbClr val="6B655C">
                <a:alpha val="6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hape 15">
            <a:extLst xmlns:a="http://schemas.openxmlformats.org/drawingml/2006/main">
              <a:ext uri="{FF2B5EF4-FFF2-40B4-BE49-F238E27FC236}">
                <a16:creationId xmlns:a16="http://schemas.microsoft.com/office/drawing/2014/main" id="{4C9F0B5C-443F-4E40-A84B-1640568B927F}"/>
              </a:ext>
            </a:extLst>
          </p:cNvPr>
          <p:cNvSpPr>
            <a:spLocks xmlns:a="http://schemas.openxmlformats.org/drawingml/2006/main" noGrp="1"/>
          </p:cNvSpPr>
          <p:nvPr/>
        </p:nvSpPr>
        <p:spPr>
          <a:xfrm xmlns:a="http://schemas.openxmlformats.org/drawingml/2006/main">
            <a:off x="5440680" y="2587752"/>
            <a:ext cx="384048" cy="45720"/>
          </a:xfrm>
          <a:prstGeom xmlns:a="http://schemas.openxmlformats.org/drawingml/2006/main" prst="rect">
            <a:avLst/>
          </a:prstGeom>
          <a:solidFill xmlns:a="http://schemas.openxmlformats.org/drawingml/2006/main">
            <a:srgbClr val="6B655C">
              <a:alpha val="80000"/>
            </a:srgbClr>
          </a:solidFill>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3A879123-0D8A-4FCE-BABC-5EB61A03EA02}"/>
              </a:ext>
            </a:extLst>
          </p:cNvPr>
          <p:cNvSpPr>
            <a:spLocks xmlns:a="http://schemas.openxmlformats.org/drawingml/2006/main" noGrp="1"/>
          </p:cNvSpPr>
          <p:nvPr/>
        </p:nvSpPr>
        <p:spPr>
          <a:xfrm xmlns:a="http://schemas.openxmlformats.org/drawingml/2006/main">
            <a:off x="5498287" y="2834640"/>
            <a:ext cx="268834" cy="2057400"/>
          </a:xfrm>
          <a:prstGeom xmlns:a="http://schemas.openxmlformats.org/drawingml/2006/main" prst="rect">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AF4E59A6-7E87-47E3-91CD-B1AC74698EBD}"/>
              </a:ext>
            </a:extLst>
          </p:cNvPr>
          <p:cNvSpPr>
            <a:spLocks xmlns:a="http://schemas.openxmlformats.org/drawingml/2006/main" noGrp="1"/>
          </p:cNvSpPr>
          <p:nvPr/>
        </p:nvSpPr>
        <p:spPr>
          <a:xfrm xmlns:a="http://schemas.openxmlformats.org/drawingml/2006/main">
            <a:off x="5559552" y="4965192"/>
            <a:ext cx="146304" cy="146304"/>
          </a:xfrm>
          <a:prstGeom xmlns:a="http://schemas.openxmlformats.org/drawingml/2006/main" prst="rect">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66D8F2DF-7EA6-43B8-94D6-FF0A4F6143D4}"/>
              </a:ext>
            </a:extLst>
          </p:cNvPr>
          <p:cNvSpPr>
            <a:spLocks xmlns:a="http://schemas.openxmlformats.org/drawingml/2006/main" noGrp="1"/>
          </p:cNvSpPr>
          <p:nvPr/>
        </p:nvSpPr>
        <p:spPr>
          <a:xfrm xmlns:a="http://schemas.openxmlformats.org/drawingml/2006/main">
            <a:off x="5989320" y="2606040"/>
            <a:ext cx="384048" cy="2286000"/>
          </a:xfrm>
          <a:prstGeom xmlns:a="http://schemas.openxmlformats.org/drawingml/2006/main" prst="rect">
            <a:avLst/>
          </a:prstGeom>
          <a:solidFill xmlns:a="http://schemas.openxmlformats.org/drawingml/2006/main">
            <a:srgbClr val="CEC8BD">
              <a:alpha val="45000"/>
            </a:srgbClr>
          </a:solidFill>
          <a:ln xmlns:a="http://schemas.openxmlformats.org/drawingml/2006/main" w="9525">
            <a:solidFill>
              <a:srgbClr val="6B655C">
                <a:alpha val="6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62B5BEEB-F40D-46CA-B748-B6F755D74316}"/>
              </a:ext>
            </a:extLst>
          </p:cNvPr>
          <p:cNvSpPr>
            <a:spLocks xmlns:a="http://schemas.openxmlformats.org/drawingml/2006/main" noGrp="1"/>
          </p:cNvSpPr>
          <p:nvPr/>
        </p:nvSpPr>
        <p:spPr>
          <a:xfrm xmlns:a="http://schemas.openxmlformats.org/drawingml/2006/main">
            <a:off x="5989320" y="2587752"/>
            <a:ext cx="384048" cy="45720"/>
          </a:xfrm>
          <a:prstGeom xmlns:a="http://schemas.openxmlformats.org/drawingml/2006/main" prst="rect">
            <a:avLst/>
          </a:prstGeom>
          <a:solidFill xmlns:a="http://schemas.openxmlformats.org/drawingml/2006/main">
            <a:srgbClr val="6B655C">
              <a:alpha val="80000"/>
            </a:srgbClr>
          </a:solidFill>
        </p:spPr>
        <p:txBody>
          <a:bodyPr xmlns:a="http://schemas.openxmlformats.org/drawingml/2006/main"/>
          <a:lstStyle xmlns:a="http://schemas.openxmlformats.org/drawingml/2006/main"/>
          <a:p xmlns:a="http://schemas.openxmlformats.org/drawingml/2006/main">
            <a:endParaRPr/>
          </a:p>
        </p:txBody>
      </p:sp>
      <p:sp>
        <p:nvSpPr>
          <p:cNvPr id="22" name="Shape 20">
            <a:extLst xmlns:a="http://schemas.openxmlformats.org/drawingml/2006/main">
              <a:ext uri="{FF2B5EF4-FFF2-40B4-BE49-F238E27FC236}">
                <a16:creationId xmlns:a16="http://schemas.microsoft.com/office/drawing/2014/main" id="{2E290F13-9A30-4822-9EB7-E179FC673B9A}"/>
              </a:ext>
            </a:extLst>
          </p:cNvPr>
          <p:cNvSpPr>
            <a:spLocks xmlns:a="http://schemas.openxmlformats.org/drawingml/2006/main" noGrp="1"/>
          </p:cNvSpPr>
          <p:nvPr/>
        </p:nvSpPr>
        <p:spPr>
          <a:xfrm xmlns:a="http://schemas.openxmlformats.org/drawingml/2006/main">
            <a:off x="6046927" y="2926080"/>
            <a:ext cx="268834" cy="1965960"/>
          </a:xfrm>
          <a:prstGeom xmlns:a="http://schemas.openxmlformats.org/drawingml/2006/main" prst="rect">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9697E936-9526-40D4-906C-AC5B0A2A305D}"/>
              </a:ext>
            </a:extLst>
          </p:cNvPr>
          <p:cNvSpPr>
            <a:spLocks xmlns:a="http://schemas.openxmlformats.org/drawingml/2006/main" noGrp="1"/>
          </p:cNvSpPr>
          <p:nvPr/>
        </p:nvSpPr>
        <p:spPr>
          <a:xfrm xmlns:a="http://schemas.openxmlformats.org/drawingml/2006/main">
            <a:off x="6108192" y="4965192"/>
            <a:ext cx="146304" cy="146304"/>
          </a:xfrm>
          <a:prstGeom xmlns:a="http://schemas.openxmlformats.org/drawingml/2006/main" prst="triangle">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B3A09567-7E10-4162-9A38-FC7BB8EA7E96}"/>
              </a:ext>
            </a:extLst>
          </p:cNvPr>
          <p:cNvSpPr>
            <a:spLocks xmlns:a="http://schemas.openxmlformats.org/drawingml/2006/main" noGrp="1"/>
          </p:cNvSpPr>
          <p:nvPr/>
        </p:nvSpPr>
        <p:spPr>
          <a:xfrm xmlns:a="http://schemas.openxmlformats.org/drawingml/2006/main">
            <a:off x="6537960" y="2606040"/>
            <a:ext cx="384048" cy="2286000"/>
          </a:xfrm>
          <a:prstGeom xmlns:a="http://schemas.openxmlformats.org/drawingml/2006/main" prst="rect">
            <a:avLst/>
          </a:prstGeom>
          <a:solidFill xmlns:a="http://schemas.openxmlformats.org/drawingml/2006/main">
            <a:srgbClr val="CEC8BD">
              <a:alpha val="45000"/>
            </a:srgbClr>
          </a:solidFill>
          <a:ln xmlns:a="http://schemas.openxmlformats.org/drawingml/2006/main" w="9525">
            <a:solidFill>
              <a:srgbClr val="6B655C">
                <a:alpha val="6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3A640C1F-ADDC-4BAD-A905-337EC655E7FD}"/>
              </a:ext>
            </a:extLst>
          </p:cNvPr>
          <p:cNvSpPr>
            <a:spLocks xmlns:a="http://schemas.openxmlformats.org/drawingml/2006/main" noGrp="1"/>
          </p:cNvSpPr>
          <p:nvPr/>
        </p:nvSpPr>
        <p:spPr>
          <a:xfrm xmlns:a="http://schemas.openxmlformats.org/drawingml/2006/main">
            <a:off x="6537960" y="2587752"/>
            <a:ext cx="384048" cy="45720"/>
          </a:xfrm>
          <a:prstGeom xmlns:a="http://schemas.openxmlformats.org/drawingml/2006/main" prst="rect">
            <a:avLst/>
          </a:prstGeom>
          <a:solidFill xmlns:a="http://schemas.openxmlformats.org/drawingml/2006/main">
            <a:srgbClr val="6B655C">
              <a:alpha val="80000"/>
            </a:srgbClr>
          </a:solidFill>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9E092633-A5BD-44EE-939A-902CE137FF16}"/>
              </a:ext>
            </a:extLst>
          </p:cNvPr>
          <p:cNvSpPr>
            <a:spLocks xmlns:a="http://schemas.openxmlformats.org/drawingml/2006/main" noGrp="1"/>
          </p:cNvSpPr>
          <p:nvPr/>
        </p:nvSpPr>
        <p:spPr>
          <a:xfrm xmlns:a="http://schemas.openxmlformats.org/drawingml/2006/main">
            <a:off x="6595567" y="2788920"/>
            <a:ext cx="268834" cy="2103120"/>
          </a:xfrm>
          <a:prstGeom xmlns:a="http://schemas.openxmlformats.org/drawingml/2006/main" prst="rect">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7D662CCC-09C8-4D21-A0FD-EC53956ED89B}"/>
              </a:ext>
            </a:extLst>
          </p:cNvPr>
          <p:cNvSpPr>
            <a:spLocks xmlns:a="http://schemas.openxmlformats.org/drawingml/2006/main" noGrp="1"/>
          </p:cNvSpPr>
          <p:nvPr/>
        </p:nvSpPr>
        <p:spPr>
          <a:xfrm xmlns:a="http://schemas.openxmlformats.org/drawingml/2006/main">
            <a:off x="6656832" y="4965192"/>
            <a:ext cx="146304" cy="146304"/>
          </a:xfrm>
          <a:prstGeom xmlns:a="http://schemas.openxmlformats.org/drawingml/2006/main" prst="rect">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28" name="Shape 26">
            <a:extLst xmlns:a="http://schemas.openxmlformats.org/drawingml/2006/main">
              <a:ext uri="{FF2B5EF4-FFF2-40B4-BE49-F238E27FC236}">
                <a16:creationId xmlns:a16="http://schemas.microsoft.com/office/drawing/2014/main" id="{44C1D3DA-27DF-4F50-8E6D-C2D75D5489E7}"/>
              </a:ext>
            </a:extLst>
          </p:cNvPr>
          <p:cNvSpPr>
            <a:spLocks xmlns:a="http://schemas.openxmlformats.org/drawingml/2006/main" noGrp="1"/>
          </p:cNvSpPr>
          <p:nvPr/>
        </p:nvSpPr>
        <p:spPr>
          <a:xfrm xmlns:a="http://schemas.openxmlformats.org/drawingml/2006/main">
            <a:off x="7086600" y="2606040"/>
            <a:ext cx="384048" cy="2286000"/>
          </a:xfrm>
          <a:prstGeom xmlns:a="http://schemas.openxmlformats.org/drawingml/2006/main" prst="rect">
            <a:avLst/>
          </a:prstGeom>
          <a:solidFill xmlns:a="http://schemas.openxmlformats.org/drawingml/2006/main">
            <a:srgbClr val="CEC8BD">
              <a:alpha val="45000"/>
            </a:srgbClr>
          </a:solidFill>
          <a:ln xmlns:a="http://schemas.openxmlformats.org/drawingml/2006/main" w="9525">
            <a:solidFill>
              <a:srgbClr val="6B655C">
                <a:alpha val="6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Shape 27">
            <a:extLst xmlns:a="http://schemas.openxmlformats.org/drawingml/2006/main">
              <a:ext uri="{FF2B5EF4-FFF2-40B4-BE49-F238E27FC236}">
                <a16:creationId xmlns:a16="http://schemas.microsoft.com/office/drawing/2014/main" id="{437E56EE-F4D2-4214-88FC-FE2757BB7872}"/>
              </a:ext>
            </a:extLst>
          </p:cNvPr>
          <p:cNvSpPr>
            <a:spLocks xmlns:a="http://schemas.openxmlformats.org/drawingml/2006/main" noGrp="1"/>
          </p:cNvSpPr>
          <p:nvPr/>
        </p:nvSpPr>
        <p:spPr>
          <a:xfrm xmlns:a="http://schemas.openxmlformats.org/drawingml/2006/main">
            <a:off x="7086600" y="2587752"/>
            <a:ext cx="384048" cy="45720"/>
          </a:xfrm>
          <a:prstGeom xmlns:a="http://schemas.openxmlformats.org/drawingml/2006/main" prst="rect">
            <a:avLst/>
          </a:prstGeom>
          <a:solidFill xmlns:a="http://schemas.openxmlformats.org/drawingml/2006/main">
            <a:srgbClr val="6B655C">
              <a:alpha val="80000"/>
            </a:srgbClr>
          </a:solidFill>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F5D1540A-2404-4971-A9D7-B771B17A89F6}"/>
              </a:ext>
            </a:extLst>
          </p:cNvPr>
          <p:cNvSpPr>
            <a:spLocks xmlns:a="http://schemas.openxmlformats.org/drawingml/2006/main" noGrp="1"/>
          </p:cNvSpPr>
          <p:nvPr/>
        </p:nvSpPr>
        <p:spPr>
          <a:xfrm xmlns:a="http://schemas.openxmlformats.org/drawingml/2006/main">
            <a:off x="7144207" y="2880360"/>
            <a:ext cx="268834" cy="2011680"/>
          </a:xfrm>
          <a:prstGeom xmlns:a="http://schemas.openxmlformats.org/drawingml/2006/main" prst="rect">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86F6D457-E479-4A57-B4D2-45E46B4A80C4}"/>
              </a:ext>
            </a:extLst>
          </p:cNvPr>
          <p:cNvSpPr>
            <a:spLocks xmlns:a="http://schemas.openxmlformats.org/drawingml/2006/main" noGrp="1"/>
          </p:cNvSpPr>
          <p:nvPr/>
        </p:nvSpPr>
        <p:spPr>
          <a:xfrm xmlns:a="http://schemas.openxmlformats.org/drawingml/2006/main">
            <a:off x="7205472" y="4965192"/>
            <a:ext cx="146304" cy="146304"/>
          </a:xfrm>
          <a:prstGeom xmlns:a="http://schemas.openxmlformats.org/drawingml/2006/main" prst="triangle">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32" name="Shape 30">
            <a:extLst xmlns:a="http://schemas.openxmlformats.org/drawingml/2006/main">
              <a:ext uri="{FF2B5EF4-FFF2-40B4-BE49-F238E27FC236}">
                <a16:creationId xmlns:a16="http://schemas.microsoft.com/office/drawing/2014/main" id="{BF298EE9-8777-45C9-B553-1A046F48105C}"/>
              </a:ext>
            </a:extLst>
          </p:cNvPr>
          <p:cNvSpPr>
            <a:spLocks xmlns:a="http://schemas.openxmlformats.org/drawingml/2006/main" noGrp="1"/>
          </p:cNvSpPr>
          <p:nvPr/>
        </p:nvSpPr>
        <p:spPr>
          <a:xfrm xmlns:a="http://schemas.openxmlformats.org/drawingml/2006/main">
            <a:off x="7635240" y="2606040"/>
            <a:ext cx="384048" cy="2286000"/>
          </a:xfrm>
          <a:prstGeom xmlns:a="http://schemas.openxmlformats.org/drawingml/2006/main" prst="rect">
            <a:avLst/>
          </a:prstGeom>
          <a:solidFill xmlns:a="http://schemas.openxmlformats.org/drawingml/2006/main">
            <a:srgbClr val="CEC8BD">
              <a:alpha val="45000"/>
            </a:srgbClr>
          </a:solidFill>
          <a:ln xmlns:a="http://schemas.openxmlformats.org/drawingml/2006/main" w="9525">
            <a:solidFill>
              <a:srgbClr val="6B655C">
                <a:alpha val="6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Shape 31">
            <a:extLst xmlns:a="http://schemas.openxmlformats.org/drawingml/2006/main">
              <a:ext uri="{FF2B5EF4-FFF2-40B4-BE49-F238E27FC236}">
                <a16:creationId xmlns:a16="http://schemas.microsoft.com/office/drawing/2014/main" id="{B70C08A0-E92C-4549-87F2-8C0DB42DCA5F}"/>
              </a:ext>
            </a:extLst>
          </p:cNvPr>
          <p:cNvSpPr>
            <a:spLocks xmlns:a="http://schemas.openxmlformats.org/drawingml/2006/main" noGrp="1"/>
          </p:cNvSpPr>
          <p:nvPr/>
        </p:nvSpPr>
        <p:spPr>
          <a:xfrm xmlns:a="http://schemas.openxmlformats.org/drawingml/2006/main">
            <a:off x="7635240" y="2587752"/>
            <a:ext cx="384048" cy="45720"/>
          </a:xfrm>
          <a:prstGeom xmlns:a="http://schemas.openxmlformats.org/drawingml/2006/main" prst="rect">
            <a:avLst/>
          </a:prstGeom>
          <a:solidFill xmlns:a="http://schemas.openxmlformats.org/drawingml/2006/main">
            <a:srgbClr val="6B655C">
              <a:alpha val="80000"/>
            </a:srgbClr>
          </a:solidFill>
        </p:spPr>
        <p:txBody>
          <a:bodyPr xmlns:a="http://schemas.openxmlformats.org/drawingml/2006/main"/>
          <a:lstStyle xmlns:a="http://schemas.openxmlformats.org/drawingml/2006/main"/>
          <a:p xmlns:a="http://schemas.openxmlformats.org/drawingml/2006/main">
            <a:endParaRPr/>
          </a:p>
        </p:txBody>
      </p:sp>
      <p:sp>
        <p:nvSpPr>
          <p:cNvPr id="34" name="Shape 32">
            <a:extLst xmlns:a="http://schemas.openxmlformats.org/drawingml/2006/main">
              <a:ext uri="{FF2B5EF4-FFF2-40B4-BE49-F238E27FC236}">
                <a16:creationId xmlns:a16="http://schemas.microsoft.com/office/drawing/2014/main" id="{5CE2ECCF-C703-4DB4-B050-4C414AD1520C}"/>
              </a:ext>
            </a:extLst>
          </p:cNvPr>
          <p:cNvSpPr>
            <a:spLocks xmlns:a="http://schemas.openxmlformats.org/drawingml/2006/main" noGrp="1"/>
          </p:cNvSpPr>
          <p:nvPr/>
        </p:nvSpPr>
        <p:spPr>
          <a:xfrm xmlns:a="http://schemas.openxmlformats.org/drawingml/2006/main">
            <a:off x="7692847" y="2834640"/>
            <a:ext cx="268834" cy="2057400"/>
          </a:xfrm>
          <a:prstGeom xmlns:a="http://schemas.openxmlformats.org/drawingml/2006/main" prst="rect">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35" name="Shape 33">
            <a:extLst xmlns:a="http://schemas.openxmlformats.org/drawingml/2006/main">
              <a:ext uri="{FF2B5EF4-FFF2-40B4-BE49-F238E27FC236}">
                <a16:creationId xmlns:a16="http://schemas.microsoft.com/office/drawing/2014/main" id="{3C27EB25-D980-4CD4-8731-6056DA8BE4A1}"/>
              </a:ext>
            </a:extLst>
          </p:cNvPr>
          <p:cNvSpPr>
            <a:spLocks xmlns:a="http://schemas.openxmlformats.org/drawingml/2006/main" noGrp="1"/>
          </p:cNvSpPr>
          <p:nvPr/>
        </p:nvSpPr>
        <p:spPr>
          <a:xfrm xmlns:a="http://schemas.openxmlformats.org/drawingml/2006/main">
            <a:off x="7754112" y="4965192"/>
            <a:ext cx="146304" cy="146304"/>
          </a:xfrm>
          <a:prstGeom xmlns:a="http://schemas.openxmlformats.org/drawingml/2006/main" prst="rect">
            <a:avLst/>
          </a:prstGeom>
          <a:solidFill xmlns:a="http://schemas.openxmlformats.org/drawingml/2006/main">
            <a:srgbClr val="1F3D2F"/>
          </a:solidFill>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91F7FE6D-130F-440A-88F1-D2903752D5B2}"/>
              </a:ext>
            </a:extLst>
          </p:cNvPr>
          <p:cNvSpPr>
            <a:spLocks xmlns:a="http://schemas.openxmlformats.org/drawingml/2006/main" noGrp="1"/>
          </p:cNvSpPr>
          <p:nvPr/>
        </p:nvSpPr>
        <p:spPr>
          <a:xfrm xmlns:a="http://schemas.openxmlformats.org/drawingml/2006/main">
            <a:off x="8595360" y="2606040"/>
            <a:ext cx="384048" cy="2286000"/>
          </a:xfrm>
          <a:prstGeom xmlns:a="http://schemas.openxmlformats.org/drawingml/2006/main" prst="rect">
            <a:avLst/>
          </a:prstGeom>
          <a:solidFill xmlns:a="http://schemas.openxmlformats.org/drawingml/2006/main">
            <a:srgbClr val="CEC8BD">
              <a:alpha val="45000"/>
            </a:srgbClr>
          </a:solidFill>
          <a:ln xmlns:a="http://schemas.openxmlformats.org/drawingml/2006/main" w="9525">
            <a:solidFill>
              <a:srgbClr val="6B655C">
                <a:alpha val="6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10E4DF85-51A8-4A4E-B4C6-CD218249CAEB}"/>
              </a:ext>
            </a:extLst>
          </p:cNvPr>
          <p:cNvSpPr>
            <a:spLocks xmlns:a="http://schemas.openxmlformats.org/drawingml/2006/main" noGrp="1"/>
          </p:cNvSpPr>
          <p:nvPr/>
        </p:nvSpPr>
        <p:spPr>
          <a:xfrm xmlns:a="http://schemas.openxmlformats.org/drawingml/2006/main">
            <a:off x="8595360" y="2587752"/>
            <a:ext cx="384048" cy="45720"/>
          </a:xfrm>
          <a:prstGeom xmlns:a="http://schemas.openxmlformats.org/drawingml/2006/main" prst="rect">
            <a:avLst/>
          </a:prstGeom>
          <a:solidFill xmlns:a="http://schemas.openxmlformats.org/drawingml/2006/main">
            <a:srgbClr val="6B655C">
              <a:alpha val="80000"/>
            </a:srgbClr>
          </a:solidFill>
        </p:spPr>
        <p:txBody>
          <a:bodyPr xmlns:a="http://schemas.openxmlformats.org/drawingml/2006/main"/>
          <a:lstStyle xmlns:a="http://schemas.openxmlformats.org/drawingml/2006/main"/>
          <a:p xmlns:a="http://schemas.openxmlformats.org/drawingml/2006/main">
            <a:endParaRPr/>
          </a:p>
        </p:txBody>
      </p:sp>
      <p:sp>
        <p:nvSpPr>
          <p:cNvPr id="38" name="Shape 36">
            <a:extLst xmlns:a="http://schemas.openxmlformats.org/drawingml/2006/main">
              <a:ext uri="{FF2B5EF4-FFF2-40B4-BE49-F238E27FC236}">
                <a16:creationId xmlns:a16="http://schemas.microsoft.com/office/drawing/2014/main" id="{217586F0-8727-4E48-A855-75D7EA44B652}"/>
              </a:ext>
            </a:extLst>
          </p:cNvPr>
          <p:cNvSpPr>
            <a:spLocks xmlns:a="http://schemas.openxmlformats.org/drawingml/2006/main" noGrp="1"/>
          </p:cNvSpPr>
          <p:nvPr/>
        </p:nvSpPr>
        <p:spPr>
          <a:xfrm xmlns:a="http://schemas.openxmlformats.org/drawingml/2006/main">
            <a:off x="8652967" y="4572000"/>
            <a:ext cx="268834" cy="320040"/>
          </a:xfrm>
          <a:prstGeom xmlns:a="http://schemas.openxmlformats.org/drawingml/2006/main" prst="rect">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39" name="Shape 37">
            <a:extLst xmlns:a="http://schemas.openxmlformats.org/drawingml/2006/main">
              <a:ext uri="{FF2B5EF4-FFF2-40B4-BE49-F238E27FC236}">
                <a16:creationId xmlns:a16="http://schemas.microsoft.com/office/drawing/2014/main" id="{48F59819-8E32-4033-85D8-206B278068BC}"/>
              </a:ext>
            </a:extLst>
          </p:cNvPr>
          <p:cNvSpPr>
            <a:spLocks xmlns:a="http://schemas.openxmlformats.org/drawingml/2006/main" noGrp="1"/>
          </p:cNvSpPr>
          <p:nvPr/>
        </p:nvSpPr>
        <p:spPr>
          <a:xfrm xmlns:a="http://schemas.openxmlformats.org/drawingml/2006/main">
            <a:off x="8714232" y="4965192"/>
            <a:ext cx="146304" cy="146304"/>
          </a:xfrm>
          <a:prstGeom xmlns:a="http://schemas.openxmlformats.org/drawingml/2006/main" prst="rect">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40" name="Shape 38">
            <a:extLst xmlns:a="http://schemas.openxmlformats.org/drawingml/2006/main">
              <a:ext uri="{FF2B5EF4-FFF2-40B4-BE49-F238E27FC236}">
                <a16:creationId xmlns:a16="http://schemas.microsoft.com/office/drawing/2014/main" id="{1C26F18F-02A4-4DD9-B84C-96725C843C02}"/>
              </a:ext>
            </a:extLst>
          </p:cNvPr>
          <p:cNvSpPr>
            <a:spLocks xmlns:a="http://schemas.openxmlformats.org/drawingml/2006/main" noGrp="1"/>
          </p:cNvSpPr>
          <p:nvPr/>
        </p:nvSpPr>
        <p:spPr>
          <a:xfrm xmlns:a="http://schemas.openxmlformats.org/drawingml/2006/main">
            <a:off x="9144000" y="2606040"/>
            <a:ext cx="384048" cy="2286000"/>
          </a:xfrm>
          <a:prstGeom xmlns:a="http://schemas.openxmlformats.org/drawingml/2006/main" prst="rect">
            <a:avLst/>
          </a:prstGeom>
          <a:solidFill xmlns:a="http://schemas.openxmlformats.org/drawingml/2006/main">
            <a:srgbClr val="CEC8BD">
              <a:alpha val="45000"/>
            </a:srgbClr>
          </a:solidFill>
          <a:ln xmlns:a="http://schemas.openxmlformats.org/drawingml/2006/main" w="9525">
            <a:solidFill>
              <a:srgbClr val="6B655C">
                <a:alpha val="6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Shape 39">
            <a:extLst xmlns:a="http://schemas.openxmlformats.org/drawingml/2006/main">
              <a:ext uri="{FF2B5EF4-FFF2-40B4-BE49-F238E27FC236}">
                <a16:creationId xmlns:a16="http://schemas.microsoft.com/office/drawing/2014/main" id="{AE980E41-1EFD-4DD7-A3AC-C88451C68EA8}"/>
              </a:ext>
            </a:extLst>
          </p:cNvPr>
          <p:cNvSpPr>
            <a:spLocks xmlns:a="http://schemas.openxmlformats.org/drawingml/2006/main" noGrp="1"/>
          </p:cNvSpPr>
          <p:nvPr/>
        </p:nvSpPr>
        <p:spPr>
          <a:xfrm xmlns:a="http://schemas.openxmlformats.org/drawingml/2006/main">
            <a:off x="9144000" y="2587752"/>
            <a:ext cx="384048" cy="45720"/>
          </a:xfrm>
          <a:prstGeom xmlns:a="http://schemas.openxmlformats.org/drawingml/2006/main" prst="rect">
            <a:avLst/>
          </a:prstGeom>
          <a:solidFill xmlns:a="http://schemas.openxmlformats.org/drawingml/2006/main">
            <a:srgbClr val="6B655C">
              <a:alpha val="80000"/>
            </a:srgbClr>
          </a:solidFill>
        </p:spPr>
        <p:txBody>
          <a:bodyPr xmlns:a="http://schemas.openxmlformats.org/drawingml/2006/main"/>
          <a:lstStyle xmlns:a="http://schemas.openxmlformats.org/drawingml/2006/main"/>
          <a:p xmlns:a="http://schemas.openxmlformats.org/drawingml/2006/main">
            <a:endParaRPr/>
          </a:p>
        </p:txBody>
      </p:sp>
      <p:sp>
        <p:nvSpPr>
          <p:cNvPr id="42" name="Shape 40">
            <a:extLst xmlns:a="http://schemas.openxmlformats.org/drawingml/2006/main">
              <a:ext uri="{FF2B5EF4-FFF2-40B4-BE49-F238E27FC236}">
                <a16:creationId xmlns:a16="http://schemas.microsoft.com/office/drawing/2014/main" id="{E7BCE732-DADB-4957-A1F6-23578B74A3A6}"/>
              </a:ext>
            </a:extLst>
          </p:cNvPr>
          <p:cNvSpPr>
            <a:spLocks xmlns:a="http://schemas.openxmlformats.org/drawingml/2006/main" noGrp="1"/>
          </p:cNvSpPr>
          <p:nvPr/>
        </p:nvSpPr>
        <p:spPr>
          <a:xfrm xmlns:a="http://schemas.openxmlformats.org/drawingml/2006/main">
            <a:off x="9201607" y="3931920"/>
            <a:ext cx="268834" cy="960120"/>
          </a:xfrm>
          <a:prstGeom xmlns:a="http://schemas.openxmlformats.org/drawingml/2006/main" prst="rect">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43" name="Shape 41">
            <a:extLst xmlns:a="http://schemas.openxmlformats.org/drawingml/2006/main">
              <a:ext uri="{FF2B5EF4-FFF2-40B4-BE49-F238E27FC236}">
                <a16:creationId xmlns:a16="http://schemas.microsoft.com/office/drawing/2014/main" id="{9FF002DD-076C-4845-8D39-ECF8B5E1C0CB}"/>
              </a:ext>
            </a:extLst>
          </p:cNvPr>
          <p:cNvSpPr>
            <a:spLocks xmlns:a="http://schemas.openxmlformats.org/drawingml/2006/main" noGrp="1"/>
          </p:cNvSpPr>
          <p:nvPr/>
        </p:nvSpPr>
        <p:spPr>
          <a:xfrm xmlns:a="http://schemas.openxmlformats.org/drawingml/2006/main">
            <a:off x="9262872" y="4965192"/>
            <a:ext cx="146304" cy="146304"/>
          </a:xfrm>
          <a:prstGeom xmlns:a="http://schemas.openxmlformats.org/drawingml/2006/main" prst="triangle">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44" name="Shape 42">
            <a:extLst xmlns:a="http://schemas.openxmlformats.org/drawingml/2006/main">
              <a:ext uri="{FF2B5EF4-FFF2-40B4-BE49-F238E27FC236}">
                <a16:creationId xmlns:a16="http://schemas.microsoft.com/office/drawing/2014/main" id="{67D15834-EAE3-42EC-ACEA-97ED425EA39A}"/>
              </a:ext>
            </a:extLst>
          </p:cNvPr>
          <p:cNvSpPr>
            <a:spLocks xmlns:a="http://schemas.openxmlformats.org/drawingml/2006/main" noGrp="1"/>
          </p:cNvSpPr>
          <p:nvPr/>
        </p:nvSpPr>
        <p:spPr>
          <a:xfrm xmlns:a="http://schemas.openxmlformats.org/drawingml/2006/main">
            <a:off x="9692640" y="2606040"/>
            <a:ext cx="384048" cy="2286000"/>
          </a:xfrm>
          <a:prstGeom xmlns:a="http://schemas.openxmlformats.org/drawingml/2006/main" prst="rect">
            <a:avLst/>
          </a:prstGeom>
          <a:solidFill xmlns:a="http://schemas.openxmlformats.org/drawingml/2006/main">
            <a:srgbClr val="CEC8BD">
              <a:alpha val="45000"/>
            </a:srgbClr>
          </a:solidFill>
          <a:ln xmlns:a="http://schemas.openxmlformats.org/drawingml/2006/main" w="9525">
            <a:solidFill>
              <a:srgbClr val="6B655C">
                <a:alpha val="6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45" name="Shape 43">
            <a:extLst xmlns:a="http://schemas.openxmlformats.org/drawingml/2006/main">
              <a:ext uri="{FF2B5EF4-FFF2-40B4-BE49-F238E27FC236}">
                <a16:creationId xmlns:a16="http://schemas.microsoft.com/office/drawing/2014/main" id="{A4D7A6AE-5BD8-49E6-BC6F-843C63AADB06}"/>
              </a:ext>
            </a:extLst>
          </p:cNvPr>
          <p:cNvSpPr>
            <a:spLocks xmlns:a="http://schemas.openxmlformats.org/drawingml/2006/main" noGrp="1"/>
          </p:cNvSpPr>
          <p:nvPr/>
        </p:nvSpPr>
        <p:spPr>
          <a:xfrm xmlns:a="http://schemas.openxmlformats.org/drawingml/2006/main">
            <a:off x="9692640" y="2587752"/>
            <a:ext cx="384048" cy="45720"/>
          </a:xfrm>
          <a:prstGeom xmlns:a="http://schemas.openxmlformats.org/drawingml/2006/main" prst="rect">
            <a:avLst/>
          </a:prstGeom>
          <a:solidFill xmlns:a="http://schemas.openxmlformats.org/drawingml/2006/main">
            <a:srgbClr val="6B655C">
              <a:alpha val="80000"/>
            </a:srgbClr>
          </a:solidFill>
        </p:spPr>
        <p:txBody>
          <a:bodyPr xmlns:a="http://schemas.openxmlformats.org/drawingml/2006/main"/>
          <a:lstStyle xmlns:a="http://schemas.openxmlformats.org/drawingml/2006/main"/>
          <a:p xmlns:a="http://schemas.openxmlformats.org/drawingml/2006/main">
            <a:endParaRPr/>
          </a:p>
        </p:txBody>
      </p:sp>
      <p:sp>
        <p:nvSpPr>
          <p:cNvPr id="46" name="Shape 44">
            <a:extLst xmlns:a="http://schemas.openxmlformats.org/drawingml/2006/main">
              <a:ext uri="{FF2B5EF4-FFF2-40B4-BE49-F238E27FC236}">
                <a16:creationId xmlns:a16="http://schemas.microsoft.com/office/drawing/2014/main" id="{58AFB9CD-1B45-4F21-8D53-B445F78B44A5}"/>
              </a:ext>
            </a:extLst>
          </p:cNvPr>
          <p:cNvSpPr>
            <a:spLocks xmlns:a="http://schemas.openxmlformats.org/drawingml/2006/main" noGrp="1"/>
          </p:cNvSpPr>
          <p:nvPr/>
        </p:nvSpPr>
        <p:spPr>
          <a:xfrm xmlns:a="http://schemas.openxmlformats.org/drawingml/2006/main">
            <a:off x="9750247" y="4617720"/>
            <a:ext cx="268834" cy="274320"/>
          </a:xfrm>
          <a:prstGeom xmlns:a="http://schemas.openxmlformats.org/drawingml/2006/main" prst="rect">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47" name="Shape 45">
            <a:extLst xmlns:a="http://schemas.openxmlformats.org/drawingml/2006/main">
              <a:ext uri="{FF2B5EF4-FFF2-40B4-BE49-F238E27FC236}">
                <a16:creationId xmlns:a16="http://schemas.microsoft.com/office/drawing/2014/main" id="{986514D5-C8AF-43B2-A129-A77133213816}"/>
              </a:ext>
            </a:extLst>
          </p:cNvPr>
          <p:cNvSpPr>
            <a:spLocks xmlns:a="http://schemas.openxmlformats.org/drawingml/2006/main" noGrp="1"/>
          </p:cNvSpPr>
          <p:nvPr/>
        </p:nvSpPr>
        <p:spPr>
          <a:xfrm xmlns:a="http://schemas.openxmlformats.org/drawingml/2006/main">
            <a:off x="9811512" y="4965192"/>
            <a:ext cx="146304" cy="146304"/>
          </a:xfrm>
          <a:prstGeom xmlns:a="http://schemas.openxmlformats.org/drawingml/2006/main" prst="rect">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48" name="Shape 46">
            <a:extLst xmlns:a="http://schemas.openxmlformats.org/drawingml/2006/main">
              <a:ext uri="{FF2B5EF4-FFF2-40B4-BE49-F238E27FC236}">
                <a16:creationId xmlns:a16="http://schemas.microsoft.com/office/drawing/2014/main" id="{BB1F724B-22DD-434F-87D8-4EE335683012}"/>
              </a:ext>
            </a:extLst>
          </p:cNvPr>
          <p:cNvSpPr>
            <a:spLocks xmlns:a="http://schemas.openxmlformats.org/drawingml/2006/main" noGrp="1"/>
          </p:cNvSpPr>
          <p:nvPr/>
        </p:nvSpPr>
        <p:spPr>
          <a:xfrm xmlns:a="http://schemas.openxmlformats.org/drawingml/2006/main">
            <a:off x="10241280" y="2606040"/>
            <a:ext cx="384048" cy="2286000"/>
          </a:xfrm>
          <a:prstGeom xmlns:a="http://schemas.openxmlformats.org/drawingml/2006/main" prst="rect">
            <a:avLst/>
          </a:prstGeom>
          <a:solidFill xmlns:a="http://schemas.openxmlformats.org/drawingml/2006/main">
            <a:srgbClr val="CEC8BD">
              <a:alpha val="45000"/>
            </a:srgbClr>
          </a:solidFill>
          <a:ln xmlns:a="http://schemas.openxmlformats.org/drawingml/2006/main" w="9525">
            <a:solidFill>
              <a:srgbClr val="6B655C">
                <a:alpha val="6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49" name="Shape 47">
            <a:extLst xmlns:a="http://schemas.openxmlformats.org/drawingml/2006/main">
              <a:ext uri="{FF2B5EF4-FFF2-40B4-BE49-F238E27FC236}">
                <a16:creationId xmlns:a16="http://schemas.microsoft.com/office/drawing/2014/main" id="{0E63F140-A3BA-465F-8801-7FB7C0B8CEB5}"/>
              </a:ext>
            </a:extLst>
          </p:cNvPr>
          <p:cNvSpPr>
            <a:spLocks xmlns:a="http://schemas.openxmlformats.org/drawingml/2006/main" noGrp="1"/>
          </p:cNvSpPr>
          <p:nvPr/>
        </p:nvSpPr>
        <p:spPr>
          <a:xfrm xmlns:a="http://schemas.openxmlformats.org/drawingml/2006/main">
            <a:off x="10241280" y="2587752"/>
            <a:ext cx="384048" cy="45720"/>
          </a:xfrm>
          <a:prstGeom xmlns:a="http://schemas.openxmlformats.org/drawingml/2006/main" prst="rect">
            <a:avLst/>
          </a:prstGeom>
          <a:solidFill xmlns:a="http://schemas.openxmlformats.org/drawingml/2006/main">
            <a:srgbClr val="6B655C">
              <a:alpha val="80000"/>
            </a:srgbClr>
          </a:solidFill>
        </p:spPr>
        <p:txBody>
          <a:bodyPr xmlns:a="http://schemas.openxmlformats.org/drawingml/2006/main"/>
          <a:lstStyle xmlns:a="http://schemas.openxmlformats.org/drawingml/2006/main"/>
          <a:p xmlns:a="http://schemas.openxmlformats.org/drawingml/2006/main">
            <a:endParaRPr/>
          </a:p>
        </p:txBody>
      </p:sp>
      <p:sp>
        <p:nvSpPr>
          <p:cNvPr id="50" name="Shape 48">
            <a:extLst xmlns:a="http://schemas.openxmlformats.org/drawingml/2006/main">
              <a:ext uri="{FF2B5EF4-FFF2-40B4-BE49-F238E27FC236}">
                <a16:creationId xmlns:a16="http://schemas.microsoft.com/office/drawing/2014/main" id="{AB51CC8C-C0B6-4D2D-A96F-D9472B70BAF2}"/>
              </a:ext>
            </a:extLst>
          </p:cNvPr>
          <p:cNvSpPr>
            <a:spLocks xmlns:a="http://schemas.openxmlformats.org/drawingml/2006/main" noGrp="1"/>
          </p:cNvSpPr>
          <p:nvPr/>
        </p:nvSpPr>
        <p:spPr>
          <a:xfrm xmlns:a="http://schemas.openxmlformats.org/drawingml/2006/main">
            <a:off x="10298887" y="4023360"/>
            <a:ext cx="268834" cy="868680"/>
          </a:xfrm>
          <a:prstGeom xmlns:a="http://schemas.openxmlformats.org/drawingml/2006/main" prst="rect">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51" name="Shape 49">
            <a:extLst xmlns:a="http://schemas.openxmlformats.org/drawingml/2006/main">
              <a:ext uri="{FF2B5EF4-FFF2-40B4-BE49-F238E27FC236}">
                <a16:creationId xmlns:a16="http://schemas.microsoft.com/office/drawing/2014/main" id="{B7315833-87DF-44E1-935C-77C8E91EAAB1}"/>
              </a:ext>
            </a:extLst>
          </p:cNvPr>
          <p:cNvSpPr>
            <a:spLocks xmlns:a="http://schemas.openxmlformats.org/drawingml/2006/main" noGrp="1"/>
          </p:cNvSpPr>
          <p:nvPr/>
        </p:nvSpPr>
        <p:spPr>
          <a:xfrm xmlns:a="http://schemas.openxmlformats.org/drawingml/2006/main">
            <a:off x="10360152" y="4965192"/>
            <a:ext cx="146304" cy="146304"/>
          </a:xfrm>
          <a:prstGeom xmlns:a="http://schemas.openxmlformats.org/drawingml/2006/main" prst="triangle">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52" name="Shape 50">
            <a:extLst xmlns:a="http://schemas.openxmlformats.org/drawingml/2006/main">
              <a:ext uri="{FF2B5EF4-FFF2-40B4-BE49-F238E27FC236}">
                <a16:creationId xmlns:a16="http://schemas.microsoft.com/office/drawing/2014/main" id="{34F00774-FFDD-4BEE-ACE6-7BCA026AB353}"/>
              </a:ext>
            </a:extLst>
          </p:cNvPr>
          <p:cNvSpPr>
            <a:spLocks xmlns:a="http://schemas.openxmlformats.org/drawingml/2006/main" noGrp="1"/>
          </p:cNvSpPr>
          <p:nvPr/>
        </p:nvSpPr>
        <p:spPr>
          <a:xfrm xmlns:a="http://schemas.openxmlformats.org/drawingml/2006/main">
            <a:off x="10789920" y="2606040"/>
            <a:ext cx="384048" cy="2286000"/>
          </a:xfrm>
          <a:prstGeom xmlns:a="http://schemas.openxmlformats.org/drawingml/2006/main" prst="rect">
            <a:avLst/>
          </a:prstGeom>
          <a:solidFill xmlns:a="http://schemas.openxmlformats.org/drawingml/2006/main">
            <a:srgbClr val="CEC8BD">
              <a:alpha val="45000"/>
            </a:srgbClr>
          </a:solidFill>
          <a:ln xmlns:a="http://schemas.openxmlformats.org/drawingml/2006/main" w="9525">
            <a:solidFill>
              <a:srgbClr val="6B655C">
                <a:alpha val="6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53" name="Shape 51">
            <a:extLst xmlns:a="http://schemas.openxmlformats.org/drawingml/2006/main">
              <a:ext uri="{FF2B5EF4-FFF2-40B4-BE49-F238E27FC236}">
                <a16:creationId xmlns:a16="http://schemas.microsoft.com/office/drawing/2014/main" id="{D43D0F69-A717-4538-A750-7C0E603E08C8}"/>
              </a:ext>
            </a:extLst>
          </p:cNvPr>
          <p:cNvSpPr>
            <a:spLocks xmlns:a="http://schemas.openxmlformats.org/drawingml/2006/main" noGrp="1"/>
          </p:cNvSpPr>
          <p:nvPr/>
        </p:nvSpPr>
        <p:spPr>
          <a:xfrm xmlns:a="http://schemas.openxmlformats.org/drawingml/2006/main">
            <a:off x="10789920" y="2587752"/>
            <a:ext cx="384048" cy="45720"/>
          </a:xfrm>
          <a:prstGeom xmlns:a="http://schemas.openxmlformats.org/drawingml/2006/main" prst="rect">
            <a:avLst/>
          </a:prstGeom>
          <a:solidFill xmlns:a="http://schemas.openxmlformats.org/drawingml/2006/main">
            <a:srgbClr val="6B655C">
              <a:alpha val="80000"/>
            </a:srgbClr>
          </a:solidFill>
        </p:spPr>
        <p:txBody>
          <a:bodyPr xmlns:a="http://schemas.openxmlformats.org/drawingml/2006/main"/>
          <a:lstStyle xmlns:a="http://schemas.openxmlformats.org/drawingml/2006/main"/>
          <a:p xmlns:a="http://schemas.openxmlformats.org/drawingml/2006/main">
            <a:endParaRPr/>
          </a:p>
        </p:txBody>
      </p:sp>
      <p:sp>
        <p:nvSpPr>
          <p:cNvPr id="54" name="Shape 52">
            <a:extLst xmlns:a="http://schemas.openxmlformats.org/drawingml/2006/main">
              <a:ext uri="{FF2B5EF4-FFF2-40B4-BE49-F238E27FC236}">
                <a16:creationId xmlns:a16="http://schemas.microsoft.com/office/drawing/2014/main" id="{EDEFAED4-E0EB-42B2-961A-5D12B1DFA5F5}"/>
              </a:ext>
            </a:extLst>
          </p:cNvPr>
          <p:cNvSpPr>
            <a:spLocks xmlns:a="http://schemas.openxmlformats.org/drawingml/2006/main" noGrp="1"/>
          </p:cNvSpPr>
          <p:nvPr/>
        </p:nvSpPr>
        <p:spPr>
          <a:xfrm xmlns:a="http://schemas.openxmlformats.org/drawingml/2006/main">
            <a:off x="10847527" y="4526280"/>
            <a:ext cx="268834" cy="365760"/>
          </a:xfrm>
          <a:prstGeom xmlns:a="http://schemas.openxmlformats.org/drawingml/2006/main" prst="rect">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55" name="Shape 53">
            <a:extLst xmlns:a="http://schemas.openxmlformats.org/drawingml/2006/main">
              <a:ext uri="{FF2B5EF4-FFF2-40B4-BE49-F238E27FC236}">
                <a16:creationId xmlns:a16="http://schemas.microsoft.com/office/drawing/2014/main" id="{778AD428-DDAC-4B5B-8D12-A96BD532DC8F}"/>
              </a:ext>
            </a:extLst>
          </p:cNvPr>
          <p:cNvSpPr>
            <a:spLocks xmlns:a="http://schemas.openxmlformats.org/drawingml/2006/main" noGrp="1"/>
          </p:cNvSpPr>
          <p:nvPr/>
        </p:nvSpPr>
        <p:spPr>
          <a:xfrm xmlns:a="http://schemas.openxmlformats.org/drawingml/2006/main">
            <a:off x="10908792" y="4965192"/>
            <a:ext cx="146304" cy="146304"/>
          </a:xfrm>
          <a:prstGeom xmlns:a="http://schemas.openxmlformats.org/drawingml/2006/main" prst="rect">
            <a:avLst/>
          </a:prstGeom>
          <a:solidFill xmlns:a="http://schemas.openxmlformats.org/drawingml/2006/main">
            <a:srgbClr val="8B2635"/>
          </a:solidFill>
        </p:spPr>
        <p:txBody>
          <a:bodyPr xmlns:a="http://schemas.openxmlformats.org/drawingml/2006/main"/>
          <a:lstStyle xmlns:a="http://schemas.openxmlformats.org/drawingml/2006/main"/>
          <a:p xmlns:a="http://schemas.openxmlformats.org/drawingml/2006/main">
            <a:endParaRPr/>
          </a:p>
        </p:txBody>
      </p:sp>
      <p:sp>
        <p:nvSpPr>
          <p:cNvPr id="56" name="Text 54">
            <a:extLst xmlns:a="http://schemas.openxmlformats.org/drawingml/2006/main">
              <a:ext uri="{FF2B5EF4-FFF2-40B4-BE49-F238E27FC236}">
                <a16:creationId xmlns:a16="http://schemas.microsoft.com/office/drawing/2014/main" id="{4F99948B-E81C-4CE9-B0E6-0C74BE6840A5}"/>
              </a:ext>
            </a:extLst>
          </p:cNvPr>
          <p:cNvSpPr>
            <a:spLocks xmlns:a="http://schemas.openxmlformats.org/drawingml/2006/main" noGrp="1"/>
          </p:cNvSpPr>
          <p:nvPr/>
        </p:nvSpPr>
        <p:spPr>
          <a:xfrm xmlns:a="http://schemas.openxmlformats.org/drawingml/2006/main">
            <a:off x="4800600" y="5212080"/>
            <a:ext cx="67208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6B655C"/>
                </a:solidFill>
                <a:latin typeface="Calibri"/>
                <a:ea typeface="Calibri"/>
                <a:cs typeface="Calibri"/>
              </a:rPr>
              <a:t>■ people    ▲ vehicles   ·   bars show actual against the expected level, by mode</a:t>
            </a:r>
            <a:endParaRPr sz="1150"/>
          </a:p>
        </p:txBody>
      </p:sp>
      <p:sp>
        <p:nvSpPr>
          <p:cNvPr id="57" name="Text 55">
            <a:extLst xmlns:a="http://schemas.openxmlformats.org/drawingml/2006/main">
              <a:ext uri="{FF2B5EF4-FFF2-40B4-BE49-F238E27FC236}">
                <a16:creationId xmlns:a16="http://schemas.microsoft.com/office/drawing/2014/main" id="{F4B0DEA0-AAB3-4A4E-9434-1889877A50E3}"/>
              </a:ext>
            </a:extLst>
          </p:cNvPr>
          <p:cNvSpPr>
            <a:spLocks xmlns:a="http://schemas.openxmlformats.org/drawingml/2006/main" noGrp="1"/>
          </p:cNvSpPr>
          <p:nvPr/>
        </p:nvSpPr>
        <p:spPr>
          <a:xfrm xmlns:a="http://schemas.openxmlformats.org/drawingml/2006/main">
            <a:off x="5029200" y="5577840"/>
            <a:ext cx="62636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05000"/>
              </a:lnSpc>
              <a:buNone/>
            </a:pPr>
            <a:r>
              <a:rPr sz="1350" i="1">
                <a:solidFill>
                  <a:srgbClr val="1A1815"/>
                </a:solidFill>
                <a:latin typeface="Cambria"/>
                <a:ea typeface="Cambria"/>
                <a:cs typeface="Cambria"/>
              </a:rPr>
              <a:t>You don’t read a z-score. Actual falls far below what a normal Thursday expects — and the gap is the emergency.</a:t>
            </a:r>
            <a:endParaRPr sz="1350"/>
          </a:p>
        </p:txBody>
      </p:sp>
    </p:spTree>
    <p:extLst>
      <p:ext uri="{BB962C8B-B14F-4D97-AF65-F5344CB8AC3E}">
        <p14:creationId xmlns:p14="http://schemas.microsoft.com/office/powerpoint/2010/main" val="2115566519"/>
      </p:ext>
    </p:extLst>
  </p:cSld>
</p:sld>
</file>

<file path=ppt/slides/slide10.xml><?xml version="1.0" encoding="utf-8"?>
<p:sld xmlns:p="http://schemas.openxmlformats.org/presentationml/2006/main">
  <p:cSld>
    <p:bg>
      <p:bgPr>
        <a:solidFill xmlns:a="http://schemas.openxmlformats.org/drawingml/2006/main">
          <a:srgbClr val="1F3D2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308D1B9-3F1E-455E-A12A-3922CEFC1657}"/>
              </a:ext>
            </a:extLst>
          </p:cNvPr>
          <p:cNvSpPr>
            <a:spLocks xmlns:a="http://schemas.openxmlformats.org/drawingml/2006/main" noGrp="1"/>
          </p:cNvSpPr>
          <p:nvPr/>
        </p:nvSpPr>
        <p:spPr>
          <a:xfrm xmlns:a="http://schemas.openxmlformats.org/drawingml/2006/main">
            <a:off x="640080" y="502920"/>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FAF8F4"/>
                </a:solidFill>
                <a:latin typeface="Cambria"/>
                <a:ea typeface="Cambria"/>
                <a:cs typeface="Cambria"/>
              </a:rPr>
              <a:t>It refuses to panic — and it’s built to extend</a:t>
            </a:r>
            <a:endParaRPr sz="3100"/>
          </a:p>
        </p:txBody>
      </p:sp>
      <p:sp>
        <p:nvSpPr>
          <p:cNvPr id="3" name="Text 1">
            <a:extLst xmlns:a="http://schemas.openxmlformats.org/drawingml/2006/main">
              <a:ext uri="{FF2B5EF4-FFF2-40B4-BE49-F238E27FC236}">
                <a16:creationId xmlns:a16="http://schemas.microsoft.com/office/drawing/2014/main" id="{74EBC40C-0741-4483-A8AC-3A0C98F0B44C}"/>
              </a:ext>
            </a:extLst>
          </p:cNvPr>
          <p:cNvSpPr>
            <a:spLocks xmlns:a="http://schemas.openxmlformats.org/drawingml/2006/main" noGrp="1"/>
          </p:cNvSpPr>
          <p:nvPr/>
        </p:nvSpPr>
        <p:spPr>
          <a:xfrm xmlns:a="http://schemas.openxmlformats.org/drawingml/2006/main">
            <a:off x="685800" y="1417320"/>
            <a:ext cx="51206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88BA0"/>
                </a:solidFill>
                <a:latin typeface="Calibri"/>
                <a:ea typeface="Calibri"/>
                <a:cs typeface="Calibri"/>
              </a:rPr>
              <a:t>HONEST BY DESIGN</a:t>
            </a:r>
            <a:endParaRPr sz="1300"/>
          </a:p>
        </p:txBody>
      </p:sp>
      <p:sp>
        <p:nvSpPr>
          <p:cNvPr id="4" name="Text 2">
            <a:extLst xmlns:a="http://schemas.openxmlformats.org/drawingml/2006/main">
              <a:ext uri="{FF2B5EF4-FFF2-40B4-BE49-F238E27FC236}">
                <a16:creationId xmlns:a16="http://schemas.microsoft.com/office/drawing/2014/main" id="{7B5DECFF-822A-439B-BDD9-138F812D0D39}"/>
              </a:ext>
            </a:extLst>
          </p:cNvPr>
          <p:cNvSpPr>
            <a:spLocks xmlns:a="http://schemas.openxmlformats.org/drawingml/2006/main" noGrp="1"/>
          </p:cNvSpPr>
          <p:nvPr/>
        </p:nvSpPr>
        <p:spPr>
          <a:xfrm xmlns:a="http://schemas.openxmlformats.org/drawingml/2006/main">
            <a:off x="685800" y="1828800"/>
            <a:ext cx="516636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8000"/>
              </a:lnSpc>
              <a:buNone/>
            </a:pPr>
            <a:r>
              <a:rPr sz="1400" b="1">
                <a:solidFill>
                  <a:srgbClr val="FAF8F4"/>
                </a:solidFill>
                <a:latin typeface="Calibri"/>
                <a:ea typeface="Calibri"/>
                <a:cs typeface="Calibri"/>
              </a:rPr>
              <a:t>Not live.  </a:t>
            </a:r>
            <a:r>
              <a:rPr sz="1400">
                <a:solidFill>
                  <a:srgbClr val="CFE0D6"/>
                </a:solidFill>
                <a:latin typeface="Calibri"/>
                <a:ea typeface="Calibri"/>
                <a:cs typeface="Calibri"/>
              </a:rPr>
              <a:t>The feed is T+1 — a next-morning and after-action tool, never present tense.</a:t>
            </a:r>
            <a:endParaRPr sz="1400"/>
          </a:p>
        </p:txBody>
      </p:sp>
      <p:sp>
        <p:nvSpPr>
          <p:cNvPr id="5" name="Text 3">
            <a:extLst xmlns:a="http://schemas.openxmlformats.org/drawingml/2006/main">
              <a:ext uri="{FF2B5EF4-FFF2-40B4-BE49-F238E27FC236}">
                <a16:creationId xmlns:a16="http://schemas.microsoft.com/office/drawing/2014/main" id="{6101CA89-7017-4618-827A-0A95FECFE538}"/>
              </a:ext>
            </a:extLst>
          </p:cNvPr>
          <p:cNvSpPr>
            <a:spLocks xmlns:a="http://schemas.openxmlformats.org/drawingml/2006/main" noGrp="1"/>
          </p:cNvSpPr>
          <p:nvPr/>
        </p:nvSpPr>
        <p:spPr>
          <a:xfrm xmlns:a="http://schemas.openxmlformats.org/drawingml/2006/main">
            <a:off x="685800" y="2670048"/>
            <a:ext cx="516636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8000"/>
              </a:lnSpc>
              <a:buNone/>
            </a:pPr>
            <a:r>
              <a:rPr sz="1400" b="1">
                <a:solidFill>
                  <a:srgbClr val="FAF8F4"/>
                </a:solidFill>
                <a:latin typeface="Calibri"/>
                <a:ea typeface="Calibri"/>
                <a:cs typeface="Calibri"/>
              </a:rPr>
              <a:t>Missing ≠ zero.  </a:t>
            </a:r>
            <a:r>
              <a:rPr sz="1400">
                <a:solidFill>
                  <a:srgbClr val="CFE0D6"/>
                </a:solidFill>
                <a:latin typeface="Calibri"/>
                <a:ea typeface="Calibri"/>
                <a:cs typeface="Calibri"/>
              </a:rPr>
              <a:t>A silent sensor draws as a break in the line, never as a low value.</a:t>
            </a:r>
            <a:endParaRPr sz="1400"/>
          </a:p>
        </p:txBody>
      </p:sp>
      <p:sp>
        <p:nvSpPr>
          <p:cNvPr id="6" name="Text 4">
            <a:extLst xmlns:a="http://schemas.openxmlformats.org/drawingml/2006/main">
              <a:ext uri="{FF2B5EF4-FFF2-40B4-BE49-F238E27FC236}">
                <a16:creationId xmlns:a16="http://schemas.microsoft.com/office/drawing/2014/main" id="{770D9B0B-B9DE-4547-BB19-B6A03B7AF7E8}"/>
              </a:ext>
            </a:extLst>
          </p:cNvPr>
          <p:cNvSpPr>
            <a:spLocks xmlns:a="http://schemas.openxmlformats.org/drawingml/2006/main" noGrp="1"/>
          </p:cNvSpPr>
          <p:nvPr/>
        </p:nvSpPr>
        <p:spPr>
          <a:xfrm xmlns:a="http://schemas.openxmlformats.org/drawingml/2006/main">
            <a:off x="685800" y="3511296"/>
            <a:ext cx="516636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8000"/>
              </a:lnSpc>
              <a:buNone/>
            </a:pPr>
            <a:r>
              <a:rPr sz="1400" b="1">
                <a:solidFill>
                  <a:srgbClr val="FAF8F4"/>
                </a:solidFill>
                <a:latin typeface="Calibri"/>
                <a:ea typeface="Calibri"/>
                <a:cs typeface="Calibri"/>
              </a:rPr>
              <a:t>Guarded baselines.  </a:t>
            </a:r>
            <a:r>
              <a:rPr sz="1400">
                <a:solidFill>
                  <a:srgbClr val="CFE0D6"/>
                </a:solidFill>
                <a:latin typeface="Calibri"/>
                <a:ea typeface="Calibri"/>
                <a:cs typeface="Calibri"/>
              </a:rPr>
              <a:t>Public holidays and broken ingests are excluded from every comparison.</a:t>
            </a:r>
            <a:endParaRPr sz="1400"/>
          </a:p>
        </p:txBody>
      </p:sp>
      <p:sp>
        <p:nvSpPr>
          <p:cNvPr id="7" name="Text 5">
            <a:extLst xmlns:a="http://schemas.openxmlformats.org/drawingml/2006/main">
              <a:ext uri="{FF2B5EF4-FFF2-40B4-BE49-F238E27FC236}">
                <a16:creationId xmlns:a16="http://schemas.microsoft.com/office/drawing/2014/main" id="{20763BD9-4E8E-4613-87F2-6C489D8254A7}"/>
              </a:ext>
            </a:extLst>
          </p:cNvPr>
          <p:cNvSpPr>
            <a:spLocks xmlns:a="http://schemas.openxmlformats.org/drawingml/2006/main" noGrp="1"/>
          </p:cNvSpPr>
          <p:nvPr/>
        </p:nvSpPr>
        <p:spPr>
          <a:xfrm xmlns:a="http://schemas.openxmlformats.org/drawingml/2006/main">
            <a:off x="685800" y="4352544"/>
            <a:ext cx="516636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8000"/>
              </a:lnSpc>
              <a:buNone/>
            </a:pPr>
            <a:r>
              <a:rPr sz="1400" b="1">
                <a:solidFill>
                  <a:srgbClr val="FAF8F4"/>
                </a:solidFill>
                <a:latin typeface="Calibri"/>
                <a:ea typeface="Calibri"/>
                <a:cs typeface="Calibri"/>
              </a:rPr>
              <a:t>It admits blindness.  </a:t>
            </a:r>
            <a:r>
              <a:rPr sz="1400">
                <a:solidFill>
                  <a:srgbClr val="CFE0D6"/>
                </a:solidFill>
                <a:latin typeface="Calibri"/>
                <a:ea typeface="Calibri"/>
                <a:cs typeface="Calibri"/>
              </a:rPr>
              <a:t>When it cannot see, it greys the map rather than calling a false −65%.</a:t>
            </a:r>
            <a:endParaRPr sz="1400"/>
          </a:p>
        </p:txBody>
      </p:sp>
      <p:sp>
        <p:nvSpPr>
          <p:cNvPr id="8" name="Shape 6">
            <a:extLst xmlns:a="http://schemas.openxmlformats.org/drawingml/2006/main">
              <a:ext uri="{FF2B5EF4-FFF2-40B4-BE49-F238E27FC236}">
                <a16:creationId xmlns:a16="http://schemas.microsoft.com/office/drawing/2014/main" id="{AAF2475F-2B83-4A6B-B692-4FD5F5C562BE}"/>
              </a:ext>
            </a:extLst>
          </p:cNvPr>
          <p:cNvSpPr>
            <a:spLocks xmlns:a="http://schemas.openxmlformats.org/drawingml/2006/main" noGrp="1"/>
          </p:cNvSpPr>
          <p:nvPr/>
        </p:nvSpPr>
        <p:spPr>
          <a:xfrm xmlns:a="http://schemas.openxmlformats.org/drawingml/2006/main">
            <a:off x="6172200" y="1463040"/>
            <a:ext cx="0" cy="4206240"/>
          </a:xfrm>
          <a:prstGeom xmlns:a="http://schemas.openxmlformats.org/drawingml/2006/main" prst="line">
            <a:avLst/>
          </a:prstGeom>
          <a:noFill xmlns:a="http://schemas.openxmlformats.org/drawingml/2006/main"/>
          <a:ln xmlns:a="http://schemas.openxmlformats.org/drawingml/2006/main" w="12700">
            <a:solidFill>
              <a:srgbClr val="3E5A4C"/>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DA04637A-4573-47BF-8B8C-3A1D17C477D5}"/>
              </a:ext>
            </a:extLst>
          </p:cNvPr>
          <p:cNvSpPr>
            <a:spLocks xmlns:a="http://schemas.openxmlformats.org/drawingml/2006/main" noGrp="1"/>
          </p:cNvSpPr>
          <p:nvPr/>
        </p:nvSpPr>
        <p:spPr>
          <a:xfrm xmlns:a="http://schemas.openxmlformats.org/drawingml/2006/main">
            <a:off x="6492240" y="1417320"/>
            <a:ext cx="51206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8FBFB0"/>
                </a:solidFill>
                <a:latin typeface="Calibri"/>
                <a:ea typeface="Calibri"/>
                <a:cs typeface="Calibri"/>
              </a:rPr>
              <a:t>BUILT TO EXTEND</a:t>
            </a:r>
            <a:endParaRPr sz="1300"/>
          </a:p>
        </p:txBody>
      </p:sp>
      <p:sp>
        <p:nvSpPr>
          <p:cNvPr id="10" name="Text 8">
            <a:extLst xmlns:a="http://schemas.openxmlformats.org/drawingml/2006/main">
              <a:ext uri="{FF2B5EF4-FFF2-40B4-BE49-F238E27FC236}">
                <a16:creationId xmlns:a16="http://schemas.microsoft.com/office/drawing/2014/main" id="{0B97549B-F616-4DC5-B978-750CB2173CEB}"/>
              </a:ext>
            </a:extLst>
          </p:cNvPr>
          <p:cNvSpPr>
            <a:spLocks xmlns:a="http://schemas.openxmlformats.org/drawingml/2006/main" noGrp="1"/>
          </p:cNvSpPr>
          <p:nvPr/>
        </p:nvSpPr>
        <p:spPr>
          <a:xfrm xmlns:a="http://schemas.openxmlformats.org/drawingml/2006/main">
            <a:off x="6492240" y="18288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8000"/>
              </a:lnSpc>
              <a:buNone/>
            </a:pPr>
            <a:r>
              <a:rPr sz="1400" b="1">
                <a:solidFill>
                  <a:srgbClr val="FAF8F4"/>
                </a:solidFill>
                <a:latin typeface="Calibri"/>
                <a:ea typeface="Calibri"/>
                <a:cs typeface="Calibri"/>
              </a:rPr>
              <a:t>Modular platform.  </a:t>
            </a:r>
            <a:r>
              <a:rPr sz="1400">
                <a:solidFill>
                  <a:srgbClr val="CFE0D6"/>
                </a:solidFill>
                <a:latin typeface="Calibri"/>
                <a:ea typeface="Calibri"/>
                <a:cs typeface="Calibri"/>
              </a:rPr>
              <a:t>Add causation feeds — weather, cruise ships, road closures, warnings — as they arrive.</a:t>
            </a:r>
            <a:endParaRPr sz="1400"/>
          </a:p>
        </p:txBody>
      </p:sp>
      <p:sp>
        <p:nvSpPr>
          <p:cNvPr id="11" name="Text 9">
            <a:extLst xmlns:a="http://schemas.openxmlformats.org/drawingml/2006/main">
              <a:ext uri="{FF2B5EF4-FFF2-40B4-BE49-F238E27FC236}">
                <a16:creationId xmlns:a16="http://schemas.microsoft.com/office/drawing/2014/main" id="{FFF862B4-101F-4682-B2AB-9FE222ACF928}"/>
              </a:ext>
            </a:extLst>
          </p:cNvPr>
          <p:cNvSpPr>
            <a:spLocks xmlns:a="http://schemas.openxmlformats.org/drawingml/2006/main" noGrp="1"/>
          </p:cNvSpPr>
          <p:nvPr/>
        </p:nvSpPr>
        <p:spPr>
          <a:xfrm xmlns:a="http://schemas.openxmlformats.org/drawingml/2006/main">
            <a:off x="6492240" y="27432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8000"/>
              </a:lnSpc>
              <a:buNone/>
            </a:pPr>
            <a:r>
              <a:rPr sz="1400" b="1">
                <a:solidFill>
                  <a:srgbClr val="FAF8F4"/>
                </a:solidFill>
                <a:latin typeface="Calibri"/>
                <a:ea typeface="Calibri"/>
                <a:cs typeface="Calibri"/>
              </a:rPr>
              <a:t>Derived risks.  </a:t>
            </a:r>
            <a:r>
              <a:rPr sz="1400">
                <a:solidFill>
                  <a:srgbClr val="CFE0D6"/>
                </a:solidFill>
                <a:latin typeface="Calibri"/>
                <a:ea typeface="Calibri"/>
                <a:cs typeface="Calibri"/>
              </a:rPr>
              <a:t>Score new risks on top of the same baseline-vs-actual spine.</a:t>
            </a:r>
            <a:endParaRPr sz="1400"/>
          </a:p>
        </p:txBody>
      </p:sp>
      <p:sp>
        <p:nvSpPr>
          <p:cNvPr id="12" name="Text 10">
            <a:extLst xmlns:a="http://schemas.openxmlformats.org/drawingml/2006/main">
              <a:ext uri="{FF2B5EF4-FFF2-40B4-BE49-F238E27FC236}">
                <a16:creationId xmlns:a16="http://schemas.microsoft.com/office/drawing/2014/main" id="{49F03DFA-89A5-4D82-8C9B-B8AFD07FBF7F}"/>
              </a:ext>
            </a:extLst>
          </p:cNvPr>
          <p:cNvSpPr>
            <a:spLocks xmlns:a="http://schemas.openxmlformats.org/drawingml/2006/main" noGrp="1"/>
          </p:cNvSpPr>
          <p:nvPr/>
        </p:nvSpPr>
        <p:spPr>
          <a:xfrm xmlns:a="http://schemas.openxmlformats.org/drawingml/2006/main">
            <a:off x="6492240" y="36576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8000"/>
              </a:lnSpc>
              <a:buNone/>
            </a:pPr>
            <a:r>
              <a:rPr sz="1400" b="1">
                <a:solidFill>
                  <a:srgbClr val="FAF8F4"/>
                </a:solidFill>
                <a:latin typeface="Calibri"/>
                <a:ea typeface="Calibri"/>
                <a:cs typeface="Calibri"/>
              </a:rPr>
              <a:t>Outputs compose.  </a:t>
            </a:r>
            <a:r>
              <a:rPr sz="1400">
                <a:solidFill>
                  <a:srgbClr val="CFE0D6"/>
                </a:solidFill>
                <a:latin typeface="Calibri"/>
                <a:ea typeface="Calibri"/>
                <a:cs typeface="Calibri"/>
              </a:rPr>
              <a:t>GeoJSON, a feed or an API — it slots into the shared common operating picture.</a:t>
            </a:r>
            <a:endParaRPr sz="1400"/>
          </a:p>
        </p:txBody>
      </p:sp>
      <p:sp>
        <p:nvSpPr>
          <p:cNvPr id="13" name="Shape 11">
            <a:extLst xmlns:a="http://schemas.openxmlformats.org/drawingml/2006/main">
              <a:ext uri="{FF2B5EF4-FFF2-40B4-BE49-F238E27FC236}">
                <a16:creationId xmlns:a16="http://schemas.microsoft.com/office/drawing/2014/main" id="{CE7F882C-5749-4774-A6C6-4728C5A5BDF6}"/>
              </a:ext>
            </a:extLst>
          </p:cNvPr>
          <p:cNvSpPr>
            <a:spLocks xmlns:a="http://schemas.openxmlformats.org/drawingml/2006/main" noGrp="1"/>
          </p:cNvSpPr>
          <p:nvPr/>
        </p:nvSpPr>
        <p:spPr>
          <a:xfrm xmlns:a="http://schemas.openxmlformats.org/drawingml/2006/main">
            <a:off x="0" y="5943600"/>
            <a:ext cx="12191695" cy="91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693780EC-7B73-4366-90F8-253E0F06056B}"/>
              </a:ext>
            </a:extLst>
          </p:cNvPr>
          <p:cNvSpPr>
            <a:spLocks xmlns:a="http://schemas.openxmlformats.org/drawingml/2006/main" noGrp="1"/>
          </p:cNvSpPr>
          <p:nvPr/>
        </p:nvSpPr>
        <p:spPr>
          <a:xfrm xmlns:a="http://schemas.openxmlformats.org/drawingml/2006/main">
            <a:off x="685800" y="5943600"/>
            <a:ext cx="1078992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i="1">
                <a:solidFill>
                  <a:srgbClr val="D9E7DF"/>
                </a:solidFill>
                <a:latin typeface="Cambria"/>
                <a:ea typeface="Cambria"/>
                <a:cs typeface="Cambria"/>
              </a:rPr>
              <a:t>“A tool that visibly declines to panic is worth more to an emergency manager than one that only fires correctly.”</a:t>
            </a:r>
            <a:endParaRPr sz="1500"/>
          </a:p>
        </p:txBody>
      </p:sp>
      <p:sp>
        <p:nvSpPr>
          <p:cNvPr id="15" name="Text 13">
            <a:extLst xmlns:a="http://schemas.openxmlformats.org/drawingml/2006/main">
              <a:ext uri="{FF2B5EF4-FFF2-40B4-BE49-F238E27FC236}">
                <a16:creationId xmlns:a16="http://schemas.microsoft.com/office/drawing/2014/main" id="{010C39C1-DEDF-4053-8C01-E96ED2AB1807}"/>
              </a:ext>
            </a:extLst>
          </p:cNvPr>
          <p:cNvSpPr>
            <a:spLocks xmlns:a="http://schemas.openxmlformats.org/drawingml/2006/main" noGrp="1"/>
          </p:cNvSpPr>
          <p:nvPr/>
        </p:nvSpPr>
        <p:spPr>
          <a:xfrm xmlns:a="http://schemas.openxmlformats.org/drawingml/2006/main">
            <a:off x="0" y="6510528"/>
            <a:ext cx="1219169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a:solidFill>
                  <a:srgbClr val="8FA79A"/>
                </a:solidFill>
                <a:latin typeface="Calibri"/>
                <a:ea typeface="Calibri"/>
                <a:cs typeface="Calibri"/>
              </a:rPr>
              <a:t>Movement: WCC / VivaCity via Pōneke Travel Insights.  Hazard-planning material, not live emergency information — in an emergency, call 111.</a:t>
            </a:r>
            <a:endParaRPr sz="1000"/>
          </a:p>
        </p:txBody>
      </p:sp>
    </p:spTree>
    <p:extLst>
      <p:ext uri="{BB962C8B-B14F-4D97-AF65-F5344CB8AC3E}">
        <p14:creationId xmlns:p14="http://schemas.microsoft.com/office/powerpoint/2010/main" val="301378497"/>
      </p:ext>
    </p:extLst>
  </p:cSld>
</p:sld>
</file>

<file path=ppt/slides/slide1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D702BB-5E3F-41FA-8149-8ADF9E6E7F9B}"/>
              </a:ext>
            </a:extLst>
          </p:cNvPr>
          <p:cNvSpPr>
            <a:spLocks xmlns:a="http://schemas.openxmlformats.org/drawingml/2006/main" noGrp="1"/>
          </p:cNvSpPr>
          <p:nvPr/>
        </p:nvSpPr>
        <p:spPr>
          <a:xfrm xmlns:a="http://schemas.openxmlformats.org/drawingml/2006/main">
            <a:off x="640080" y="502920"/>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A1815"/>
                </a:solidFill>
                <a:latin typeface="Cambria"/>
                <a:ea typeface="Cambria"/>
                <a:cs typeface="Cambria"/>
              </a:rPr>
              <a:t>APPENDIX — WEEK VIEW</a:t>
            </a:r>
            <a:endParaRPr sz="3100"/>
          </a:p>
        </p:txBody>
      </p:sp>
      <p:sp>
        <p:nvSpPr>
          <p:cNvPr id="3" name="Text 1">
            <a:extLst xmlns:a="http://schemas.openxmlformats.org/drawingml/2006/main">
              <a:ext uri="{FF2B5EF4-FFF2-40B4-BE49-F238E27FC236}">
                <a16:creationId xmlns:a16="http://schemas.microsoft.com/office/drawing/2014/main" id="{E375458F-B697-46C8-8085-B53567A1A42B}"/>
              </a:ext>
            </a:extLst>
          </p:cNvPr>
          <p:cNvSpPr>
            <a:spLocks xmlns:a="http://schemas.openxmlformats.org/drawingml/2006/main" noGrp="1"/>
          </p:cNvSpPr>
          <p:nvPr/>
        </p:nvSpPr>
        <p:spPr>
          <a:xfrm xmlns:a="http://schemas.openxmlformats.org/drawingml/2006/main">
            <a:off x="640080" y="1188720"/>
            <a:ext cx="108813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a:solidFill>
                  <a:srgbClr val="4A453D"/>
                </a:solidFill>
                <a:latin typeface="Calibri"/>
                <a:ea typeface="Calibri"/>
                <a:cs typeface="Calibri"/>
              </a:rPr>
              <a:t>The duty brief: citywide movement against forecast, with the map, risk read and ranked edges moving together.</a:t>
            </a:r>
            <a:endParaRPr sz="1600"/>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b19a53411fcc4a05"/>
          <a:stretch xmlns:a="http://schemas.openxmlformats.org/drawingml/2006/main"/>
        </p:blipFill>
        <p:spPr>
          <a:xfrm xmlns:a="http://schemas.openxmlformats.org/drawingml/2006/main">
            <a:off x="2159000" y="1790700"/>
            <a:ext cx="7874000" cy="4429125"/>
          </a:xfrm>
          <a:prstGeom xmlns:a="http://schemas.openxmlformats.org/drawingml/2006/main" prst="rect">
            <a:avLst/>
          </a:prstGeom>
        </p:spPr>
      </p:pic>
    </p:spTree>
    <p:extLst>
      <p:ext uri="{BB962C8B-B14F-4D97-AF65-F5344CB8AC3E}">
        <p14:creationId xmlns:p14="http://schemas.microsoft.com/office/powerpoint/2010/main" val="762166741"/>
      </p:ext>
    </p:extLst>
  </p:cSld>
</p:sld>
</file>

<file path=ppt/slides/slide1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D702BB-5E3F-41FA-8149-8ADF9E6E7F9B}"/>
              </a:ext>
            </a:extLst>
          </p:cNvPr>
          <p:cNvSpPr>
            <a:spLocks xmlns:a="http://schemas.openxmlformats.org/drawingml/2006/main" noGrp="1"/>
          </p:cNvSpPr>
          <p:nvPr/>
        </p:nvSpPr>
        <p:spPr>
          <a:xfrm xmlns:a="http://schemas.openxmlformats.org/drawingml/2006/main">
            <a:off x="640080" y="502920"/>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A1815"/>
                </a:solidFill>
                <a:latin typeface="Cambria"/>
                <a:ea typeface="Cambria"/>
                <a:cs typeface="Cambria"/>
              </a:rPr>
              <a:t>APPENDIX — STREET TABLE</a:t>
            </a:r>
            <a:endParaRPr sz="3100"/>
          </a:p>
        </p:txBody>
      </p:sp>
      <p:sp>
        <p:nvSpPr>
          <p:cNvPr id="3" name="Text 1">
            <a:extLst xmlns:a="http://schemas.openxmlformats.org/drawingml/2006/main">
              <a:ext uri="{FF2B5EF4-FFF2-40B4-BE49-F238E27FC236}">
                <a16:creationId xmlns:a16="http://schemas.microsoft.com/office/drawing/2014/main" id="{E375458F-B697-46C8-8085-B53567A1A42B}"/>
              </a:ext>
            </a:extLst>
          </p:cNvPr>
          <p:cNvSpPr>
            <a:spLocks xmlns:a="http://schemas.openxmlformats.org/drawingml/2006/main" noGrp="1"/>
          </p:cNvSpPr>
          <p:nvPr/>
        </p:nvSpPr>
        <p:spPr>
          <a:xfrm xmlns:a="http://schemas.openxmlformats.org/drawingml/2006/main">
            <a:off x="640080" y="1188720"/>
            <a:ext cx="108813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a:solidFill>
                  <a:srgbClr val="4A453D"/>
                </a:solidFill>
                <a:latin typeface="Calibri"/>
                <a:ea typeface="Calibri"/>
                <a:cs typeface="Calibri"/>
              </a:rPr>
              <a:t>Street-level read: ranked camera sites with 24-hour traces and explicit refusal states.</a:t>
            </a:r>
            <a:endParaRPr sz="1600"/>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c7846e83aec745f4"/>
          <a:stretch xmlns:a="http://schemas.openxmlformats.org/drawingml/2006/main"/>
        </p:blipFill>
        <p:spPr>
          <a:xfrm xmlns:a="http://schemas.openxmlformats.org/drawingml/2006/main">
            <a:off x="2159000" y="1790700"/>
            <a:ext cx="7874000" cy="4429125"/>
          </a:xfrm>
          <a:prstGeom xmlns:a="http://schemas.openxmlformats.org/drawingml/2006/main" prst="rect">
            <a:avLst/>
          </a:prstGeom>
        </p:spPr>
      </p:pic>
    </p:spTree>
    <p:extLst>
      <p:ext uri="{BB962C8B-B14F-4D97-AF65-F5344CB8AC3E}">
        <p14:creationId xmlns:p14="http://schemas.microsoft.com/office/powerpoint/2010/main" val="762166741"/>
      </p:ext>
    </p:extLst>
  </p:cSld>
</p:sld>
</file>

<file path=ppt/slides/slide1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D702BB-5E3F-41FA-8149-8ADF9E6E7F9B}"/>
              </a:ext>
            </a:extLst>
          </p:cNvPr>
          <p:cNvSpPr>
            <a:spLocks xmlns:a="http://schemas.openxmlformats.org/drawingml/2006/main" noGrp="1"/>
          </p:cNvSpPr>
          <p:nvPr/>
        </p:nvSpPr>
        <p:spPr>
          <a:xfrm xmlns:a="http://schemas.openxmlformats.org/drawingml/2006/main">
            <a:off x="640080" y="502920"/>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A1815"/>
                </a:solidFill>
                <a:latin typeface="Cambria"/>
                <a:ea typeface="Cambria"/>
                <a:cs typeface="Cambria"/>
              </a:rPr>
              <a:t>APPENDIX — AREAS VIEW</a:t>
            </a:r>
            <a:endParaRPr sz="3100"/>
          </a:p>
        </p:txBody>
      </p:sp>
      <p:sp>
        <p:nvSpPr>
          <p:cNvPr id="3" name="Text 1">
            <a:extLst xmlns:a="http://schemas.openxmlformats.org/drawingml/2006/main">
              <a:ext uri="{FF2B5EF4-FFF2-40B4-BE49-F238E27FC236}">
                <a16:creationId xmlns:a16="http://schemas.microsoft.com/office/drawing/2014/main" id="{E375458F-B697-46C8-8085-B53567A1A42B}"/>
              </a:ext>
            </a:extLst>
          </p:cNvPr>
          <p:cNvSpPr>
            <a:spLocks xmlns:a="http://schemas.openxmlformats.org/drawingml/2006/main" noGrp="1"/>
          </p:cNvSpPr>
          <p:nvPr/>
        </p:nvSpPr>
        <p:spPr>
          <a:xfrm xmlns:a="http://schemas.openxmlformats.org/drawingml/2006/main">
            <a:off x="640080" y="1188720"/>
            <a:ext cx="108813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a:solidFill>
                  <a:srgbClr val="4A453D"/>
                </a:solidFill>
                <a:latin typeface="Calibri"/>
                <a:ea typeface="Calibri"/>
                <a:cs typeface="Calibri"/>
              </a:rPr>
              <a:t>The consequence read: movement deviation crossed with hazard geography, with coverage limits shown alongside the alerts.</a:t>
            </a:r>
            <a:endParaRPr sz="1600"/>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8f00cc7d066c4b8d"/>
          <a:stretch xmlns:a="http://schemas.openxmlformats.org/drawingml/2006/main"/>
        </p:blipFill>
        <p:spPr>
          <a:xfrm xmlns:a="http://schemas.openxmlformats.org/drawingml/2006/main">
            <a:off x="2159000" y="1790700"/>
            <a:ext cx="7874000" cy="4429125"/>
          </a:xfrm>
          <a:prstGeom xmlns:a="http://schemas.openxmlformats.org/drawingml/2006/main" prst="rect">
            <a:avLst/>
          </a:prstGeom>
        </p:spPr>
      </p:pic>
    </p:spTree>
    <p:extLst>
      <p:ext uri="{BB962C8B-B14F-4D97-AF65-F5344CB8AC3E}">
        <p14:creationId xmlns:p14="http://schemas.microsoft.com/office/powerpoint/2010/main" val="76216674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2026-08-08T04:38:59.8000000Z</dcterms:created>
  <dcterms:modified xsi:type="dcterms:W3CDTF">2026-08-08T04:38:59.8000000Z</dcterms:modified>
</coreProperties>
</file>